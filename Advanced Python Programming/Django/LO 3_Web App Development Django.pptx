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42"/>
  </p:notesMasterIdLst>
  <p:sldIdLst>
    <p:sldId id="281" r:id="rId2"/>
    <p:sldId id="257" r:id="rId3"/>
    <p:sldId id="316" r:id="rId4"/>
    <p:sldId id="282" r:id="rId5"/>
    <p:sldId id="284" r:id="rId6"/>
    <p:sldId id="285" r:id="rId7"/>
    <p:sldId id="286" r:id="rId8"/>
    <p:sldId id="287" r:id="rId9"/>
    <p:sldId id="288" r:id="rId10"/>
    <p:sldId id="289" r:id="rId11"/>
    <p:sldId id="290" r:id="rId12"/>
    <p:sldId id="291" r:id="rId13"/>
    <p:sldId id="292" r:id="rId14"/>
    <p:sldId id="293" r:id="rId15"/>
    <p:sldId id="294" r:id="rId16"/>
    <p:sldId id="295" r:id="rId17"/>
    <p:sldId id="296" r:id="rId18"/>
    <p:sldId id="297" r:id="rId19"/>
    <p:sldId id="298" r:id="rId20"/>
    <p:sldId id="299" r:id="rId21"/>
    <p:sldId id="300" r:id="rId22"/>
    <p:sldId id="301" r:id="rId23"/>
    <p:sldId id="302" r:id="rId24"/>
    <p:sldId id="303" r:id="rId25"/>
    <p:sldId id="304" r:id="rId26"/>
    <p:sldId id="305" r:id="rId27"/>
    <p:sldId id="306" r:id="rId28"/>
    <p:sldId id="307" r:id="rId29"/>
    <p:sldId id="320" r:id="rId30"/>
    <p:sldId id="322" r:id="rId31"/>
    <p:sldId id="323" r:id="rId32"/>
    <p:sldId id="324" r:id="rId33"/>
    <p:sldId id="325" r:id="rId34"/>
    <p:sldId id="326" r:id="rId35"/>
    <p:sldId id="327" r:id="rId36"/>
    <p:sldId id="328" r:id="rId37"/>
    <p:sldId id="329" r:id="rId38"/>
    <p:sldId id="330" r:id="rId39"/>
    <p:sldId id="331" r:id="rId40"/>
    <p:sldId id="33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81"/>
    <p:restoredTop sz="95703"/>
  </p:normalViewPr>
  <p:slideViewPr>
    <p:cSldViewPr snapToGrid="0">
      <p:cViewPr varScale="1">
        <p:scale>
          <a:sx n="105" d="100"/>
          <a:sy n="105" d="100"/>
        </p:scale>
        <p:origin x="106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DF2D93-3B1D-42BC-9285-FB2ED769B3FD}"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EE607B49-8FC5-47D2-BCB6-1CFFD6A4BF83}">
      <dgm:prSet/>
      <dgm:spPr/>
      <dgm:t>
        <a:bodyPr/>
        <a:lstStyle/>
        <a:p>
          <a:r>
            <a:rPr lang="en-IN" b="1"/>
            <a:t>Introduction to Django</a:t>
          </a:r>
          <a:endParaRPr lang="en-US"/>
        </a:p>
      </dgm:t>
    </dgm:pt>
    <dgm:pt modelId="{82A16598-C70A-41C7-9AA6-7EDA6FC7B005}" type="parTrans" cxnId="{C83C75A9-9D6B-4346-8BBA-D331D43BF784}">
      <dgm:prSet/>
      <dgm:spPr/>
      <dgm:t>
        <a:bodyPr/>
        <a:lstStyle/>
        <a:p>
          <a:endParaRPr lang="en-US"/>
        </a:p>
      </dgm:t>
    </dgm:pt>
    <dgm:pt modelId="{6957CCCA-F983-47F6-93C2-A24DD6B75057}" type="sibTrans" cxnId="{C83C75A9-9D6B-4346-8BBA-D331D43BF784}">
      <dgm:prSet/>
      <dgm:spPr/>
      <dgm:t>
        <a:bodyPr/>
        <a:lstStyle/>
        <a:p>
          <a:endParaRPr lang="en-US"/>
        </a:p>
      </dgm:t>
    </dgm:pt>
    <dgm:pt modelId="{2AD01E20-552F-45F7-BEE1-1FA58219ED9B}">
      <dgm:prSet/>
      <dgm:spPr/>
      <dgm:t>
        <a:bodyPr/>
        <a:lstStyle/>
        <a:p>
          <a:r>
            <a:rPr lang="en-IN" dirty="0"/>
            <a:t>Discover the powerful Python framework that makes web app development faster and easier.</a:t>
          </a:r>
          <a:endParaRPr lang="en-US" dirty="0"/>
        </a:p>
      </dgm:t>
    </dgm:pt>
    <dgm:pt modelId="{B8148F74-D6DB-448A-BC35-E34519FA0CDB}" type="parTrans" cxnId="{C1D7675B-D599-40F3-9D8B-3FFE01C10988}">
      <dgm:prSet/>
      <dgm:spPr/>
      <dgm:t>
        <a:bodyPr/>
        <a:lstStyle/>
        <a:p>
          <a:endParaRPr lang="en-US"/>
        </a:p>
      </dgm:t>
    </dgm:pt>
    <dgm:pt modelId="{FE08290C-F56C-46E7-891B-32A153B8035D}" type="sibTrans" cxnId="{C1D7675B-D599-40F3-9D8B-3FFE01C10988}">
      <dgm:prSet/>
      <dgm:spPr/>
      <dgm:t>
        <a:bodyPr/>
        <a:lstStyle/>
        <a:p>
          <a:endParaRPr lang="en-US"/>
        </a:p>
      </dgm:t>
    </dgm:pt>
    <dgm:pt modelId="{03735647-1097-4D90-A7A5-86AAC98C41CE}">
      <dgm:prSet/>
      <dgm:spPr/>
      <dgm:t>
        <a:bodyPr/>
        <a:lstStyle/>
        <a:p>
          <a:r>
            <a:rPr lang="en-IN" b="1"/>
            <a:t>Step-by-Step Setup</a:t>
          </a:r>
          <a:endParaRPr lang="en-US"/>
        </a:p>
      </dgm:t>
    </dgm:pt>
    <dgm:pt modelId="{246D5590-3703-4AFE-8ED5-4AE42BA80521}" type="parTrans" cxnId="{C0A88E7D-90BE-425B-997F-52C915C1DDC2}">
      <dgm:prSet/>
      <dgm:spPr/>
      <dgm:t>
        <a:bodyPr/>
        <a:lstStyle/>
        <a:p>
          <a:endParaRPr lang="en-US"/>
        </a:p>
      </dgm:t>
    </dgm:pt>
    <dgm:pt modelId="{E9D01D08-CA49-4BE5-9CAB-28B09419DF77}" type="sibTrans" cxnId="{C0A88E7D-90BE-425B-997F-52C915C1DDC2}">
      <dgm:prSet/>
      <dgm:spPr/>
      <dgm:t>
        <a:bodyPr/>
        <a:lstStyle/>
        <a:p>
          <a:endParaRPr lang="en-US"/>
        </a:p>
      </dgm:t>
    </dgm:pt>
    <dgm:pt modelId="{557F9154-4825-4C75-A441-C9D8FDC5F21D}">
      <dgm:prSet/>
      <dgm:spPr/>
      <dgm:t>
        <a:bodyPr/>
        <a:lstStyle/>
        <a:p>
          <a:r>
            <a:rPr lang="en-IN"/>
            <a:t>Learn how to install Django and create your very first project, hassle-free.</a:t>
          </a:r>
          <a:r>
            <a:rPr lang="en-IN" b="1"/>
            <a:t> </a:t>
          </a:r>
          <a:endParaRPr lang="en-US"/>
        </a:p>
      </dgm:t>
    </dgm:pt>
    <dgm:pt modelId="{83437C5F-EB42-4E89-8E3C-B9A6D09F69F4}" type="parTrans" cxnId="{F23A6DCF-1C01-4350-BB69-9687A0AD10C2}">
      <dgm:prSet/>
      <dgm:spPr/>
      <dgm:t>
        <a:bodyPr/>
        <a:lstStyle/>
        <a:p>
          <a:endParaRPr lang="en-US"/>
        </a:p>
      </dgm:t>
    </dgm:pt>
    <dgm:pt modelId="{50E48484-9F25-41CE-AA96-80E0EDB37000}" type="sibTrans" cxnId="{F23A6DCF-1C01-4350-BB69-9687A0AD10C2}">
      <dgm:prSet/>
      <dgm:spPr/>
      <dgm:t>
        <a:bodyPr/>
        <a:lstStyle/>
        <a:p>
          <a:endParaRPr lang="en-US"/>
        </a:p>
      </dgm:t>
    </dgm:pt>
    <dgm:pt modelId="{82459FDA-2EB1-4B2F-A8F6-ED1FA4B81D6B}">
      <dgm:prSet/>
      <dgm:spPr/>
      <dgm:t>
        <a:bodyPr/>
        <a:lstStyle/>
        <a:p>
          <a:r>
            <a:rPr lang="en-IN" b="1"/>
            <a:t>Build a CRUD Application</a:t>
          </a:r>
          <a:endParaRPr lang="en-US"/>
        </a:p>
      </dgm:t>
    </dgm:pt>
    <dgm:pt modelId="{09B98091-BF53-4B4D-B400-CA9DA8D258F2}" type="parTrans" cxnId="{63C824AA-6FDE-4E62-A48F-75A0BA4D276B}">
      <dgm:prSet/>
      <dgm:spPr/>
      <dgm:t>
        <a:bodyPr/>
        <a:lstStyle/>
        <a:p>
          <a:endParaRPr lang="en-US"/>
        </a:p>
      </dgm:t>
    </dgm:pt>
    <dgm:pt modelId="{B2243629-C2B6-4349-8D2A-9F4A16884A50}" type="sibTrans" cxnId="{63C824AA-6FDE-4E62-A48F-75A0BA4D276B}">
      <dgm:prSet/>
      <dgm:spPr/>
      <dgm:t>
        <a:bodyPr/>
        <a:lstStyle/>
        <a:p>
          <a:endParaRPr lang="en-US"/>
        </a:p>
      </dgm:t>
    </dgm:pt>
    <dgm:pt modelId="{2AD1AC7A-250C-4680-A528-9B8763E43A5D}">
      <dgm:prSet/>
      <dgm:spPr/>
      <dgm:t>
        <a:bodyPr/>
        <a:lstStyle/>
        <a:p>
          <a:r>
            <a:rPr lang="en-IN"/>
            <a:t>Create a project where you can </a:t>
          </a:r>
          <a:r>
            <a:rPr lang="en-IN" b="1"/>
            <a:t>add, read, update, and delete data</a:t>
          </a:r>
          <a:r>
            <a:rPr lang="en-IN"/>
            <a:t> like a real-world app.</a:t>
          </a:r>
          <a:endParaRPr lang="en-US"/>
        </a:p>
      </dgm:t>
    </dgm:pt>
    <dgm:pt modelId="{793632EE-9131-46DA-AEC7-C23A16365C17}" type="parTrans" cxnId="{A3C401DA-4A9C-4444-AD95-8A6FDF4A602E}">
      <dgm:prSet/>
      <dgm:spPr/>
      <dgm:t>
        <a:bodyPr/>
        <a:lstStyle/>
        <a:p>
          <a:endParaRPr lang="en-US"/>
        </a:p>
      </dgm:t>
    </dgm:pt>
    <dgm:pt modelId="{787148EB-0170-4212-9701-69CF39B77CD7}" type="sibTrans" cxnId="{A3C401DA-4A9C-4444-AD95-8A6FDF4A602E}">
      <dgm:prSet/>
      <dgm:spPr/>
      <dgm:t>
        <a:bodyPr/>
        <a:lstStyle/>
        <a:p>
          <a:endParaRPr lang="en-US"/>
        </a:p>
      </dgm:t>
    </dgm:pt>
    <dgm:pt modelId="{3A76FF0E-3025-4A17-BA78-A9D7A5C96B30}">
      <dgm:prSet/>
      <dgm:spPr/>
      <dgm:t>
        <a:bodyPr/>
        <a:lstStyle/>
        <a:p>
          <a:r>
            <a:rPr lang="en-IN" b="1" dirty="0"/>
            <a:t>Designing with Templates</a:t>
          </a:r>
          <a:endParaRPr lang="en-US" dirty="0"/>
        </a:p>
      </dgm:t>
    </dgm:pt>
    <dgm:pt modelId="{71DD0C55-4563-463B-BA45-1E8E7E3DC424}" type="parTrans" cxnId="{5766E6FF-781D-4F1C-B409-D345FADD1F7B}">
      <dgm:prSet/>
      <dgm:spPr/>
      <dgm:t>
        <a:bodyPr/>
        <a:lstStyle/>
        <a:p>
          <a:endParaRPr lang="en-US"/>
        </a:p>
      </dgm:t>
    </dgm:pt>
    <dgm:pt modelId="{17B840A2-24D1-4026-8DB4-29E1FDA3FA3B}" type="sibTrans" cxnId="{5766E6FF-781D-4F1C-B409-D345FADD1F7B}">
      <dgm:prSet/>
      <dgm:spPr/>
      <dgm:t>
        <a:bodyPr/>
        <a:lstStyle/>
        <a:p>
          <a:endParaRPr lang="en-US"/>
        </a:p>
      </dgm:t>
    </dgm:pt>
    <dgm:pt modelId="{8EC49BD3-22F7-4962-B2DE-8205504587D6}">
      <dgm:prSet/>
      <dgm:spPr/>
      <dgm:t>
        <a:bodyPr/>
        <a:lstStyle/>
        <a:p>
          <a:r>
            <a:rPr lang="en-IN"/>
            <a:t>Craft beautiful HTML templates and connect them seamlessly with your Django project.</a:t>
          </a:r>
          <a:endParaRPr lang="en-US"/>
        </a:p>
      </dgm:t>
    </dgm:pt>
    <dgm:pt modelId="{CC1D05A5-67E1-4AD5-AC24-2535C2DE6C72}" type="parTrans" cxnId="{E4433E93-7C8F-45CD-A9BA-C8E9BFB816C0}">
      <dgm:prSet/>
      <dgm:spPr/>
      <dgm:t>
        <a:bodyPr/>
        <a:lstStyle/>
        <a:p>
          <a:endParaRPr lang="en-US"/>
        </a:p>
      </dgm:t>
    </dgm:pt>
    <dgm:pt modelId="{22421E53-ADFD-4DD0-99CB-82C9B6134C53}" type="sibTrans" cxnId="{E4433E93-7C8F-45CD-A9BA-C8E9BFB816C0}">
      <dgm:prSet/>
      <dgm:spPr/>
      <dgm:t>
        <a:bodyPr/>
        <a:lstStyle/>
        <a:p>
          <a:endParaRPr lang="en-US"/>
        </a:p>
      </dgm:t>
    </dgm:pt>
    <dgm:pt modelId="{2B5320D0-3D00-4989-8846-CB8C9639D4ED}">
      <dgm:prSet/>
      <dgm:spPr/>
      <dgm:t>
        <a:bodyPr/>
        <a:lstStyle/>
        <a:p>
          <a:r>
            <a:rPr lang="en-IN" b="1"/>
            <a:t>Mastering Template Tags</a:t>
          </a:r>
          <a:r>
            <a:rPr lang="en-IN"/>
            <a:t> </a:t>
          </a:r>
          <a:endParaRPr lang="en-US"/>
        </a:p>
      </dgm:t>
    </dgm:pt>
    <dgm:pt modelId="{A2E82F1A-4A4A-4201-9ED0-321123B07039}" type="parTrans" cxnId="{B51C039C-C077-427B-95F1-43A78ECE7B01}">
      <dgm:prSet/>
      <dgm:spPr/>
      <dgm:t>
        <a:bodyPr/>
        <a:lstStyle/>
        <a:p>
          <a:endParaRPr lang="en-US"/>
        </a:p>
      </dgm:t>
    </dgm:pt>
    <dgm:pt modelId="{FA8907DC-2A66-4812-8EF4-40F9A8D45EB3}" type="sibTrans" cxnId="{B51C039C-C077-427B-95F1-43A78ECE7B01}">
      <dgm:prSet/>
      <dgm:spPr/>
      <dgm:t>
        <a:bodyPr/>
        <a:lstStyle/>
        <a:p>
          <a:endParaRPr lang="en-US"/>
        </a:p>
      </dgm:t>
    </dgm:pt>
    <dgm:pt modelId="{3E3D6A93-CA02-4A18-96B4-E11DC95970BB}">
      <dgm:prSet/>
      <dgm:spPr/>
      <dgm:t>
        <a:bodyPr/>
        <a:lstStyle/>
        <a:p>
          <a:r>
            <a:rPr lang="en-IN"/>
            <a:t>Use Django template tags to dynamically insert data into your HTML pages.</a:t>
          </a:r>
          <a:endParaRPr lang="en-US"/>
        </a:p>
      </dgm:t>
    </dgm:pt>
    <dgm:pt modelId="{52761CD7-9628-4A90-8C29-59C5F21E5444}" type="parTrans" cxnId="{3E5EA64E-81D5-473D-862F-DF423D7A3B2E}">
      <dgm:prSet/>
      <dgm:spPr/>
      <dgm:t>
        <a:bodyPr/>
        <a:lstStyle/>
        <a:p>
          <a:endParaRPr lang="en-US"/>
        </a:p>
      </dgm:t>
    </dgm:pt>
    <dgm:pt modelId="{5A22D0DF-814B-418D-B9DB-9CE9BCF26CFC}" type="sibTrans" cxnId="{3E5EA64E-81D5-473D-862F-DF423D7A3B2E}">
      <dgm:prSet/>
      <dgm:spPr/>
      <dgm:t>
        <a:bodyPr/>
        <a:lstStyle/>
        <a:p>
          <a:endParaRPr lang="en-US"/>
        </a:p>
      </dgm:t>
    </dgm:pt>
    <dgm:pt modelId="{AED1933D-BBAD-419C-98A3-A95417A0D364}">
      <dgm:prSet/>
      <dgm:spPr/>
      <dgm:t>
        <a:bodyPr/>
        <a:lstStyle/>
        <a:p>
          <a:r>
            <a:rPr lang="en-IN" b="1"/>
            <a:t>QuerySet Magic</a:t>
          </a:r>
          <a:r>
            <a:rPr lang="en-IN"/>
            <a:t> </a:t>
          </a:r>
          <a:endParaRPr lang="en-US"/>
        </a:p>
      </dgm:t>
    </dgm:pt>
    <dgm:pt modelId="{8CE803EA-4715-42D9-B788-F014466A0D92}" type="parTrans" cxnId="{C3396853-1240-4395-86AC-8B966F705D1B}">
      <dgm:prSet/>
      <dgm:spPr/>
      <dgm:t>
        <a:bodyPr/>
        <a:lstStyle/>
        <a:p>
          <a:endParaRPr lang="en-US"/>
        </a:p>
      </dgm:t>
    </dgm:pt>
    <dgm:pt modelId="{98540E7E-8D58-4DDF-ABD5-C19C50A26B1D}" type="sibTrans" cxnId="{C3396853-1240-4395-86AC-8B966F705D1B}">
      <dgm:prSet/>
      <dgm:spPr/>
      <dgm:t>
        <a:bodyPr/>
        <a:lstStyle/>
        <a:p>
          <a:endParaRPr lang="en-US"/>
        </a:p>
      </dgm:t>
    </dgm:pt>
    <dgm:pt modelId="{101C3245-3704-4A7C-AFC2-A1EB12739488}">
      <dgm:prSet/>
      <dgm:spPr/>
      <dgm:t>
        <a:bodyPr/>
        <a:lstStyle/>
        <a:p>
          <a:r>
            <a:rPr lang="en-IN"/>
            <a:t>Learn how to extract, filter, and sort data from your database with ease.</a:t>
          </a:r>
          <a:endParaRPr lang="en-US"/>
        </a:p>
      </dgm:t>
    </dgm:pt>
    <dgm:pt modelId="{66EC9A03-3BDD-4AFE-8113-B12411FFE457}" type="parTrans" cxnId="{E0692FCA-BFA6-4659-A145-A3EAAF2A4B72}">
      <dgm:prSet/>
      <dgm:spPr/>
      <dgm:t>
        <a:bodyPr/>
        <a:lstStyle/>
        <a:p>
          <a:endParaRPr lang="en-US"/>
        </a:p>
      </dgm:t>
    </dgm:pt>
    <dgm:pt modelId="{13EA61B9-621F-45A1-9751-1DE0BDBFD4C1}" type="sibTrans" cxnId="{E0692FCA-BFA6-4659-A145-A3EAAF2A4B72}">
      <dgm:prSet/>
      <dgm:spPr/>
      <dgm:t>
        <a:bodyPr/>
        <a:lstStyle/>
        <a:p>
          <a:endParaRPr lang="en-US"/>
        </a:p>
      </dgm:t>
    </dgm:pt>
    <dgm:pt modelId="{F594D3C4-8530-4048-8682-71C8DC5CAEA8}">
      <dgm:prSet/>
      <dgm:spPr/>
      <dgm:t>
        <a:bodyPr/>
        <a:lstStyle/>
        <a:p>
          <a:r>
            <a:rPr lang="en-IN" b="1"/>
            <a:t>PostgreSQL Integration</a:t>
          </a:r>
          <a:r>
            <a:rPr lang="en-IN"/>
            <a:t> </a:t>
          </a:r>
          <a:endParaRPr lang="en-US"/>
        </a:p>
      </dgm:t>
    </dgm:pt>
    <dgm:pt modelId="{C896786C-9F86-49B5-8694-F5DECBF936E7}" type="parTrans" cxnId="{2C0C5420-5546-436A-A7DD-9B905027310F}">
      <dgm:prSet/>
      <dgm:spPr/>
      <dgm:t>
        <a:bodyPr/>
        <a:lstStyle/>
        <a:p>
          <a:endParaRPr lang="en-US"/>
        </a:p>
      </dgm:t>
    </dgm:pt>
    <dgm:pt modelId="{9E2CA0BB-F121-4426-A9C4-BEA2FAC96D97}" type="sibTrans" cxnId="{2C0C5420-5546-436A-A7DD-9B905027310F}">
      <dgm:prSet/>
      <dgm:spPr/>
      <dgm:t>
        <a:bodyPr/>
        <a:lstStyle/>
        <a:p>
          <a:endParaRPr lang="en-US"/>
        </a:p>
      </dgm:t>
    </dgm:pt>
    <dgm:pt modelId="{4F877AD8-DA88-4740-A1E5-CC41D2974BF0}">
      <dgm:prSet/>
      <dgm:spPr/>
      <dgm:t>
        <a:bodyPr/>
        <a:lstStyle/>
        <a:p>
          <a:r>
            <a:rPr lang="en-IN"/>
            <a:t>Set up and connect a PostgreSQL database for scalable, production-ready applications.</a:t>
          </a:r>
          <a:endParaRPr lang="en-US"/>
        </a:p>
      </dgm:t>
    </dgm:pt>
    <dgm:pt modelId="{1794896D-8129-4B8F-9B7D-BE1ED8A9D534}" type="parTrans" cxnId="{DA70685F-7024-4A3A-AC60-4D3606A6C6B4}">
      <dgm:prSet/>
      <dgm:spPr/>
      <dgm:t>
        <a:bodyPr/>
        <a:lstStyle/>
        <a:p>
          <a:endParaRPr lang="en-US"/>
        </a:p>
      </dgm:t>
    </dgm:pt>
    <dgm:pt modelId="{758CE1B4-1972-4C3D-BE46-BEA5DB3A750F}" type="sibTrans" cxnId="{DA70685F-7024-4A3A-AC60-4D3606A6C6B4}">
      <dgm:prSet/>
      <dgm:spPr/>
      <dgm:t>
        <a:bodyPr/>
        <a:lstStyle/>
        <a:p>
          <a:endParaRPr lang="en-US"/>
        </a:p>
      </dgm:t>
    </dgm:pt>
    <dgm:pt modelId="{E78CBF81-D681-4BD6-835B-39FF891A08E7}">
      <dgm:prSet/>
      <dgm:spPr/>
      <dgm:t>
        <a:bodyPr/>
        <a:lstStyle/>
        <a:p>
          <a:r>
            <a:rPr lang="en-IN" b="1"/>
            <a:t>Deployment Made Simple</a:t>
          </a:r>
          <a:r>
            <a:rPr lang="en-IN"/>
            <a:t> </a:t>
          </a:r>
          <a:endParaRPr lang="en-US"/>
        </a:p>
      </dgm:t>
    </dgm:pt>
    <dgm:pt modelId="{FAFF2D6C-7E12-40EB-A85B-31CE4CD432B8}" type="parTrans" cxnId="{FEEA65BD-8F9E-46A3-A204-6D1CBDA8EF63}">
      <dgm:prSet/>
      <dgm:spPr/>
      <dgm:t>
        <a:bodyPr/>
        <a:lstStyle/>
        <a:p>
          <a:endParaRPr lang="en-US"/>
        </a:p>
      </dgm:t>
    </dgm:pt>
    <dgm:pt modelId="{C80AB47A-B850-414B-92D2-94E96524BE4C}" type="sibTrans" cxnId="{FEEA65BD-8F9E-46A3-A204-6D1CBDA8EF63}">
      <dgm:prSet/>
      <dgm:spPr/>
      <dgm:t>
        <a:bodyPr/>
        <a:lstStyle/>
        <a:p>
          <a:endParaRPr lang="en-US"/>
        </a:p>
      </dgm:t>
    </dgm:pt>
    <dgm:pt modelId="{5606E19F-AED7-4526-BE11-C2626158B289}">
      <dgm:prSet/>
      <dgm:spPr/>
      <dgm:t>
        <a:bodyPr/>
        <a:lstStyle/>
        <a:p>
          <a:r>
            <a:rPr lang="en-IN"/>
            <a:t>Deploy your Django project to the world and make it accessible online.</a:t>
          </a:r>
          <a:endParaRPr lang="en-US"/>
        </a:p>
      </dgm:t>
    </dgm:pt>
    <dgm:pt modelId="{4D32F97B-387C-4D5F-94C1-AC1585D238EB}" type="parTrans" cxnId="{01081A39-FB87-48AB-9E67-44AC49640788}">
      <dgm:prSet/>
      <dgm:spPr/>
      <dgm:t>
        <a:bodyPr/>
        <a:lstStyle/>
        <a:p>
          <a:endParaRPr lang="en-US"/>
        </a:p>
      </dgm:t>
    </dgm:pt>
    <dgm:pt modelId="{D9699836-42B0-4A6D-8DF5-775E1D9629F5}" type="sibTrans" cxnId="{01081A39-FB87-48AB-9E67-44AC49640788}">
      <dgm:prSet/>
      <dgm:spPr/>
      <dgm:t>
        <a:bodyPr/>
        <a:lstStyle/>
        <a:p>
          <a:endParaRPr lang="en-US"/>
        </a:p>
      </dgm:t>
    </dgm:pt>
    <dgm:pt modelId="{9D10A62D-5591-A94A-B17D-4C8AA8D1928B}" type="pres">
      <dgm:prSet presAssocID="{B4DF2D93-3B1D-42BC-9285-FB2ED769B3FD}" presName="linear" presStyleCnt="0">
        <dgm:presLayoutVars>
          <dgm:animLvl val="lvl"/>
          <dgm:resizeHandles val="exact"/>
        </dgm:presLayoutVars>
      </dgm:prSet>
      <dgm:spPr/>
    </dgm:pt>
    <dgm:pt modelId="{53C46654-B854-5447-8F27-3D9CF05F0BC8}" type="pres">
      <dgm:prSet presAssocID="{EE607B49-8FC5-47D2-BCB6-1CFFD6A4BF83}" presName="parentText" presStyleLbl="node1" presStyleIdx="0" presStyleCnt="8">
        <dgm:presLayoutVars>
          <dgm:chMax val="0"/>
          <dgm:bulletEnabled val="1"/>
        </dgm:presLayoutVars>
      </dgm:prSet>
      <dgm:spPr/>
    </dgm:pt>
    <dgm:pt modelId="{136CE4E1-147E-C741-B051-583E85DE1150}" type="pres">
      <dgm:prSet presAssocID="{EE607B49-8FC5-47D2-BCB6-1CFFD6A4BF83}" presName="childText" presStyleLbl="revTx" presStyleIdx="0" presStyleCnt="8">
        <dgm:presLayoutVars>
          <dgm:bulletEnabled val="1"/>
        </dgm:presLayoutVars>
      </dgm:prSet>
      <dgm:spPr/>
    </dgm:pt>
    <dgm:pt modelId="{3144F405-AC46-BC47-BC9D-174ADE4AED90}" type="pres">
      <dgm:prSet presAssocID="{03735647-1097-4D90-A7A5-86AAC98C41CE}" presName="parentText" presStyleLbl="node1" presStyleIdx="1" presStyleCnt="8">
        <dgm:presLayoutVars>
          <dgm:chMax val="0"/>
          <dgm:bulletEnabled val="1"/>
        </dgm:presLayoutVars>
      </dgm:prSet>
      <dgm:spPr/>
    </dgm:pt>
    <dgm:pt modelId="{ADD4D1D9-6C17-EF43-BEBC-BA336B38E720}" type="pres">
      <dgm:prSet presAssocID="{03735647-1097-4D90-A7A5-86AAC98C41CE}" presName="childText" presStyleLbl="revTx" presStyleIdx="1" presStyleCnt="8">
        <dgm:presLayoutVars>
          <dgm:bulletEnabled val="1"/>
        </dgm:presLayoutVars>
      </dgm:prSet>
      <dgm:spPr/>
    </dgm:pt>
    <dgm:pt modelId="{89C73F50-6A35-0843-BB50-CAC20846CA27}" type="pres">
      <dgm:prSet presAssocID="{82459FDA-2EB1-4B2F-A8F6-ED1FA4B81D6B}" presName="parentText" presStyleLbl="node1" presStyleIdx="2" presStyleCnt="8">
        <dgm:presLayoutVars>
          <dgm:chMax val="0"/>
          <dgm:bulletEnabled val="1"/>
        </dgm:presLayoutVars>
      </dgm:prSet>
      <dgm:spPr/>
    </dgm:pt>
    <dgm:pt modelId="{CB55C145-2A14-C34B-8EA3-067E45E7EAB1}" type="pres">
      <dgm:prSet presAssocID="{82459FDA-2EB1-4B2F-A8F6-ED1FA4B81D6B}" presName="childText" presStyleLbl="revTx" presStyleIdx="2" presStyleCnt="8">
        <dgm:presLayoutVars>
          <dgm:bulletEnabled val="1"/>
        </dgm:presLayoutVars>
      </dgm:prSet>
      <dgm:spPr/>
    </dgm:pt>
    <dgm:pt modelId="{AE36DF7E-B6CF-444F-8D94-756064CBFA3F}" type="pres">
      <dgm:prSet presAssocID="{3A76FF0E-3025-4A17-BA78-A9D7A5C96B30}" presName="parentText" presStyleLbl="node1" presStyleIdx="3" presStyleCnt="8">
        <dgm:presLayoutVars>
          <dgm:chMax val="0"/>
          <dgm:bulletEnabled val="1"/>
        </dgm:presLayoutVars>
      </dgm:prSet>
      <dgm:spPr/>
    </dgm:pt>
    <dgm:pt modelId="{FC0518F8-D760-8745-B5DF-E2D31A85EF8D}" type="pres">
      <dgm:prSet presAssocID="{3A76FF0E-3025-4A17-BA78-A9D7A5C96B30}" presName="childText" presStyleLbl="revTx" presStyleIdx="3" presStyleCnt="8">
        <dgm:presLayoutVars>
          <dgm:bulletEnabled val="1"/>
        </dgm:presLayoutVars>
      </dgm:prSet>
      <dgm:spPr/>
    </dgm:pt>
    <dgm:pt modelId="{A6C836CC-B642-5340-BA8C-E63771213A7B}" type="pres">
      <dgm:prSet presAssocID="{2B5320D0-3D00-4989-8846-CB8C9639D4ED}" presName="parentText" presStyleLbl="node1" presStyleIdx="4" presStyleCnt="8">
        <dgm:presLayoutVars>
          <dgm:chMax val="0"/>
          <dgm:bulletEnabled val="1"/>
        </dgm:presLayoutVars>
      </dgm:prSet>
      <dgm:spPr/>
    </dgm:pt>
    <dgm:pt modelId="{0BB2737C-02AC-9743-BE53-9E22A6E5DFBE}" type="pres">
      <dgm:prSet presAssocID="{2B5320D0-3D00-4989-8846-CB8C9639D4ED}" presName="childText" presStyleLbl="revTx" presStyleIdx="4" presStyleCnt="8">
        <dgm:presLayoutVars>
          <dgm:bulletEnabled val="1"/>
        </dgm:presLayoutVars>
      </dgm:prSet>
      <dgm:spPr/>
    </dgm:pt>
    <dgm:pt modelId="{3F872E63-25AE-B444-A796-1EE8A5A88A46}" type="pres">
      <dgm:prSet presAssocID="{AED1933D-BBAD-419C-98A3-A95417A0D364}" presName="parentText" presStyleLbl="node1" presStyleIdx="5" presStyleCnt="8">
        <dgm:presLayoutVars>
          <dgm:chMax val="0"/>
          <dgm:bulletEnabled val="1"/>
        </dgm:presLayoutVars>
      </dgm:prSet>
      <dgm:spPr/>
    </dgm:pt>
    <dgm:pt modelId="{D81E57BA-4E21-2A41-BAAF-044AEB81016D}" type="pres">
      <dgm:prSet presAssocID="{AED1933D-BBAD-419C-98A3-A95417A0D364}" presName="childText" presStyleLbl="revTx" presStyleIdx="5" presStyleCnt="8">
        <dgm:presLayoutVars>
          <dgm:bulletEnabled val="1"/>
        </dgm:presLayoutVars>
      </dgm:prSet>
      <dgm:spPr/>
    </dgm:pt>
    <dgm:pt modelId="{E4479E2D-1324-FB4A-B4A2-A06B66FE0560}" type="pres">
      <dgm:prSet presAssocID="{F594D3C4-8530-4048-8682-71C8DC5CAEA8}" presName="parentText" presStyleLbl="node1" presStyleIdx="6" presStyleCnt="8">
        <dgm:presLayoutVars>
          <dgm:chMax val="0"/>
          <dgm:bulletEnabled val="1"/>
        </dgm:presLayoutVars>
      </dgm:prSet>
      <dgm:spPr/>
    </dgm:pt>
    <dgm:pt modelId="{93D30138-DD70-4541-8F9A-A1D7BD388918}" type="pres">
      <dgm:prSet presAssocID="{F594D3C4-8530-4048-8682-71C8DC5CAEA8}" presName="childText" presStyleLbl="revTx" presStyleIdx="6" presStyleCnt="8">
        <dgm:presLayoutVars>
          <dgm:bulletEnabled val="1"/>
        </dgm:presLayoutVars>
      </dgm:prSet>
      <dgm:spPr/>
    </dgm:pt>
    <dgm:pt modelId="{FAC1AEE4-D6FE-7B4E-9180-D27B01DDCB26}" type="pres">
      <dgm:prSet presAssocID="{E78CBF81-D681-4BD6-835B-39FF891A08E7}" presName="parentText" presStyleLbl="node1" presStyleIdx="7" presStyleCnt="8">
        <dgm:presLayoutVars>
          <dgm:chMax val="0"/>
          <dgm:bulletEnabled val="1"/>
        </dgm:presLayoutVars>
      </dgm:prSet>
      <dgm:spPr/>
    </dgm:pt>
    <dgm:pt modelId="{A2FFB1C0-17A0-A740-9B74-DB8ECB4DBBC2}" type="pres">
      <dgm:prSet presAssocID="{E78CBF81-D681-4BD6-835B-39FF891A08E7}" presName="childText" presStyleLbl="revTx" presStyleIdx="7" presStyleCnt="8">
        <dgm:presLayoutVars>
          <dgm:bulletEnabled val="1"/>
        </dgm:presLayoutVars>
      </dgm:prSet>
      <dgm:spPr/>
    </dgm:pt>
  </dgm:ptLst>
  <dgm:cxnLst>
    <dgm:cxn modelId="{7A61FC15-0D6A-DE46-AA90-94B4CBC12B87}" type="presOf" srcId="{3E3D6A93-CA02-4A18-96B4-E11DC95970BB}" destId="{0BB2737C-02AC-9743-BE53-9E22A6E5DFBE}" srcOrd="0" destOrd="0" presId="urn:microsoft.com/office/officeart/2005/8/layout/vList2"/>
    <dgm:cxn modelId="{6BE98F18-0EDF-024A-93A6-0551FB620772}" type="presOf" srcId="{2B5320D0-3D00-4989-8846-CB8C9639D4ED}" destId="{A6C836CC-B642-5340-BA8C-E63771213A7B}" srcOrd="0" destOrd="0" presId="urn:microsoft.com/office/officeart/2005/8/layout/vList2"/>
    <dgm:cxn modelId="{2C0C5420-5546-436A-A7DD-9B905027310F}" srcId="{B4DF2D93-3B1D-42BC-9285-FB2ED769B3FD}" destId="{F594D3C4-8530-4048-8682-71C8DC5CAEA8}" srcOrd="6" destOrd="0" parTransId="{C896786C-9F86-49B5-8694-F5DECBF936E7}" sibTransId="{9E2CA0BB-F121-4426-A9C4-BEA2FAC96D97}"/>
    <dgm:cxn modelId="{01081A39-FB87-48AB-9E67-44AC49640788}" srcId="{E78CBF81-D681-4BD6-835B-39FF891A08E7}" destId="{5606E19F-AED7-4526-BE11-C2626158B289}" srcOrd="0" destOrd="0" parTransId="{4D32F97B-387C-4D5F-94C1-AC1585D238EB}" sibTransId="{D9699836-42B0-4A6D-8DF5-775E1D9629F5}"/>
    <dgm:cxn modelId="{75EBC443-D799-3E4E-8F09-78E145B664AB}" type="presOf" srcId="{3A76FF0E-3025-4A17-BA78-A9D7A5C96B30}" destId="{AE36DF7E-B6CF-444F-8D94-756064CBFA3F}" srcOrd="0" destOrd="0" presId="urn:microsoft.com/office/officeart/2005/8/layout/vList2"/>
    <dgm:cxn modelId="{9FDF2447-7D7C-2C4B-9DC7-ACA2BA4EEBA9}" type="presOf" srcId="{101C3245-3704-4A7C-AFC2-A1EB12739488}" destId="{D81E57BA-4E21-2A41-BAAF-044AEB81016D}" srcOrd="0" destOrd="0" presId="urn:microsoft.com/office/officeart/2005/8/layout/vList2"/>
    <dgm:cxn modelId="{3E5EA64E-81D5-473D-862F-DF423D7A3B2E}" srcId="{2B5320D0-3D00-4989-8846-CB8C9639D4ED}" destId="{3E3D6A93-CA02-4A18-96B4-E11DC95970BB}" srcOrd="0" destOrd="0" parTransId="{52761CD7-9628-4A90-8C29-59C5F21E5444}" sibTransId="{5A22D0DF-814B-418D-B9DB-9CE9BCF26CFC}"/>
    <dgm:cxn modelId="{C3396853-1240-4395-86AC-8B966F705D1B}" srcId="{B4DF2D93-3B1D-42BC-9285-FB2ED769B3FD}" destId="{AED1933D-BBAD-419C-98A3-A95417A0D364}" srcOrd="5" destOrd="0" parTransId="{8CE803EA-4715-42D9-B788-F014466A0D92}" sibTransId="{98540E7E-8D58-4DDF-ABD5-C19C50A26B1D}"/>
    <dgm:cxn modelId="{BBDDD353-CF20-9449-BBE9-FE87EEE6951E}" type="presOf" srcId="{5606E19F-AED7-4526-BE11-C2626158B289}" destId="{A2FFB1C0-17A0-A740-9B74-DB8ECB4DBBC2}" srcOrd="0" destOrd="0" presId="urn:microsoft.com/office/officeart/2005/8/layout/vList2"/>
    <dgm:cxn modelId="{C1D7675B-D599-40F3-9D8B-3FFE01C10988}" srcId="{EE607B49-8FC5-47D2-BCB6-1CFFD6A4BF83}" destId="{2AD01E20-552F-45F7-BEE1-1FA58219ED9B}" srcOrd="0" destOrd="0" parTransId="{B8148F74-D6DB-448A-BC35-E34519FA0CDB}" sibTransId="{FE08290C-F56C-46E7-891B-32A153B8035D}"/>
    <dgm:cxn modelId="{DA70685F-7024-4A3A-AC60-4D3606A6C6B4}" srcId="{F594D3C4-8530-4048-8682-71C8DC5CAEA8}" destId="{4F877AD8-DA88-4740-A1E5-CC41D2974BF0}" srcOrd="0" destOrd="0" parTransId="{1794896D-8129-4B8F-9B7D-BE1ED8A9D534}" sibTransId="{758CE1B4-1972-4C3D-BE46-BEA5DB3A750F}"/>
    <dgm:cxn modelId="{C0A88E7D-90BE-425B-997F-52C915C1DDC2}" srcId="{B4DF2D93-3B1D-42BC-9285-FB2ED769B3FD}" destId="{03735647-1097-4D90-A7A5-86AAC98C41CE}" srcOrd="1" destOrd="0" parTransId="{246D5590-3703-4AFE-8ED5-4AE42BA80521}" sibTransId="{E9D01D08-CA49-4BE5-9CAB-28B09419DF77}"/>
    <dgm:cxn modelId="{33CE748D-44C5-934C-B187-B5F6FE50FA01}" type="presOf" srcId="{557F9154-4825-4C75-A441-C9D8FDC5F21D}" destId="{ADD4D1D9-6C17-EF43-BEBC-BA336B38E720}" srcOrd="0" destOrd="0" presId="urn:microsoft.com/office/officeart/2005/8/layout/vList2"/>
    <dgm:cxn modelId="{B196BB8D-1721-CC4B-8DF8-9351DE34F8C1}" type="presOf" srcId="{E78CBF81-D681-4BD6-835B-39FF891A08E7}" destId="{FAC1AEE4-D6FE-7B4E-9180-D27B01DDCB26}" srcOrd="0" destOrd="0" presId="urn:microsoft.com/office/officeart/2005/8/layout/vList2"/>
    <dgm:cxn modelId="{E4433E93-7C8F-45CD-A9BA-C8E9BFB816C0}" srcId="{3A76FF0E-3025-4A17-BA78-A9D7A5C96B30}" destId="{8EC49BD3-22F7-4962-B2DE-8205504587D6}" srcOrd="0" destOrd="0" parTransId="{CC1D05A5-67E1-4AD5-AC24-2535C2DE6C72}" sibTransId="{22421E53-ADFD-4DD0-99CB-82C9B6134C53}"/>
    <dgm:cxn modelId="{A807C896-8BB7-3A4A-A602-97F4288391FD}" type="presOf" srcId="{82459FDA-2EB1-4B2F-A8F6-ED1FA4B81D6B}" destId="{89C73F50-6A35-0843-BB50-CAC20846CA27}" srcOrd="0" destOrd="0" presId="urn:microsoft.com/office/officeart/2005/8/layout/vList2"/>
    <dgm:cxn modelId="{427E779A-CAB8-3041-9E19-EC91A74536EB}" type="presOf" srcId="{F594D3C4-8530-4048-8682-71C8DC5CAEA8}" destId="{E4479E2D-1324-FB4A-B4A2-A06B66FE0560}" srcOrd="0" destOrd="0" presId="urn:microsoft.com/office/officeart/2005/8/layout/vList2"/>
    <dgm:cxn modelId="{B51C039C-C077-427B-95F1-43A78ECE7B01}" srcId="{B4DF2D93-3B1D-42BC-9285-FB2ED769B3FD}" destId="{2B5320D0-3D00-4989-8846-CB8C9639D4ED}" srcOrd="4" destOrd="0" parTransId="{A2E82F1A-4A4A-4201-9ED0-321123B07039}" sibTransId="{FA8907DC-2A66-4812-8EF4-40F9A8D45EB3}"/>
    <dgm:cxn modelId="{53AB3F9D-961C-4047-B2B2-8DDF3C1B357B}" type="presOf" srcId="{B4DF2D93-3B1D-42BC-9285-FB2ED769B3FD}" destId="{9D10A62D-5591-A94A-B17D-4C8AA8D1928B}" srcOrd="0" destOrd="0" presId="urn:microsoft.com/office/officeart/2005/8/layout/vList2"/>
    <dgm:cxn modelId="{B751189E-B6A3-FB48-A845-75D0918EF855}" type="presOf" srcId="{03735647-1097-4D90-A7A5-86AAC98C41CE}" destId="{3144F405-AC46-BC47-BC9D-174ADE4AED90}" srcOrd="0" destOrd="0" presId="urn:microsoft.com/office/officeart/2005/8/layout/vList2"/>
    <dgm:cxn modelId="{54D55DA0-CF7B-3E42-8474-52384DF8419E}" type="presOf" srcId="{EE607B49-8FC5-47D2-BCB6-1CFFD6A4BF83}" destId="{53C46654-B854-5447-8F27-3D9CF05F0BC8}" srcOrd="0" destOrd="0" presId="urn:microsoft.com/office/officeart/2005/8/layout/vList2"/>
    <dgm:cxn modelId="{C83C75A9-9D6B-4346-8BBA-D331D43BF784}" srcId="{B4DF2D93-3B1D-42BC-9285-FB2ED769B3FD}" destId="{EE607B49-8FC5-47D2-BCB6-1CFFD6A4BF83}" srcOrd="0" destOrd="0" parTransId="{82A16598-C70A-41C7-9AA6-7EDA6FC7B005}" sibTransId="{6957CCCA-F983-47F6-93C2-A24DD6B75057}"/>
    <dgm:cxn modelId="{63C824AA-6FDE-4E62-A48F-75A0BA4D276B}" srcId="{B4DF2D93-3B1D-42BC-9285-FB2ED769B3FD}" destId="{82459FDA-2EB1-4B2F-A8F6-ED1FA4B81D6B}" srcOrd="2" destOrd="0" parTransId="{09B98091-BF53-4B4D-B400-CA9DA8D258F2}" sibTransId="{B2243629-C2B6-4349-8D2A-9F4A16884A50}"/>
    <dgm:cxn modelId="{908AB6B9-61F4-0443-9C35-8968E05AC295}" type="presOf" srcId="{2AD01E20-552F-45F7-BEE1-1FA58219ED9B}" destId="{136CE4E1-147E-C741-B051-583E85DE1150}" srcOrd="0" destOrd="0" presId="urn:microsoft.com/office/officeart/2005/8/layout/vList2"/>
    <dgm:cxn modelId="{FEEA65BD-8F9E-46A3-A204-6D1CBDA8EF63}" srcId="{B4DF2D93-3B1D-42BC-9285-FB2ED769B3FD}" destId="{E78CBF81-D681-4BD6-835B-39FF891A08E7}" srcOrd="7" destOrd="0" parTransId="{FAFF2D6C-7E12-40EB-A85B-31CE4CD432B8}" sibTransId="{C80AB47A-B850-414B-92D2-94E96524BE4C}"/>
    <dgm:cxn modelId="{C3B69BC5-FA10-D44C-9E6C-C4B2130B04E7}" type="presOf" srcId="{AED1933D-BBAD-419C-98A3-A95417A0D364}" destId="{3F872E63-25AE-B444-A796-1EE8A5A88A46}" srcOrd="0" destOrd="0" presId="urn:microsoft.com/office/officeart/2005/8/layout/vList2"/>
    <dgm:cxn modelId="{E0692FCA-BFA6-4659-A145-A3EAAF2A4B72}" srcId="{AED1933D-BBAD-419C-98A3-A95417A0D364}" destId="{101C3245-3704-4A7C-AFC2-A1EB12739488}" srcOrd="0" destOrd="0" parTransId="{66EC9A03-3BDD-4AFE-8113-B12411FFE457}" sibTransId="{13EA61B9-621F-45A1-9751-1DE0BDBFD4C1}"/>
    <dgm:cxn modelId="{F23A6DCF-1C01-4350-BB69-9687A0AD10C2}" srcId="{03735647-1097-4D90-A7A5-86AAC98C41CE}" destId="{557F9154-4825-4C75-A441-C9D8FDC5F21D}" srcOrd="0" destOrd="0" parTransId="{83437C5F-EB42-4E89-8E3C-B9A6D09F69F4}" sibTransId="{50E48484-9F25-41CE-AA96-80E0EDB37000}"/>
    <dgm:cxn modelId="{A3C401DA-4A9C-4444-AD95-8A6FDF4A602E}" srcId="{82459FDA-2EB1-4B2F-A8F6-ED1FA4B81D6B}" destId="{2AD1AC7A-250C-4680-A528-9B8763E43A5D}" srcOrd="0" destOrd="0" parTransId="{793632EE-9131-46DA-AEC7-C23A16365C17}" sibTransId="{787148EB-0170-4212-9701-69CF39B77CD7}"/>
    <dgm:cxn modelId="{9980B1ED-7420-0A4C-8AB9-8348F2455F90}" type="presOf" srcId="{4F877AD8-DA88-4740-A1E5-CC41D2974BF0}" destId="{93D30138-DD70-4541-8F9A-A1D7BD388918}" srcOrd="0" destOrd="0" presId="urn:microsoft.com/office/officeart/2005/8/layout/vList2"/>
    <dgm:cxn modelId="{913025F3-1F14-9548-B63E-6D4E96BF9B85}" type="presOf" srcId="{2AD1AC7A-250C-4680-A528-9B8763E43A5D}" destId="{CB55C145-2A14-C34B-8EA3-067E45E7EAB1}" srcOrd="0" destOrd="0" presId="urn:microsoft.com/office/officeart/2005/8/layout/vList2"/>
    <dgm:cxn modelId="{AB2EF7F9-D6AB-4D42-A0D6-64F6C213DA37}" type="presOf" srcId="{8EC49BD3-22F7-4962-B2DE-8205504587D6}" destId="{FC0518F8-D760-8745-B5DF-E2D31A85EF8D}" srcOrd="0" destOrd="0" presId="urn:microsoft.com/office/officeart/2005/8/layout/vList2"/>
    <dgm:cxn modelId="{5766E6FF-781D-4F1C-B409-D345FADD1F7B}" srcId="{B4DF2D93-3B1D-42BC-9285-FB2ED769B3FD}" destId="{3A76FF0E-3025-4A17-BA78-A9D7A5C96B30}" srcOrd="3" destOrd="0" parTransId="{71DD0C55-4563-463B-BA45-1E8E7E3DC424}" sibTransId="{17B840A2-24D1-4026-8DB4-29E1FDA3FA3B}"/>
    <dgm:cxn modelId="{1C958532-49C4-2A4D-8491-B51A9CFDC5C8}" type="presParOf" srcId="{9D10A62D-5591-A94A-B17D-4C8AA8D1928B}" destId="{53C46654-B854-5447-8F27-3D9CF05F0BC8}" srcOrd="0" destOrd="0" presId="urn:microsoft.com/office/officeart/2005/8/layout/vList2"/>
    <dgm:cxn modelId="{8BDA62CA-A3D1-EC47-84B5-1AB43220C33E}" type="presParOf" srcId="{9D10A62D-5591-A94A-B17D-4C8AA8D1928B}" destId="{136CE4E1-147E-C741-B051-583E85DE1150}" srcOrd="1" destOrd="0" presId="urn:microsoft.com/office/officeart/2005/8/layout/vList2"/>
    <dgm:cxn modelId="{6D2CA7BE-89D0-1048-BB37-B55CEE2B612C}" type="presParOf" srcId="{9D10A62D-5591-A94A-B17D-4C8AA8D1928B}" destId="{3144F405-AC46-BC47-BC9D-174ADE4AED90}" srcOrd="2" destOrd="0" presId="urn:microsoft.com/office/officeart/2005/8/layout/vList2"/>
    <dgm:cxn modelId="{2EA06C14-56B7-7947-9469-9B011FB56385}" type="presParOf" srcId="{9D10A62D-5591-A94A-B17D-4C8AA8D1928B}" destId="{ADD4D1D9-6C17-EF43-BEBC-BA336B38E720}" srcOrd="3" destOrd="0" presId="urn:microsoft.com/office/officeart/2005/8/layout/vList2"/>
    <dgm:cxn modelId="{A9038AAF-1C29-3148-AB40-7AA5FBEDFACB}" type="presParOf" srcId="{9D10A62D-5591-A94A-B17D-4C8AA8D1928B}" destId="{89C73F50-6A35-0843-BB50-CAC20846CA27}" srcOrd="4" destOrd="0" presId="urn:microsoft.com/office/officeart/2005/8/layout/vList2"/>
    <dgm:cxn modelId="{C1AA490D-66EC-5A47-B341-4D9D4735120D}" type="presParOf" srcId="{9D10A62D-5591-A94A-B17D-4C8AA8D1928B}" destId="{CB55C145-2A14-C34B-8EA3-067E45E7EAB1}" srcOrd="5" destOrd="0" presId="urn:microsoft.com/office/officeart/2005/8/layout/vList2"/>
    <dgm:cxn modelId="{EE5A7E7C-5719-6A42-8D47-65B9DC1AC192}" type="presParOf" srcId="{9D10A62D-5591-A94A-B17D-4C8AA8D1928B}" destId="{AE36DF7E-B6CF-444F-8D94-756064CBFA3F}" srcOrd="6" destOrd="0" presId="urn:microsoft.com/office/officeart/2005/8/layout/vList2"/>
    <dgm:cxn modelId="{3D75D6FE-F042-F144-9591-0A3B939F848B}" type="presParOf" srcId="{9D10A62D-5591-A94A-B17D-4C8AA8D1928B}" destId="{FC0518F8-D760-8745-B5DF-E2D31A85EF8D}" srcOrd="7" destOrd="0" presId="urn:microsoft.com/office/officeart/2005/8/layout/vList2"/>
    <dgm:cxn modelId="{CB8B390C-DCE5-E141-8D00-29752F97089A}" type="presParOf" srcId="{9D10A62D-5591-A94A-B17D-4C8AA8D1928B}" destId="{A6C836CC-B642-5340-BA8C-E63771213A7B}" srcOrd="8" destOrd="0" presId="urn:microsoft.com/office/officeart/2005/8/layout/vList2"/>
    <dgm:cxn modelId="{ACD0057C-19CD-F247-A2F0-B4FDA137E6F3}" type="presParOf" srcId="{9D10A62D-5591-A94A-B17D-4C8AA8D1928B}" destId="{0BB2737C-02AC-9743-BE53-9E22A6E5DFBE}" srcOrd="9" destOrd="0" presId="urn:microsoft.com/office/officeart/2005/8/layout/vList2"/>
    <dgm:cxn modelId="{247AF38F-4E88-FB46-87BE-1B4841C13B9B}" type="presParOf" srcId="{9D10A62D-5591-A94A-B17D-4C8AA8D1928B}" destId="{3F872E63-25AE-B444-A796-1EE8A5A88A46}" srcOrd="10" destOrd="0" presId="urn:microsoft.com/office/officeart/2005/8/layout/vList2"/>
    <dgm:cxn modelId="{E21628FA-D0C0-BA43-9160-1A1C76AE65BC}" type="presParOf" srcId="{9D10A62D-5591-A94A-B17D-4C8AA8D1928B}" destId="{D81E57BA-4E21-2A41-BAAF-044AEB81016D}" srcOrd="11" destOrd="0" presId="urn:microsoft.com/office/officeart/2005/8/layout/vList2"/>
    <dgm:cxn modelId="{205D44DC-B6D7-B341-8D13-D6298AC7D84B}" type="presParOf" srcId="{9D10A62D-5591-A94A-B17D-4C8AA8D1928B}" destId="{E4479E2D-1324-FB4A-B4A2-A06B66FE0560}" srcOrd="12" destOrd="0" presId="urn:microsoft.com/office/officeart/2005/8/layout/vList2"/>
    <dgm:cxn modelId="{1D9D8237-C219-9C44-8539-51B998D4B518}" type="presParOf" srcId="{9D10A62D-5591-A94A-B17D-4C8AA8D1928B}" destId="{93D30138-DD70-4541-8F9A-A1D7BD388918}" srcOrd="13" destOrd="0" presId="urn:microsoft.com/office/officeart/2005/8/layout/vList2"/>
    <dgm:cxn modelId="{2A349949-94DC-1C4E-94B2-88612B2AD144}" type="presParOf" srcId="{9D10A62D-5591-A94A-B17D-4C8AA8D1928B}" destId="{FAC1AEE4-D6FE-7B4E-9180-D27B01DDCB26}" srcOrd="14" destOrd="0" presId="urn:microsoft.com/office/officeart/2005/8/layout/vList2"/>
    <dgm:cxn modelId="{80CB91B3-1D4B-0040-A308-D369C0A62045}" type="presParOf" srcId="{9D10A62D-5591-A94A-B17D-4C8AA8D1928B}" destId="{A2FFB1C0-17A0-A740-9B74-DB8ECB4DBBC2}" srcOrd="1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C46654-B854-5447-8F27-3D9CF05F0BC8}">
      <dsp:nvSpPr>
        <dsp:cNvPr id="0" name=""/>
        <dsp:cNvSpPr/>
      </dsp:nvSpPr>
      <dsp:spPr>
        <a:xfrm>
          <a:off x="0" y="147456"/>
          <a:ext cx="6797675" cy="387855"/>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a:t>Introduction to Django</a:t>
          </a:r>
          <a:endParaRPr lang="en-US" sz="1700" kern="1200"/>
        </a:p>
      </dsp:txBody>
      <dsp:txXfrm>
        <a:off x="18934" y="166390"/>
        <a:ext cx="6759807" cy="349987"/>
      </dsp:txXfrm>
    </dsp:sp>
    <dsp:sp modelId="{136CE4E1-147E-C741-B051-583E85DE1150}">
      <dsp:nvSpPr>
        <dsp:cNvPr id="0" name=""/>
        <dsp:cNvSpPr/>
      </dsp:nvSpPr>
      <dsp:spPr>
        <a:xfrm>
          <a:off x="0" y="535311"/>
          <a:ext cx="6797675"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IN" sz="1300" kern="1200" dirty="0"/>
            <a:t>Discover the powerful Python framework that makes web app development faster and easier.</a:t>
          </a:r>
          <a:endParaRPr lang="en-US" sz="1300" kern="1200" dirty="0"/>
        </a:p>
      </dsp:txBody>
      <dsp:txXfrm>
        <a:off x="0" y="535311"/>
        <a:ext cx="6797675" cy="281520"/>
      </dsp:txXfrm>
    </dsp:sp>
    <dsp:sp modelId="{3144F405-AC46-BC47-BC9D-174ADE4AED90}">
      <dsp:nvSpPr>
        <dsp:cNvPr id="0" name=""/>
        <dsp:cNvSpPr/>
      </dsp:nvSpPr>
      <dsp:spPr>
        <a:xfrm>
          <a:off x="0" y="816831"/>
          <a:ext cx="6797675" cy="387855"/>
        </a:xfrm>
        <a:prstGeom prst="roundRect">
          <a:avLst/>
        </a:prstGeom>
        <a:solidFill>
          <a:schemeClr val="accent2">
            <a:hueOff val="-190261"/>
            <a:satOff val="-84"/>
            <a:lumOff val="22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a:t>Step-by-Step Setup</a:t>
          </a:r>
          <a:endParaRPr lang="en-US" sz="1700" kern="1200"/>
        </a:p>
      </dsp:txBody>
      <dsp:txXfrm>
        <a:off x="18934" y="835765"/>
        <a:ext cx="6759807" cy="349987"/>
      </dsp:txXfrm>
    </dsp:sp>
    <dsp:sp modelId="{ADD4D1D9-6C17-EF43-BEBC-BA336B38E720}">
      <dsp:nvSpPr>
        <dsp:cNvPr id="0" name=""/>
        <dsp:cNvSpPr/>
      </dsp:nvSpPr>
      <dsp:spPr>
        <a:xfrm>
          <a:off x="0" y="1204686"/>
          <a:ext cx="6797675"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IN" sz="1300" kern="1200"/>
            <a:t>Learn how to install Django and create your very first project, hassle-free.</a:t>
          </a:r>
          <a:r>
            <a:rPr lang="en-IN" sz="1300" b="1" kern="1200"/>
            <a:t> </a:t>
          </a:r>
          <a:endParaRPr lang="en-US" sz="1300" kern="1200"/>
        </a:p>
      </dsp:txBody>
      <dsp:txXfrm>
        <a:off x="0" y="1204686"/>
        <a:ext cx="6797675" cy="281520"/>
      </dsp:txXfrm>
    </dsp:sp>
    <dsp:sp modelId="{89C73F50-6A35-0843-BB50-CAC20846CA27}">
      <dsp:nvSpPr>
        <dsp:cNvPr id="0" name=""/>
        <dsp:cNvSpPr/>
      </dsp:nvSpPr>
      <dsp:spPr>
        <a:xfrm>
          <a:off x="0" y="1486206"/>
          <a:ext cx="6797675" cy="387855"/>
        </a:xfrm>
        <a:prstGeom prst="roundRect">
          <a:avLst/>
        </a:prstGeom>
        <a:solidFill>
          <a:schemeClr val="accent2">
            <a:hueOff val="-380521"/>
            <a:satOff val="-167"/>
            <a:lumOff val="44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a:t>Build a CRUD Application</a:t>
          </a:r>
          <a:endParaRPr lang="en-US" sz="1700" kern="1200"/>
        </a:p>
      </dsp:txBody>
      <dsp:txXfrm>
        <a:off x="18934" y="1505140"/>
        <a:ext cx="6759807" cy="349987"/>
      </dsp:txXfrm>
    </dsp:sp>
    <dsp:sp modelId="{CB55C145-2A14-C34B-8EA3-067E45E7EAB1}">
      <dsp:nvSpPr>
        <dsp:cNvPr id="0" name=""/>
        <dsp:cNvSpPr/>
      </dsp:nvSpPr>
      <dsp:spPr>
        <a:xfrm>
          <a:off x="0" y="1874061"/>
          <a:ext cx="6797675"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IN" sz="1300" kern="1200"/>
            <a:t>Create a project where you can </a:t>
          </a:r>
          <a:r>
            <a:rPr lang="en-IN" sz="1300" b="1" kern="1200"/>
            <a:t>add, read, update, and delete data</a:t>
          </a:r>
          <a:r>
            <a:rPr lang="en-IN" sz="1300" kern="1200"/>
            <a:t> like a real-world app.</a:t>
          </a:r>
          <a:endParaRPr lang="en-US" sz="1300" kern="1200"/>
        </a:p>
      </dsp:txBody>
      <dsp:txXfrm>
        <a:off x="0" y="1874061"/>
        <a:ext cx="6797675" cy="281520"/>
      </dsp:txXfrm>
    </dsp:sp>
    <dsp:sp modelId="{AE36DF7E-B6CF-444F-8D94-756064CBFA3F}">
      <dsp:nvSpPr>
        <dsp:cNvPr id="0" name=""/>
        <dsp:cNvSpPr/>
      </dsp:nvSpPr>
      <dsp:spPr>
        <a:xfrm>
          <a:off x="0" y="2155581"/>
          <a:ext cx="6797675" cy="387855"/>
        </a:xfrm>
        <a:prstGeom prst="roundRect">
          <a:avLst/>
        </a:prstGeom>
        <a:solidFill>
          <a:schemeClr val="accent2">
            <a:hueOff val="-570782"/>
            <a:satOff val="-251"/>
            <a:lumOff val="67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dirty="0"/>
            <a:t>Designing with Templates</a:t>
          </a:r>
          <a:endParaRPr lang="en-US" sz="1700" kern="1200" dirty="0"/>
        </a:p>
      </dsp:txBody>
      <dsp:txXfrm>
        <a:off x="18934" y="2174515"/>
        <a:ext cx="6759807" cy="349987"/>
      </dsp:txXfrm>
    </dsp:sp>
    <dsp:sp modelId="{FC0518F8-D760-8745-B5DF-E2D31A85EF8D}">
      <dsp:nvSpPr>
        <dsp:cNvPr id="0" name=""/>
        <dsp:cNvSpPr/>
      </dsp:nvSpPr>
      <dsp:spPr>
        <a:xfrm>
          <a:off x="0" y="2543436"/>
          <a:ext cx="6797675"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IN" sz="1300" kern="1200"/>
            <a:t>Craft beautiful HTML templates and connect them seamlessly with your Django project.</a:t>
          </a:r>
          <a:endParaRPr lang="en-US" sz="1300" kern="1200"/>
        </a:p>
      </dsp:txBody>
      <dsp:txXfrm>
        <a:off x="0" y="2543436"/>
        <a:ext cx="6797675" cy="281520"/>
      </dsp:txXfrm>
    </dsp:sp>
    <dsp:sp modelId="{A6C836CC-B642-5340-BA8C-E63771213A7B}">
      <dsp:nvSpPr>
        <dsp:cNvPr id="0" name=""/>
        <dsp:cNvSpPr/>
      </dsp:nvSpPr>
      <dsp:spPr>
        <a:xfrm>
          <a:off x="0" y="2824956"/>
          <a:ext cx="6797675" cy="387855"/>
        </a:xfrm>
        <a:prstGeom prst="roundRect">
          <a:avLst/>
        </a:prstGeom>
        <a:solidFill>
          <a:schemeClr val="accent2">
            <a:hueOff val="-761042"/>
            <a:satOff val="-335"/>
            <a:lumOff val="89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a:t>Mastering Template Tags</a:t>
          </a:r>
          <a:r>
            <a:rPr lang="en-IN" sz="1700" kern="1200"/>
            <a:t> </a:t>
          </a:r>
          <a:endParaRPr lang="en-US" sz="1700" kern="1200"/>
        </a:p>
      </dsp:txBody>
      <dsp:txXfrm>
        <a:off x="18934" y="2843890"/>
        <a:ext cx="6759807" cy="349987"/>
      </dsp:txXfrm>
    </dsp:sp>
    <dsp:sp modelId="{0BB2737C-02AC-9743-BE53-9E22A6E5DFBE}">
      <dsp:nvSpPr>
        <dsp:cNvPr id="0" name=""/>
        <dsp:cNvSpPr/>
      </dsp:nvSpPr>
      <dsp:spPr>
        <a:xfrm>
          <a:off x="0" y="3212811"/>
          <a:ext cx="6797675"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IN" sz="1300" kern="1200"/>
            <a:t>Use Django template tags to dynamically insert data into your HTML pages.</a:t>
          </a:r>
          <a:endParaRPr lang="en-US" sz="1300" kern="1200"/>
        </a:p>
      </dsp:txBody>
      <dsp:txXfrm>
        <a:off x="0" y="3212811"/>
        <a:ext cx="6797675" cy="281520"/>
      </dsp:txXfrm>
    </dsp:sp>
    <dsp:sp modelId="{3F872E63-25AE-B444-A796-1EE8A5A88A46}">
      <dsp:nvSpPr>
        <dsp:cNvPr id="0" name=""/>
        <dsp:cNvSpPr/>
      </dsp:nvSpPr>
      <dsp:spPr>
        <a:xfrm>
          <a:off x="0" y="3494331"/>
          <a:ext cx="6797675" cy="387855"/>
        </a:xfrm>
        <a:prstGeom prst="roundRect">
          <a:avLst/>
        </a:prstGeom>
        <a:solidFill>
          <a:schemeClr val="accent2">
            <a:hueOff val="-951303"/>
            <a:satOff val="-419"/>
            <a:lumOff val="112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a:t>QuerySet Magic</a:t>
          </a:r>
          <a:r>
            <a:rPr lang="en-IN" sz="1700" kern="1200"/>
            <a:t> </a:t>
          </a:r>
          <a:endParaRPr lang="en-US" sz="1700" kern="1200"/>
        </a:p>
      </dsp:txBody>
      <dsp:txXfrm>
        <a:off x="18934" y="3513265"/>
        <a:ext cx="6759807" cy="349987"/>
      </dsp:txXfrm>
    </dsp:sp>
    <dsp:sp modelId="{D81E57BA-4E21-2A41-BAAF-044AEB81016D}">
      <dsp:nvSpPr>
        <dsp:cNvPr id="0" name=""/>
        <dsp:cNvSpPr/>
      </dsp:nvSpPr>
      <dsp:spPr>
        <a:xfrm>
          <a:off x="0" y="3882186"/>
          <a:ext cx="6797675"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IN" sz="1300" kern="1200"/>
            <a:t>Learn how to extract, filter, and sort data from your database with ease.</a:t>
          </a:r>
          <a:endParaRPr lang="en-US" sz="1300" kern="1200"/>
        </a:p>
      </dsp:txBody>
      <dsp:txXfrm>
        <a:off x="0" y="3882186"/>
        <a:ext cx="6797675" cy="281520"/>
      </dsp:txXfrm>
    </dsp:sp>
    <dsp:sp modelId="{E4479E2D-1324-FB4A-B4A2-A06B66FE0560}">
      <dsp:nvSpPr>
        <dsp:cNvPr id="0" name=""/>
        <dsp:cNvSpPr/>
      </dsp:nvSpPr>
      <dsp:spPr>
        <a:xfrm>
          <a:off x="0" y="4163706"/>
          <a:ext cx="6797675" cy="387855"/>
        </a:xfrm>
        <a:prstGeom prst="roundRect">
          <a:avLst/>
        </a:prstGeom>
        <a:solidFill>
          <a:schemeClr val="accent2">
            <a:hueOff val="-1141563"/>
            <a:satOff val="-502"/>
            <a:lumOff val="134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a:t>PostgreSQL Integration</a:t>
          </a:r>
          <a:r>
            <a:rPr lang="en-IN" sz="1700" kern="1200"/>
            <a:t> </a:t>
          </a:r>
          <a:endParaRPr lang="en-US" sz="1700" kern="1200"/>
        </a:p>
      </dsp:txBody>
      <dsp:txXfrm>
        <a:off x="18934" y="4182640"/>
        <a:ext cx="6759807" cy="349987"/>
      </dsp:txXfrm>
    </dsp:sp>
    <dsp:sp modelId="{93D30138-DD70-4541-8F9A-A1D7BD388918}">
      <dsp:nvSpPr>
        <dsp:cNvPr id="0" name=""/>
        <dsp:cNvSpPr/>
      </dsp:nvSpPr>
      <dsp:spPr>
        <a:xfrm>
          <a:off x="0" y="4551561"/>
          <a:ext cx="6797675"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IN" sz="1300" kern="1200"/>
            <a:t>Set up and connect a PostgreSQL database for scalable, production-ready applications.</a:t>
          </a:r>
          <a:endParaRPr lang="en-US" sz="1300" kern="1200"/>
        </a:p>
      </dsp:txBody>
      <dsp:txXfrm>
        <a:off x="0" y="4551561"/>
        <a:ext cx="6797675" cy="281520"/>
      </dsp:txXfrm>
    </dsp:sp>
    <dsp:sp modelId="{FAC1AEE4-D6FE-7B4E-9180-D27B01DDCB26}">
      <dsp:nvSpPr>
        <dsp:cNvPr id="0" name=""/>
        <dsp:cNvSpPr/>
      </dsp:nvSpPr>
      <dsp:spPr>
        <a:xfrm>
          <a:off x="0" y="4833081"/>
          <a:ext cx="6797675" cy="387855"/>
        </a:xfrm>
        <a:prstGeom prst="roundRect">
          <a:avLst/>
        </a:prstGeom>
        <a:solidFill>
          <a:schemeClr val="accent2">
            <a:hueOff val="-1331824"/>
            <a:satOff val="-586"/>
            <a:lumOff val="156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a:t>Deployment Made Simple</a:t>
          </a:r>
          <a:r>
            <a:rPr lang="en-IN" sz="1700" kern="1200"/>
            <a:t> </a:t>
          </a:r>
          <a:endParaRPr lang="en-US" sz="1700" kern="1200"/>
        </a:p>
      </dsp:txBody>
      <dsp:txXfrm>
        <a:off x="18934" y="4852015"/>
        <a:ext cx="6759807" cy="349987"/>
      </dsp:txXfrm>
    </dsp:sp>
    <dsp:sp modelId="{A2FFB1C0-17A0-A740-9B74-DB8ECB4DBBC2}">
      <dsp:nvSpPr>
        <dsp:cNvPr id="0" name=""/>
        <dsp:cNvSpPr/>
      </dsp:nvSpPr>
      <dsp:spPr>
        <a:xfrm>
          <a:off x="0" y="5220936"/>
          <a:ext cx="6797675"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IN" sz="1300" kern="1200"/>
            <a:t>Deploy your Django project to the world and make it accessible online.</a:t>
          </a:r>
          <a:endParaRPr lang="en-US" sz="1300" kern="1200"/>
        </a:p>
      </dsp:txBody>
      <dsp:txXfrm>
        <a:off x="0" y="5220936"/>
        <a:ext cx="6797675" cy="2815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8EFE78-9F4D-5240-B101-93576ABDC62C}" type="datetimeFigureOut">
              <a:rPr lang="en-US" smtClean="0"/>
              <a:t>10/2/25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A41745-CAE7-A444-B1F2-FB1E0746A47E}" type="slidenum">
              <a:rPr lang="en-US" smtClean="0"/>
              <a:t>‹#›</a:t>
            </a:fld>
            <a:endParaRPr lang="en-US"/>
          </a:p>
        </p:txBody>
      </p:sp>
    </p:spTree>
    <p:extLst>
      <p:ext uri="{BB962C8B-B14F-4D97-AF65-F5344CB8AC3E}">
        <p14:creationId xmlns:p14="http://schemas.microsoft.com/office/powerpoint/2010/main" val="1625062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0A41745-CAE7-A444-B1F2-FB1E0746A47E}" type="slidenum">
              <a:rPr lang="en-US" smtClean="0"/>
              <a:t>18</a:t>
            </a:fld>
            <a:endParaRPr lang="en-US"/>
          </a:p>
        </p:txBody>
      </p:sp>
    </p:spTree>
    <p:extLst>
      <p:ext uri="{BB962C8B-B14F-4D97-AF65-F5344CB8AC3E}">
        <p14:creationId xmlns:p14="http://schemas.microsoft.com/office/powerpoint/2010/main" val="3140703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10/2/25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9934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10/2/25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31469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10/2/25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28352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10/2/25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38824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10/2/25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7141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10/2/25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3678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10/2/25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65449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10/2/25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75176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10/2/25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77862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10/2/25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85831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10/2/25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2910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10/2/25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5622123"/>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7" r:id="rId6"/>
    <p:sldLayoutId id="2147483732" r:id="rId7"/>
    <p:sldLayoutId id="2147483733" r:id="rId8"/>
    <p:sldLayoutId id="2147483734" r:id="rId9"/>
    <p:sldLayoutId id="2147483736" r:id="rId10"/>
    <p:sldLayoutId id="2147483735" r:id="rId11"/>
  </p:sldLayoutIdLst>
  <p:hf sldNum="0" hdr="0" ftr="0" dt="0"/>
  <p:txStyles>
    <p:title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3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10000"/>
        </a:lnSpc>
        <a:spcBef>
          <a:spcPts val="200"/>
        </a:spcBef>
        <a:spcAft>
          <a:spcPts val="400"/>
        </a:spcAft>
        <a:buClrTx/>
        <a:buFont typeface="Calibri" pitchFamily="34" charset="0"/>
        <a:buChar char="◦"/>
        <a:defRPr sz="21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1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redirect?event=video_description&amp;redir_token=QUFFLUhqbGF6bEY3R0tPTGRGT1FVVUdHQTBaYzNWcWxfQXxBQ3Jtc0tuNjRxeVlMOFh6U2hLV0hOWW1aTldNTnZEQlRQOXQwRFpCT19PeXg0Z3V5STVwWE44VWlpZXJxbU5neWVIZU1FazJNcVgtQ2FMTnZVR3hjMlRzSURtNFN6bXpTaHI1SVU1MjJzYUt4UFRqU0xQaGVnZw&amp;q=https%3A%2F%2Fwww.python.org%2F&amp;v=qcJZN1pvG6A" TargetMode="External"/><Relationship Id="rId2" Type="http://schemas.openxmlformats.org/officeDocument/2006/relationships/hyperlink" Target="https://www.djangoproject.com/" TargetMode="External"/><Relationship Id="rId1" Type="http://schemas.openxmlformats.org/officeDocument/2006/relationships/slideLayout" Target="../slideLayouts/slideLayout2.xml"/><Relationship Id="rId4" Type="http://schemas.openxmlformats.org/officeDocument/2006/relationships/hyperlink" Target="https://www.youtube.com/watch?v=qcJZN1pvG6A&amp;list=PL0Zuz27SZ-6NamGNr7dEqzNFEcZ_FAUVX"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qcJZN1pvG6A&amp;list=PL0Zuz27SZ-6NamGNr7dEqzNFEcZ_FAUVX" TargetMode="External"/><Relationship Id="rId2" Type="http://schemas.openxmlformats.org/officeDocument/2006/relationships/hyperlink" Target="https://www.w3schools.com/django/index.php"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package" Target="../embeddings/Microsoft_Word_Document.docx"/></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Graphical user interface&#10;&#10;Description automatically generated">
            <a:extLst>
              <a:ext uri="{FF2B5EF4-FFF2-40B4-BE49-F238E27FC236}">
                <a16:creationId xmlns:a16="http://schemas.microsoft.com/office/drawing/2014/main" id="{3670637E-F851-7465-A4FA-C4BCA48A73A0}"/>
              </a:ext>
            </a:extLst>
          </p:cNvPr>
          <p:cNvPicPr>
            <a:picLocks noChangeAspect="1"/>
          </p:cNvPicPr>
          <p:nvPr/>
        </p:nvPicPr>
        <p:blipFill rotWithShape="1">
          <a:blip r:embed="rId2"/>
          <a:srcRect l="20908" r="17110"/>
          <a:stretch/>
        </p:blipFill>
        <p:spPr>
          <a:xfrm>
            <a:off x="16" y="61404"/>
            <a:ext cx="7556889" cy="6857990"/>
          </a:xfrm>
          <a:prstGeom prst="rect">
            <a:avLst/>
          </a:prstGeom>
        </p:spPr>
      </p:pic>
      <p:sp>
        <p:nvSpPr>
          <p:cNvPr id="11" name="Rectangle 10">
            <a:extLst>
              <a:ext uri="{FF2B5EF4-FFF2-40B4-BE49-F238E27FC236}">
                <a16:creationId xmlns:a16="http://schemas.microsoft.com/office/drawing/2014/main" id="{6482F060-A4AF-4E0B-B364-7C6BA4A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7556905" y="0"/>
            <a:ext cx="464131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1BD83F2-4896-66F3-72E7-8F6B97A5A5C4}"/>
              </a:ext>
            </a:extLst>
          </p:cNvPr>
          <p:cNvSpPr>
            <a:spLocks noGrp="1"/>
          </p:cNvSpPr>
          <p:nvPr>
            <p:ph type="ctrTitle"/>
          </p:nvPr>
        </p:nvSpPr>
        <p:spPr>
          <a:xfrm>
            <a:off x="6787054" y="2165341"/>
            <a:ext cx="6181018" cy="1424533"/>
          </a:xfrm>
        </p:spPr>
        <p:txBody>
          <a:bodyPr>
            <a:normAutofit/>
          </a:bodyPr>
          <a:lstStyle/>
          <a:p>
            <a:pPr algn="ctr"/>
            <a:br>
              <a:rPr lang="en-US" sz="4000" dirty="0">
                <a:solidFill>
                  <a:srgbClr val="FFFFFF"/>
                </a:solidFill>
              </a:rPr>
            </a:br>
            <a:r>
              <a:rPr lang="en-US" sz="4000" dirty="0">
                <a:solidFill>
                  <a:srgbClr val="FFFFFF"/>
                </a:solidFill>
              </a:rPr>
              <a:t>Learning Outcome 3</a:t>
            </a:r>
          </a:p>
        </p:txBody>
      </p:sp>
      <p:sp>
        <p:nvSpPr>
          <p:cNvPr id="3" name="Subtitle 2">
            <a:extLst>
              <a:ext uri="{FF2B5EF4-FFF2-40B4-BE49-F238E27FC236}">
                <a16:creationId xmlns:a16="http://schemas.microsoft.com/office/drawing/2014/main" id="{2607586F-FB23-22DB-CFFE-1CFCF5CF2672}"/>
              </a:ext>
            </a:extLst>
          </p:cNvPr>
          <p:cNvSpPr>
            <a:spLocks noGrp="1"/>
          </p:cNvSpPr>
          <p:nvPr>
            <p:ph type="subTitle" idx="1"/>
          </p:nvPr>
        </p:nvSpPr>
        <p:spPr>
          <a:xfrm>
            <a:off x="7955157" y="3812137"/>
            <a:ext cx="4236827" cy="1596655"/>
          </a:xfrm>
        </p:spPr>
        <p:txBody>
          <a:bodyPr>
            <a:normAutofit/>
          </a:bodyPr>
          <a:lstStyle/>
          <a:p>
            <a:pPr algn="ctr">
              <a:lnSpc>
                <a:spcPct val="100000"/>
              </a:lnSpc>
            </a:pPr>
            <a:r>
              <a:rPr lang="en-US" sz="1500" b="1" dirty="0">
                <a:solidFill>
                  <a:srgbClr val="FFFFFF"/>
                </a:solidFill>
              </a:rPr>
              <a:t>Web Application development with python </a:t>
            </a:r>
          </a:p>
          <a:p>
            <a:pPr algn="ctr">
              <a:lnSpc>
                <a:spcPct val="100000"/>
              </a:lnSpc>
            </a:pPr>
            <a:r>
              <a:rPr lang="en-US" sz="1500" dirty="0">
                <a:solidFill>
                  <a:srgbClr val="FFFFFF"/>
                </a:solidFill>
              </a:rPr>
              <a:t>Prof. Dr. Rashmi </a:t>
            </a:r>
            <a:r>
              <a:rPr lang="en-US" sz="1500" dirty="0" err="1">
                <a:solidFill>
                  <a:srgbClr val="FFFFFF"/>
                </a:solidFill>
              </a:rPr>
              <a:t>gupta</a:t>
            </a:r>
            <a:endParaRPr lang="en-US" sz="1500" dirty="0">
              <a:solidFill>
                <a:srgbClr val="FFFFFF"/>
              </a:solidFill>
            </a:endParaRPr>
          </a:p>
          <a:p>
            <a:pPr algn="ctr">
              <a:lnSpc>
                <a:spcPct val="100000"/>
              </a:lnSpc>
            </a:pPr>
            <a:r>
              <a:rPr lang="en-US" sz="1500" dirty="0" err="1">
                <a:solidFill>
                  <a:srgbClr val="FFFFFF"/>
                </a:solidFill>
              </a:rPr>
              <a:t>Rashmi.gupta@kristiania.no</a:t>
            </a:r>
            <a:endParaRPr lang="en-US" sz="1500" dirty="0">
              <a:solidFill>
                <a:srgbClr val="FFFFFF"/>
              </a:solidFill>
            </a:endParaRPr>
          </a:p>
        </p:txBody>
      </p:sp>
      <p:cxnSp>
        <p:nvCxnSpPr>
          <p:cNvPr id="13" name="Straight Connector 12">
            <a:extLst>
              <a:ext uri="{FF2B5EF4-FFF2-40B4-BE49-F238E27FC236}">
                <a16:creationId xmlns:a16="http://schemas.microsoft.com/office/drawing/2014/main" id="{B9EB6DAA-2F0C-43D5-A577-15D5D2C4E3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85922" y="3651268"/>
            <a:ext cx="33832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96887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BC4F373-E915-7922-1E38-82587CA213B2}"/>
              </a:ext>
            </a:extLst>
          </p:cNvPr>
          <p:cNvSpPr>
            <a:spLocks noGrp="1"/>
          </p:cNvSpPr>
          <p:nvPr>
            <p:ph type="title"/>
          </p:nvPr>
        </p:nvSpPr>
        <p:spPr>
          <a:xfrm>
            <a:off x="492370" y="516835"/>
            <a:ext cx="3084844" cy="5772840"/>
          </a:xfrm>
        </p:spPr>
        <p:txBody>
          <a:bodyPr anchor="ctr">
            <a:normAutofit/>
          </a:bodyPr>
          <a:lstStyle/>
          <a:p>
            <a:pPr algn="ctr"/>
            <a:r>
              <a:rPr lang="en-IN" sz="2400" dirty="0">
                <a:solidFill>
                  <a:schemeClr val="bg1"/>
                </a:solidFill>
              </a:rPr>
              <a:t>Django Learning Journey</a:t>
            </a:r>
            <a:endParaRPr lang="en-US" sz="2400" dirty="0">
              <a:solidFill>
                <a:schemeClr val="bg1"/>
              </a:solidFill>
            </a:endParaRPr>
          </a:p>
        </p:txBody>
      </p:sp>
      <p:graphicFrame>
        <p:nvGraphicFramePr>
          <p:cNvPr id="12" name="Content Placeholder 2">
            <a:extLst>
              <a:ext uri="{FF2B5EF4-FFF2-40B4-BE49-F238E27FC236}">
                <a16:creationId xmlns:a16="http://schemas.microsoft.com/office/drawing/2014/main" id="{080FDBB9-FCCA-21D9-1E74-AD172BFB16EE}"/>
              </a:ext>
            </a:extLst>
          </p:cNvPr>
          <p:cNvGraphicFramePr>
            <a:graphicFrameLocks noGrp="1"/>
          </p:cNvGraphicFramePr>
          <p:nvPr>
            <p:ph idx="1"/>
            <p:extLst>
              <p:ext uri="{D42A27DB-BD31-4B8C-83A1-F6EECF244321}">
                <p14:modId xmlns:p14="http://schemas.microsoft.com/office/powerpoint/2010/main" val="3250636925"/>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75152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41EB0-BCA3-0DD4-BC30-0A9089BAE100}"/>
              </a:ext>
            </a:extLst>
          </p:cNvPr>
          <p:cNvSpPr>
            <a:spLocks noGrp="1"/>
          </p:cNvSpPr>
          <p:nvPr>
            <p:ph type="title"/>
          </p:nvPr>
        </p:nvSpPr>
        <p:spPr/>
        <p:txBody>
          <a:bodyPr/>
          <a:lstStyle/>
          <a:p>
            <a:r>
              <a:rPr lang="en-US" dirty="0"/>
              <a:t>Extra Resource Material</a:t>
            </a:r>
          </a:p>
        </p:txBody>
      </p:sp>
      <p:sp>
        <p:nvSpPr>
          <p:cNvPr id="3" name="Content Placeholder 2">
            <a:extLst>
              <a:ext uri="{FF2B5EF4-FFF2-40B4-BE49-F238E27FC236}">
                <a16:creationId xmlns:a16="http://schemas.microsoft.com/office/drawing/2014/main" id="{9C3DC769-8D28-B69E-6555-061EA468AA52}"/>
              </a:ext>
            </a:extLst>
          </p:cNvPr>
          <p:cNvSpPr>
            <a:spLocks noGrp="1"/>
          </p:cNvSpPr>
          <p:nvPr>
            <p:ph idx="1"/>
          </p:nvPr>
        </p:nvSpPr>
        <p:spPr/>
        <p:txBody>
          <a:bodyPr/>
          <a:lstStyle/>
          <a:p>
            <a:r>
              <a:rPr lang="en-IN" dirty="0"/>
              <a:t>🔗 Django Official Site: </a:t>
            </a:r>
            <a:r>
              <a:rPr lang="en-IN" dirty="0">
                <a:hlinkClick r:id="rId2"/>
              </a:rPr>
              <a:t>https://www.djangoproject.com/</a:t>
            </a:r>
            <a:r>
              <a:rPr lang="en-IN" dirty="0"/>
              <a:t> </a:t>
            </a:r>
          </a:p>
          <a:p>
            <a:r>
              <a:rPr lang="en-IN" dirty="0"/>
              <a:t>🔗 Python Official Site: </a:t>
            </a:r>
            <a:r>
              <a:rPr lang="en-IN" dirty="0">
                <a:hlinkClick r:id="rId3"/>
              </a:rPr>
              <a:t>https://www.python.org/</a:t>
            </a:r>
            <a:r>
              <a:rPr lang="en-IN" dirty="0"/>
              <a:t> </a:t>
            </a:r>
          </a:p>
          <a:p>
            <a:r>
              <a:rPr lang="en-IN" dirty="0"/>
              <a:t>🔗 Python Django Tutorial by Dave Gray: </a:t>
            </a:r>
            <a:r>
              <a:rPr lang="en-IN" dirty="0">
                <a:hlinkClick r:id="rId4"/>
              </a:rPr>
              <a:t>Youtube Tutorial Guide</a:t>
            </a:r>
            <a:endParaRPr lang="en-US" dirty="0"/>
          </a:p>
        </p:txBody>
      </p:sp>
    </p:spTree>
    <p:extLst>
      <p:ext uri="{BB962C8B-B14F-4D97-AF65-F5344CB8AC3E}">
        <p14:creationId xmlns:p14="http://schemas.microsoft.com/office/powerpoint/2010/main" val="2331234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D70BF99-39A8-6135-4994-21229D87BFE2}"/>
              </a:ext>
            </a:extLst>
          </p:cNvPr>
          <p:cNvSpPr>
            <a:spLocks noGrp="1"/>
          </p:cNvSpPr>
          <p:nvPr>
            <p:ph type="title"/>
          </p:nvPr>
        </p:nvSpPr>
        <p:spPr>
          <a:xfrm>
            <a:off x="1097280" y="286603"/>
            <a:ext cx="10058400" cy="1450757"/>
          </a:xfrm>
        </p:spPr>
        <p:txBody>
          <a:bodyPr anchor="ctr">
            <a:normAutofit/>
          </a:bodyPr>
          <a:lstStyle/>
          <a:p>
            <a:r>
              <a:rPr lang="en-US">
                <a:solidFill>
                  <a:srgbClr val="FFFFFF"/>
                </a:solidFill>
              </a:rPr>
              <a:t>Django</a:t>
            </a:r>
          </a:p>
        </p:txBody>
      </p:sp>
      <p:sp>
        <p:nvSpPr>
          <p:cNvPr id="3" name="Content Placeholder 2">
            <a:extLst>
              <a:ext uri="{FF2B5EF4-FFF2-40B4-BE49-F238E27FC236}">
                <a16:creationId xmlns:a16="http://schemas.microsoft.com/office/drawing/2014/main" id="{A4FDAFB4-D712-70DA-96A6-BE8CF7F4C99D}"/>
              </a:ext>
            </a:extLst>
          </p:cNvPr>
          <p:cNvSpPr>
            <a:spLocks noGrp="1"/>
          </p:cNvSpPr>
          <p:nvPr>
            <p:ph idx="1"/>
          </p:nvPr>
        </p:nvSpPr>
        <p:spPr>
          <a:xfrm>
            <a:off x="716692" y="2023963"/>
            <a:ext cx="10886303" cy="4376837"/>
          </a:xfrm>
        </p:spPr>
        <p:txBody>
          <a:bodyPr>
            <a:normAutofit lnSpcReduction="10000"/>
          </a:bodyPr>
          <a:lstStyle/>
          <a:p>
            <a:pPr algn="just">
              <a:lnSpc>
                <a:spcPct val="100000"/>
              </a:lnSpc>
              <a:buFont typeface="Arial" panose="020B0604020202020204" pitchFamily="34" charset="0"/>
              <a:buChar char="•"/>
            </a:pPr>
            <a:r>
              <a:rPr lang="en-US" sz="1600" dirty="0"/>
              <a:t>Django is a free and </a:t>
            </a:r>
            <a:r>
              <a:rPr lang="en-US" sz="1600" b="1" dirty="0"/>
              <a:t>open-source</a:t>
            </a:r>
            <a:r>
              <a:rPr lang="en-US" sz="1600" dirty="0"/>
              <a:t>, </a:t>
            </a:r>
            <a:r>
              <a:rPr lang="en-US" sz="1600" b="1" dirty="0"/>
              <a:t>back-end server-side, Python-based web framework </a:t>
            </a:r>
            <a:r>
              <a:rPr lang="en-US" sz="1600" dirty="0"/>
              <a:t>that follows the </a:t>
            </a:r>
            <a:r>
              <a:rPr lang="en-US" sz="1600" b="1" dirty="0"/>
              <a:t>model–template–views </a:t>
            </a:r>
            <a:r>
              <a:rPr lang="en-US" sz="1600" dirty="0"/>
              <a:t>(MTV) architectural pattern.</a:t>
            </a:r>
          </a:p>
          <a:p>
            <a:pPr algn="just">
              <a:lnSpc>
                <a:spcPct val="100000"/>
              </a:lnSpc>
              <a:buFont typeface="Arial" panose="020B0604020202020204" pitchFamily="34" charset="0"/>
              <a:buChar char="•"/>
            </a:pPr>
            <a:r>
              <a:rPr lang="en-US" sz="1600" dirty="0"/>
              <a:t>It is maintained by the </a:t>
            </a:r>
            <a:r>
              <a:rPr lang="en-US" sz="1600" b="1" dirty="0"/>
              <a:t>Django Software Foundation (DSF), </a:t>
            </a:r>
            <a:r>
              <a:rPr lang="en-US" sz="1600" dirty="0"/>
              <a:t>an independent organization established in the </a:t>
            </a:r>
            <a:r>
              <a:rPr lang="en-US" sz="1600" b="1" dirty="0"/>
              <a:t>US as a non-profit.</a:t>
            </a:r>
          </a:p>
          <a:p>
            <a:pPr algn="just">
              <a:lnSpc>
                <a:spcPct val="100000"/>
              </a:lnSpc>
              <a:buFont typeface="Arial" panose="020B0604020202020204" pitchFamily="34" charset="0"/>
              <a:buChar char="•"/>
            </a:pPr>
            <a:r>
              <a:rPr lang="en-US" sz="1600" dirty="0"/>
              <a:t>Django takes care of the difficult stuff so that you can concentrate on building your web applications.</a:t>
            </a:r>
          </a:p>
          <a:p>
            <a:pPr algn="just">
              <a:lnSpc>
                <a:spcPct val="100000"/>
              </a:lnSpc>
              <a:buFont typeface="Arial" panose="020B0604020202020204" pitchFamily="34" charset="0"/>
              <a:buChar char="•"/>
            </a:pPr>
            <a:r>
              <a:rPr lang="en-US" sz="1600" dirty="0"/>
              <a:t>Django emphasizes the reusability of components, also referred to as </a:t>
            </a:r>
            <a:r>
              <a:rPr lang="en-US" sz="1600" b="1" dirty="0"/>
              <a:t>DRY (Don't Repeat Yourself), </a:t>
            </a:r>
            <a:r>
              <a:rPr lang="en-US" sz="1600" dirty="0"/>
              <a:t>and comes with </a:t>
            </a:r>
            <a:r>
              <a:rPr lang="en-US" sz="1600" b="1" dirty="0"/>
              <a:t>ready-to-use features like </a:t>
            </a:r>
          </a:p>
          <a:p>
            <a:pPr lvl="1" algn="just">
              <a:lnSpc>
                <a:spcPct val="100000"/>
              </a:lnSpc>
              <a:buFont typeface="Arial" panose="020B0604020202020204" pitchFamily="34" charset="0"/>
              <a:buChar char="•"/>
            </a:pPr>
            <a:r>
              <a:rPr lang="en-US" sz="1400" b="1" dirty="0"/>
              <a:t>login system, </a:t>
            </a:r>
          </a:p>
          <a:p>
            <a:pPr lvl="1" algn="just">
              <a:lnSpc>
                <a:spcPct val="100000"/>
              </a:lnSpc>
              <a:buFont typeface="Arial" panose="020B0604020202020204" pitchFamily="34" charset="0"/>
              <a:buChar char="•"/>
            </a:pPr>
            <a:r>
              <a:rPr lang="en-US" sz="1400" b="1" dirty="0"/>
              <a:t>database connection and </a:t>
            </a:r>
          </a:p>
          <a:p>
            <a:pPr lvl="1" algn="just">
              <a:lnSpc>
                <a:spcPct val="100000"/>
              </a:lnSpc>
              <a:buFont typeface="Arial" panose="020B0604020202020204" pitchFamily="34" charset="0"/>
              <a:buChar char="•"/>
            </a:pPr>
            <a:r>
              <a:rPr lang="en-US" sz="1400" b="1" dirty="0"/>
              <a:t>CRUD operations (Create Read Update Delete).</a:t>
            </a:r>
          </a:p>
          <a:p>
            <a:pPr algn="just">
              <a:lnSpc>
                <a:spcPct val="100000"/>
              </a:lnSpc>
              <a:buFont typeface="Arial" panose="020B0604020202020204" pitchFamily="34" charset="0"/>
              <a:buChar char="•"/>
            </a:pPr>
            <a:r>
              <a:rPr lang="en-US" sz="1600" b="1" dirty="0"/>
              <a:t>Django is especially helpful for database driven websites.</a:t>
            </a:r>
          </a:p>
          <a:p>
            <a:pPr algn="just">
              <a:lnSpc>
                <a:spcPct val="100000"/>
              </a:lnSpc>
              <a:buFont typeface="Arial" panose="020B0604020202020204" pitchFamily="34" charset="0"/>
              <a:buChar char="•"/>
            </a:pPr>
            <a:r>
              <a:rPr lang="en-US" sz="1600" dirty="0"/>
              <a:t>Some well-known sites that use Django include </a:t>
            </a:r>
            <a:r>
              <a:rPr lang="en-US" sz="1600" b="1" dirty="0"/>
              <a:t>Instagram, Mozilla, Disqus, Bitbucket, </a:t>
            </a:r>
            <a:r>
              <a:rPr lang="en-US" sz="1600" b="1" dirty="0" err="1"/>
              <a:t>Nextdoor</a:t>
            </a:r>
            <a:r>
              <a:rPr lang="en-US" sz="1600" b="1" dirty="0"/>
              <a:t> and Clubhouse</a:t>
            </a:r>
            <a:r>
              <a:rPr lang="en-US" sz="1600" dirty="0"/>
              <a:t>.</a:t>
            </a:r>
          </a:p>
          <a:p>
            <a:pPr algn="just">
              <a:lnSpc>
                <a:spcPct val="100000"/>
              </a:lnSpc>
              <a:buFont typeface="Arial" panose="020B0604020202020204" pitchFamily="34" charset="0"/>
              <a:buChar char="•"/>
            </a:pPr>
            <a:r>
              <a:rPr lang="en-US" sz="1600" dirty="0"/>
              <a:t>We will follow this tutorial to deeply understand about Django.. </a:t>
            </a:r>
            <a:r>
              <a:rPr lang="en-US" sz="1600" dirty="0">
                <a:hlinkClick r:id="rId2"/>
              </a:rPr>
              <a:t>HERE</a:t>
            </a:r>
            <a:r>
              <a:rPr lang="en-US" sz="1600" dirty="0"/>
              <a:t>. Additionally, you refer </a:t>
            </a:r>
            <a:r>
              <a:rPr lang="en-IN" sz="1600" dirty="0"/>
              <a:t>Python Django Tutorial by Dave Gray: </a:t>
            </a:r>
            <a:r>
              <a:rPr lang="en-IN" sz="1600" dirty="0">
                <a:hlinkClick r:id="rId3"/>
              </a:rPr>
              <a:t>Youtube Tutorial Gui</a:t>
            </a:r>
            <a:endParaRPr lang="en-US" sz="1600" dirty="0"/>
          </a:p>
        </p:txBody>
      </p:sp>
      <p:sp>
        <p:nvSpPr>
          <p:cNvPr id="23" name="Rectangle 22">
            <a:extLst>
              <a:ext uri="{FF2B5EF4-FFF2-40B4-BE49-F238E27FC236}">
                <a16:creationId xmlns:a16="http://schemas.microsoft.com/office/drawing/2014/main" id="{359CEC61-F44B-43B3-B40F-AE38C5AF1D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77829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8CB54FC-0B2A-4107-9A70-958B90B765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D8C987-0EE3-FC81-3883-DD2D68FBA767}"/>
              </a:ext>
            </a:extLst>
          </p:cNvPr>
          <p:cNvSpPr>
            <a:spLocks noGrp="1"/>
          </p:cNvSpPr>
          <p:nvPr>
            <p:ph type="title"/>
          </p:nvPr>
        </p:nvSpPr>
        <p:spPr>
          <a:xfrm>
            <a:off x="6411685" y="634946"/>
            <a:ext cx="5127171" cy="1450757"/>
          </a:xfrm>
        </p:spPr>
        <p:txBody>
          <a:bodyPr>
            <a:normAutofit/>
          </a:bodyPr>
          <a:lstStyle/>
          <a:p>
            <a:r>
              <a:rPr lang="en-US" dirty="0"/>
              <a:t>How does Django Work?</a:t>
            </a:r>
          </a:p>
        </p:txBody>
      </p:sp>
      <p:pic>
        <p:nvPicPr>
          <p:cNvPr id="4" name="Picture 3" descr="A diagram of a software development&#10;&#10;Description automatically generated">
            <a:extLst>
              <a:ext uri="{FF2B5EF4-FFF2-40B4-BE49-F238E27FC236}">
                <a16:creationId xmlns:a16="http://schemas.microsoft.com/office/drawing/2014/main" id="{A1F6CCF6-3AD0-A6D2-1B91-C96A7126A4A3}"/>
              </a:ext>
            </a:extLst>
          </p:cNvPr>
          <p:cNvPicPr>
            <a:picLocks noChangeAspect="1"/>
          </p:cNvPicPr>
          <p:nvPr/>
        </p:nvPicPr>
        <p:blipFill>
          <a:blip r:embed="rId2"/>
          <a:stretch>
            <a:fillRect/>
          </a:stretch>
        </p:blipFill>
        <p:spPr>
          <a:xfrm>
            <a:off x="643192" y="1376301"/>
            <a:ext cx="5115347" cy="3785356"/>
          </a:xfrm>
          <a:prstGeom prst="rect">
            <a:avLst/>
          </a:prstGeom>
        </p:spPr>
      </p:pic>
      <p:cxnSp>
        <p:nvCxnSpPr>
          <p:cNvPr id="11" name="Straight Connector 10">
            <a:extLst>
              <a:ext uri="{FF2B5EF4-FFF2-40B4-BE49-F238E27FC236}">
                <a16:creationId xmlns:a16="http://schemas.microsoft.com/office/drawing/2014/main" id="{7855A9B5-1710-4B19-B0F1-CDFDD4ED5B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14044" y="2246569"/>
            <a:ext cx="45720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6774E0C-842C-4239-2A9C-F2DA381A7FC3}"/>
              </a:ext>
            </a:extLst>
          </p:cNvPr>
          <p:cNvSpPr>
            <a:spLocks noGrp="1"/>
          </p:cNvSpPr>
          <p:nvPr>
            <p:ph idx="1"/>
          </p:nvPr>
        </p:nvSpPr>
        <p:spPr>
          <a:xfrm>
            <a:off x="6411684" y="2407436"/>
            <a:ext cx="5127172" cy="3461658"/>
          </a:xfrm>
        </p:spPr>
        <p:txBody>
          <a:bodyPr>
            <a:normAutofit/>
          </a:bodyPr>
          <a:lstStyle/>
          <a:p>
            <a:pPr algn="just">
              <a:lnSpc>
                <a:spcPct val="100000"/>
              </a:lnSpc>
            </a:pPr>
            <a:r>
              <a:rPr lang="en-US" sz="1600" dirty="0"/>
              <a:t>Django follows the </a:t>
            </a:r>
            <a:r>
              <a:rPr lang="en-US" sz="1600" b="1" dirty="0"/>
              <a:t>MVT design pattern (Model View Template).</a:t>
            </a:r>
          </a:p>
          <a:p>
            <a:pPr algn="just">
              <a:lnSpc>
                <a:spcPct val="100000"/>
              </a:lnSpc>
              <a:buFont typeface="Arial" panose="020B0604020202020204" pitchFamily="34" charset="0"/>
              <a:buChar char="•"/>
            </a:pPr>
            <a:r>
              <a:rPr lang="en-US" sz="1600" b="1" dirty="0"/>
              <a:t>Model - </a:t>
            </a:r>
            <a:r>
              <a:rPr lang="en-US" sz="1600" dirty="0"/>
              <a:t>The data you want to present, usually data from a database.</a:t>
            </a:r>
          </a:p>
          <a:p>
            <a:pPr algn="just">
              <a:lnSpc>
                <a:spcPct val="100000"/>
              </a:lnSpc>
              <a:buFont typeface="Arial" panose="020B0604020202020204" pitchFamily="34" charset="0"/>
              <a:buChar char="•"/>
            </a:pPr>
            <a:r>
              <a:rPr lang="en-US" sz="1600" b="1" dirty="0"/>
              <a:t>View - </a:t>
            </a:r>
            <a:r>
              <a:rPr lang="en-US" sz="1600" dirty="0"/>
              <a:t>A request handler that returns the relevant template and content - based on the request from the user.</a:t>
            </a:r>
          </a:p>
          <a:p>
            <a:pPr algn="just">
              <a:lnSpc>
                <a:spcPct val="100000"/>
              </a:lnSpc>
              <a:buFont typeface="Arial" panose="020B0604020202020204" pitchFamily="34" charset="0"/>
              <a:buChar char="•"/>
            </a:pPr>
            <a:r>
              <a:rPr lang="en-US" sz="1600" b="1" dirty="0"/>
              <a:t>Template</a:t>
            </a:r>
            <a:r>
              <a:rPr lang="en-US" sz="1600" dirty="0"/>
              <a:t> - A text file (like an HTML file) containing the layout of the web page, with logic on how to display the data.</a:t>
            </a:r>
          </a:p>
          <a:p>
            <a:pPr algn="just">
              <a:lnSpc>
                <a:spcPct val="100000"/>
              </a:lnSpc>
            </a:pPr>
            <a:br>
              <a:rPr lang="en-US" sz="1600" dirty="0"/>
            </a:br>
            <a:endParaRPr lang="en-US" sz="1600" dirty="0"/>
          </a:p>
        </p:txBody>
      </p:sp>
      <p:sp>
        <p:nvSpPr>
          <p:cNvPr id="13" name="Rectangle 12">
            <a:extLst>
              <a:ext uri="{FF2B5EF4-FFF2-40B4-BE49-F238E27FC236}">
                <a16:creationId xmlns:a16="http://schemas.microsoft.com/office/drawing/2014/main" id="{9AA76026-5689-4584-8D93-D71D739E6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129962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4FAA6B4-BAFB-4474-9B14-DC83A90965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96B842-FFD9-D912-D9FC-E0A984261027}"/>
              </a:ext>
            </a:extLst>
          </p:cNvPr>
          <p:cNvSpPr>
            <a:spLocks noGrp="1"/>
          </p:cNvSpPr>
          <p:nvPr>
            <p:ph type="title"/>
          </p:nvPr>
        </p:nvSpPr>
        <p:spPr>
          <a:xfrm>
            <a:off x="1097280" y="286603"/>
            <a:ext cx="10058400" cy="1450757"/>
          </a:xfrm>
        </p:spPr>
        <p:txBody>
          <a:bodyPr>
            <a:normAutofit/>
          </a:bodyPr>
          <a:lstStyle/>
          <a:p>
            <a:r>
              <a:rPr lang="en-US" dirty="0"/>
              <a:t>Model</a:t>
            </a:r>
          </a:p>
        </p:txBody>
      </p:sp>
      <p:cxnSp>
        <p:nvCxnSpPr>
          <p:cNvPr id="12" name="!!Straight Connector">
            <a:extLst>
              <a:ext uri="{FF2B5EF4-FFF2-40B4-BE49-F238E27FC236}">
                <a16:creationId xmlns:a16="http://schemas.microsoft.com/office/drawing/2014/main" id="{4364CDC3-ADB0-4691-9286-5925F160C2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E0F0AB6-AC32-000D-8682-CA1000F24733}"/>
              </a:ext>
            </a:extLst>
          </p:cNvPr>
          <p:cNvSpPr>
            <a:spLocks noGrp="1"/>
          </p:cNvSpPr>
          <p:nvPr>
            <p:ph idx="1"/>
          </p:nvPr>
        </p:nvSpPr>
        <p:spPr>
          <a:xfrm>
            <a:off x="1097280" y="2108200"/>
            <a:ext cx="5834861" cy="5036401"/>
          </a:xfrm>
        </p:spPr>
        <p:txBody>
          <a:bodyPr>
            <a:normAutofit/>
          </a:bodyPr>
          <a:lstStyle/>
          <a:p>
            <a:pPr algn="just">
              <a:lnSpc>
                <a:spcPct val="100000"/>
              </a:lnSpc>
              <a:buFont typeface="Arial" panose="020B0604020202020204" pitchFamily="34" charset="0"/>
              <a:buChar char="•"/>
            </a:pPr>
            <a:r>
              <a:rPr lang="en-US" sz="1400" dirty="0"/>
              <a:t>The model provides data from the database.</a:t>
            </a:r>
          </a:p>
          <a:p>
            <a:pPr algn="just">
              <a:lnSpc>
                <a:spcPct val="100000"/>
              </a:lnSpc>
              <a:buFont typeface="Arial" panose="020B0604020202020204" pitchFamily="34" charset="0"/>
              <a:buChar char="•"/>
            </a:pPr>
            <a:r>
              <a:rPr lang="en-US" sz="1400" dirty="0"/>
              <a:t>In Django, the data is delivered as an </a:t>
            </a:r>
            <a:r>
              <a:rPr lang="en-US" sz="1400" b="1" dirty="0"/>
              <a:t>Object Relational Mapping (ORM), </a:t>
            </a:r>
            <a:r>
              <a:rPr lang="en-US" sz="1400" dirty="0"/>
              <a:t>which is a technique designed to make it easier to work with databases.</a:t>
            </a:r>
          </a:p>
          <a:p>
            <a:pPr algn="just">
              <a:lnSpc>
                <a:spcPct val="100000"/>
              </a:lnSpc>
              <a:buFont typeface="Arial" panose="020B0604020202020204" pitchFamily="34" charset="0"/>
              <a:buChar char="•"/>
            </a:pPr>
            <a:r>
              <a:rPr lang="en-US" sz="1400" dirty="0"/>
              <a:t>ORM stands for object-relational mapping, </a:t>
            </a:r>
            <a:r>
              <a:rPr lang="en-US" sz="1400" b="1" dirty="0"/>
              <a:t>where objects are used to connect the programming language on to the database systems, with the facility to work SQL and object-oriented programming concepts.</a:t>
            </a:r>
          </a:p>
          <a:p>
            <a:pPr algn="just">
              <a:lnSpc>
                <a:spcPct val="100000"/>
              </a:lnSpc>
              <a:buFont typeface="Arial" panose="020B0604020202020204" pitchFamily="34" charset="0"/>
              <a:buChar char="•"/>
            </a:pPr>
            <a:r>
              <a:rPr lang="en-US" sz="1400" dirty="0"/>
              <a:t>The most common way to extract data from a database is SQL. One problem with SQL is that you have to have a pretty good understanding of the database structure to be able to work with it.</a:t>
            </a:r>
          </a:p>
          <a:p>
            <a:pPr algn="just">
              <a:lnSpc>
                <a:spcPct val="100000"/>
              </a:lnSpc>
              <a:buFont typeface="Arial" panose="020B0604020202020204" pitchFamily="34" charset="0"/>
              <a:buChar char="•"/>
            </a:pPr>
            <a:r>
              <a:rPr lang="en-US" sz="1400" dirty="0"/>
              <a:t>Django, with ORM, makes it easier to communicate with the database, without having to write complex SQL statements.</a:t>
            </a:r>
          </a:p>
          <a:p>
            <a:pPr algn="just">
              <a:lnSpc>
                <a:spcPct val="100000"/>
              </a:lnSpc>
              <a:buFont typeface="Arial" panose="020B0604020202020204" pitchFamily="34" charset="0"/>
              <a:buChar char="•"/>
            </a:pPr>
            <a:r>
              <a:rPr lang="en-US" sz="1400" dirty="0"/>
              <a:t>The models are usually located in a file called </a:t>
            </a:r>
            <a:r>
              <a:rPr lang="en-US" sz="1400" b="1" dirty="0" err="1"/>
              <a:t>models.py</a:t>
            </a:r>
            <a:endParaRPr lang="en-US" sz="1400" b="1" dirty="0"/>
          </a:p>
          <a:p>
            <a:pPr algn="just">
              <a:lnSpc>
                <a:spcPct val="100000"/>
              </a:lnSpc>
              <a:buFont typeface="Arial" panose="020B0604020202020204" pitchFamily="34" charset="0"/>
              <a:buChar char="•"/>
            </a:pPr>
            <a:r>
              <a:rPr lang="en-US" sz="1400" b="1" dirty="0"/>
              <a:t>Bonus: if you want to dig into understanding this figure in depth:</a:t>
            </a:r>
          </a:p>
        </p:txBody>
      </p:sp>
      <p:pic>
        <p:nvPicPr>
          <p:cNvPr id="5" name="Picture 4" descr="A diagram of a data flow&#10;&#10;Description automatically generated with medium confidence">
            <a:extLst>
              <a:ext uri="{FF2B5EF4-FFF2-40B4-BE49-F238E27FC236}">
                <a16:creationId xmlns:a16="http://schemas.microsoft.com/office/drawing/2014/main" id="{C8981941-247F-CE7A-4947-0C68249127BE}"/>
              </a:ext>
            </a:extLst>
          </p:cNvPr>
          <p:cNvPicPr>
            <a:picLocks noChangeAspect="1"/>
          </p:cNvPicPr>
          <p:nvPr/>
        </p:nvPicPr>
        <p:blipFill rotWithShape="1">
          <a:blip r:embed="rId2"/>
          <a:srcRect r="4" b="9268"/>
          <a:stretch/>
        </p:blipFill>
        <p:spPr>
          <a:xfrm>
            <a:off x="7534656" y="2108200"/>
            <a:ext cx="3621024" cy="3600613"/>
          </a:xfrm>
          <a:prstGeom prst="rect">
            <a:avLst/>
          </a:prstGeom>
        </p:spPr>
      </p:pic>
      <p:sp>
        <p:nvSpPr>
          <p:cNvPr id="14" name="Rectangle 13">
            <a:extLst>
              <a:ext uri="{FF2B5EF4-FFF2-40B4-BE49-F238E27FC236}">
                <a16:creationId xmlns:a16="http://schemas.microsoft.com/office/drawing/2014/main" id="{DB148495-5F82-48E2-A76C-C8E1C8949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6" name="Picture 5" descr="A diagram of a software development&#10;&#10;Description automatically generated">
            <a:extLst>
              <a:ext uri="{FF2B5EF4-FFF2-40B4-BE49-F238E27FC236}">
                <a16:creationId xmlns:a16="http://schemas.microsoft.com/office/drawing/2014/main" id="{E370B3DC-78CA-F550-A68C-0417BA257C4F}"/>
              </a:ext>
            </a:extLst>
          </p:cNvPr>
          <p:cNvPicPr>
            <a:picLocks noChangeAspect="1"/>
          </p:cNvPicPr>
          <p:nvPr/>
        </p:nvPicPr>
        <p:blipFill>
          <a:blip r:embed="rId3"/>
          <a:stretch>
            <a:fillRect/>
          </a:stretch>
        </p:blipFill>
        <p:spPr>
          <a:xfrm>
            <a:off x="9660391" y="57715"/>
            <a:ext cx="2408042" cy="1781951"/>
          </a:xfrm>
          <a:prstGeom prst="rect">
            <a:avLst/>
          </a:prstGeom>
        </p:spPr>
      </p:pic>
      <p:graphicFrame>
        <p:nvGraphicFramePr>
          <p:cNvPr id="4" name="Object 3">
            <a:extLst>
              <a:ext uri="{FF2B5EF4-FFF2-40B4-BE49-F238E27FC236}">
                <a16:creationId xmlns:a16="http://schemas.microsoft.com/office/drawing/2014/main" id="{2126B74F-8E9B-0304-FBED-18EFAD429063}"/>
              </a:ext>
            </a:extLst>
          </p:cNvPr>
          <p:cNvGraphicFramePr>
            <a:graphicFrameLocks noChangeAspect="1"/>
          </p:cNvGraphicFramePr>
          <p:nvPr>
            <p:extLst>
              <p:ext uri="{D42A27DB-BD31-4B8C-83A1-F6EECF244321}">
                <p14:modId xmlns:p14="http://schemas.microsoft.com/office/powerpoint/2010/main" val="3851033046"/>
              </p:ext>
            </p:extLst>
          </p:nvPr>
        </p:nvGraphicFramePr>
        <p:xfrm>
          <a:off x="5966941" y="5580381"/>
          <a:ext cx="965200" cy="609600"/>
        </p:xfrm>
        <a:graphic>
          <a:graphicData uri="http://schemas.openxmlformats.org/presentationml/2006/ole">
            <mc:AlternateContent xmlns:mc="http://schemas.openxmlformats.org/markup-compatibility/2006">
              <mc:Choice xmlns:v="urn:schemas-microsoft-com:vml" Requires="v">
                <p:oleObj name="Document" showAsIcon="1" r:id="rId4" imgW="965200" imgH="609600" progId="Word.Document.12">
                  <p:embed/>
                </p:oleObj>
              </mc:Choice>
              <mc:Fallback>
                <p:oleObj name="Document" showAsIcon="1" r:id="rId4" imgW="965200" imgH="609600" progId="Word.Document.12">
                  <p:embed/>
                  <p:pic>
                    <p:nvPicPr>
                      <p:cNvPr id="0" name=""/>
                      <p:cNvPicPr/>
                      <p:nvPr/>
                    </p:nvPicPr>
                    <p:blipFill>
                      <a:blip r:embed="rId5"/>
                      <a:stretch>
                        <a:fillRect/>
                      </a:stretch>
                    </p:blipFill>
                    <p:spPr>
                      <a:xfrm>
                        <a:off x="5966941" y="5580381"/>
                        <a:ext cx="965200" cy="609600"/>
                      </a:xfrm>
                      <a:prstGeom prst="rect">
                        <a:avLst/>
                      </a:prstGeom>
                    </p:spPr>
                  </p:pic>
                </p:oleObj>
              </mc:Fallback>
            </mc:AlternateContent>
          </a:graphicData>
        </a:graphic>
      </p:graphicFrame>
    </p:spTree>
    <p:extLst>
      <p:ext uri="{BB962C8B-B14F-4D97-AF65-F5344CB8AC3E}">
        <p14:creationId xmlns:p14="http://schemas.microsoft.com/office/powerpoint/2010/main" val="3049223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F3849-C8FD-73ED-C305-545C8011E77B}"/>
              </a:ext>
            </a:extLst>
          </p:cNvPr>
          <p:cNvSpPr>
            <a:spLocks noGrp="1"/>
          </p:cNvSpPr>
          <p:nvPr>
            <p:ph type="title"/>
          </p:nvPr>
        </p:nvSpPr>
        <p:spPr/>
        <p:txBody>
          <a:bodyPr/>
          <a:lstStyle/>
          <a:p>
            <a:r>
              <a:rPr lang="en-US" dirty="0"/>
              <a:t>View</a:t>
            </a:r>
          </a:p>
        </p:txBody>
      </p:sp>
      <p:sp>
        <p:nvSpPr>
          <p:cNvPr id="3" name="Content Placeholder 2">
            <a:extLst>
              <a:ext uri="{FF2B5EF4-FFF2-40B4-BE49-F238E27FC236}">
                <a16:creationId xmlns:a16="http://schemas.microsoft.com/office/drawing/2014/main" id="{F8448E67-A0E0-5A57-2A1A-3C7DDD8DFF71}"/>
              </a:ext>
            </a:extLst>
          </p:cNvPr>
          <p:cNvSpPr>
            <a:spLocks noGrp="1"/>
          </p:cNvSpPr>
          <p:nvPr>
            <p:ph idx="1"/>
          </p:nvPr>
        </p:nvSpPr>
        <p:spPr/>
        <p:txBody>
          <a:bodyPr/>
          <a:lstStyle/>
          <a:p>
            <a:pPr algn="just">
              <a:buFont typeface="Arial" panose="020B0604020202020204" pitchFamily="34" charset="0"/>
              <a:buChar char="•"/>
            </a:pPr>
            <a:r>
              <a:rPr lang="en-US" dirty="0"/>
              <a:t>A view is a function or method that </a:t>
            </a:r>
          </a:p>
          <a:p>
            <a:pPr lvl="1" algn="just">
              <a:buFont typeface="Arial" panose="020B0604020202020204" pitchFamily="34" charset="0"/>
              <a:buChar char="•"/>
            </a:pPr>
            <a:r>
              <a:rPr lang="en-US" dirty="0"/>
              <a:t>takes HTTP requests as arguments, </a:t>
            </a:r>
          </a:p>
          <a:p>
            <a:pPr lvl="1" algn="just">
              <a:buFont typeface="Arial" panose="020B0604020202020204" pitchFamily="34" charset="0"/>
              <a:buChar char="•"/>
            </a:pPr>
            <a:r>
              <a:rPr lang="en-US" dirty="0"/>
              <a:t>imports the relevant model(s), and </a:t>
            </a:r>
          </a:p>
          <a:p>
            <a:pPr lvl="1" algn="just">
              <a:buFont typeface="Arial" panose="020B0604020202020204" pitchFamily="34" charset="0"/>
              <a:buChar char="•"/>
            </a:pPr>
            <a:r>
              <a:rPr lang="en-US" dirty="0"/>
              <a:t>finds out what data to send to the template, and returns the final result.</a:t>
            </a:r>
          </a:p>
          <a:p>
            <a:pPr algn="just">
              <a:buFont typeface="Arial" panose="020B0604020202020204" pitchFamily="34" charset="0"/>
              <a:buChar char="•"/>
            </a:pPr>
            <a:r>
              <a:rPr lang="en-US" dirty="0"/>
              <a:t>The views are usually located in a file called </a:t>
            </a:r>
            <a:r>
              <a:rPr lang="en-US" dirty="0" err="1"/>
              <a:t>views.py</a:t>
            </a:r>
            <a:endParaRPr lang="en-US" dirty="0"/>
          </a:p>
          <a:p>
            <a:endParaRPr lang="en-US" dirty="0"/>
          </a:p>
        </p:txBody>
      </p:sp>
      <p:pic>
        <p:nvPicPr>
          <p:cNvPr id="4" name="Picture 3" descr="A diagram of a software development&#10;&#10;Description automatically generated">
            <a:extLst>
              <a:ext uri="{FF2B5EF4-FFF2-40B4-BE49-F238E27FC236}">
                <a16:creationId xmlns:a16="http://schemas.microsoft.com/office/drawing/2014/main" id="{30B867AE-A6A8-BBF2-E562-B17EF69B6154}"/>
              </a:ext>
            </a:extLst>
          </p:cNvPr>
          <p:cNvPicPr>
            <a:picLocks noChangeAspect="1"/>
          </p:cNvPicPr>
          <p:nvPr/>
        </p:nvPicPr>
        <p:blipFill>
          <a:blip r:embed="rId2"/>
          <a:stretch>
            <a:fillRect/>
          </a:stretch>
        </p:blipFill>
        <p:spPr>
          <a:xfrm>
            <a:off x="9660391" y="57715"/>
            <a:ext cx="2408042" cy="1781951"/>
          </a:xfrm>
          <a:prstGeom prst="rect">
            <a:avLst/>
          </a:prstGeom>
        </p:spPr>
      </p:pic>
    </p:spTree>
    <p:extLst>
      <p:ext uri="{BB962C8B-B14F-4D97-AF65-F5344CB8AC3E}">
        <p14:creationId xmlns:p14="http://schemas.microsoft.com/office/powerpoint/2010/main" val="805370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118F0-8165-96D3-1823-72E896936732}"/>
              </a:ext>
            </a:extLst>
          </p:cNvPr>
          <p:cNvSpPr>
            <a:spLocks noGrp="1"/>
          </p:cNvSpPr>
          <p:nvPr>
            <p:ph type="title"/>
          </p:nvPr>
        </p:nvSpPr>
        <p:spPr/>
        <p:txBody>
          <a:bodyPr/>
          <a:lstStyle/>
          <a:p>
            <a:r>
              <a:rPr lang="en-US" dirty="0"/>
              <a:t>Template</a:t>
            </a:r>
          </a:p>
        </p:txBody>
      </p:sp>
      <p:sp>
        <p:nvSpPr>
          <p:cNvPr id="3" name="Content Placeholder 2">
            <a:extLst>
              <a:ext uri="{FF2B5EF4-FFF2-40B4-BE49-F238E27FC236}">
                <a16:creationId xmlns:a16="http://schemas.microsoft.com/office/drawing/2014/main" id="{1FFA3100-1F31-7465-8250-EB8B45272A9F}"/>
              </a:ext>
            </a:extLst>
          </p:cNvPr>
          <p:cNvSpPr>
            <a:spLocks noGrp="1"/>
          </p:cNvSpPr>
          <p:nvPr>
            <p:ph idx="1"/>
          </p:nvPr>
        </p:nvSpPr>
        <p:spPr/>
        <p:txBody>
          <a:bodyPr>
            <a:normAutofit fontScale="92500" lnSpcReduction="10000"/>
          </a:bodyPr>
          <a:lstStyle/>
          <a:p>
            <a:pPr algn="just">
              <a:buFont typeface="Arial" panose="020B0604020202020204" pitchFamily="34" charset="0"/>
              <a:buChar char="•"/>
            </a:pPr>
            <a:r>
              <a:rPr lang="en-US" dirty="0"/>
              <a:t>A template is a file where you describe how the result should be represented.</a:t>
            </a:r>
          </a:p>
          <a:p>
            <a:pPr algn="just">
              <a:buFont typeface="Arial" panose="020B0604020202020204" pitchFamily="34" charset="0"/>
              <a:buChar char="•"/>
            </a:pPr>
            <a:r>
              <a:rPr lang="en-US" dirty="0"/>
              <a:t>Templates are often .html files, with HTML code describing the layout of a web page</a:t>
            </a:r>
          </a:p>
          <a:p>
            <a:pPr algn="just">
              <a:buFont typeface="Arial" panose="020B0604020202020204" pitchFamily="34" charset="0"/>
              <a:buChar char="•"/>
            </a:pPr>
            <a:r>
              <a:rPr lang="en-US" dirty="0"/>
              <a:t>Django uses standard HTML to describe the layout, but uses Django tags to add logic:</a:t>
            </a:r>
          </a:p>
          <a:p>
            <a:endParaRPr lang="en-US" dirty="0"/>
          </a:p>
          <a:p>
            <a:endParaRPr lang="en-US" dirty="0"/>
          </a:p>
          <a:p>
            <a:endParaRPr lang="en-US" dirty="0"/>
          </a:p>
          <a:p>
            <a:pPr>
              <a:buFont typeface="Arial" panose="020B0604020202020204" pitchFamily="34" charset="0"/>
              <a:buChar char="•"/>
            </a:pPr>
            <a:r>
              <a:rPr lang="en-US" dirty="0"/>
              <a:t>The templates of an application is located in a folder named </a:t>
            </a:r>
            <a:r>
              <a:rPr lang="en-US" b="1" dirty="0"/>
              <a:t>templates</a:t>
            </a:r>
            <a:r>
              <a:rPr lang="en-US" dirty="0"/>
              <a:t>.</a:t>
            </a:r>
            <a:br>
              <a:rPr lang="en-US" dirty="0"/>
            </a:br>
            <a:endParaRPr lang="en-US" dirty="0"/>
          </a:p>
        </p:txBody>
      </p:sp>
      <p:pic>
        <p:nvPicPr>
          <p:cNvPr id="5" name="Picture 4" descr="A close-up of a computer code&#10;&#10;Description automatically generated">
            <a:extLst>
              <a:ext uri="{FF2B5EF4-FFF2-40B4-BE49-F238E27FC236}">
                <a16:creationId xmlns:a16="http://schemas.microsoft.com/office/drawing/2014/main" id="{780B7708-F1F3-8F16-CB26-77ECCB5F1709}"/>
              </a:ext>
            </a:extLst>
          </p:cNvPr>
          <p:cNvPicPr>
            <a:picLocks noChangeAspect="1"/>
          </p:cNvPicPr>
          <p:nvPr/>
        </p:nvPicPr>
        <p:blipFill>
          <a:blip r:embed="rId2"/>
          <a:stretch>
            <a:fillRect/>
          </a:stretch>
        </p:blipFill>
        <p:spPr>
          <a:xfrm>
            <a:off x="3556584" y="3780783"/>
            <a:ext cx="4203700" cy="990600"/>
          </a:xfrm>
          <a:prstGeom prst="rect">
            <a:avLst/>
          </a:prstGeom>
        </p:spPr>
      </p:pic>
      <p:pic>
        <p:nvPicPr>
          <p:cNvPr id="4" name="Picture 3" descr="A diagram of a software development&#10;&#10;Description automatically generated">
            <a:extLst>
              <a:ext uri="{FF2B5EF4-FFF2-40B4-BE49-F238E27FC236}">
                <a16:creationId xmlns:a16="http://schemas.microsoft.com/office/drawing/2014/main" id="{60523737-3FB5-0549-1FE9-91E3F670B211}"/>
              </a:ext>
            </a:extLst>
          </p:cNvPr>
          <p:cNvPicPr>
            <a:picLocks noChangeAspect="1"/>
          </p:cNvPicPr>
          <p:nvPr/>
        </p:nvPicPr>
        <p:blipFill>
          <a:blip r:embed="rId3"/>
          <a:stretch>
            <a:fillRect/>
          </a:stretch>
        </p:blipFill>
        <p:spPr>
          <a:xfrm>
            <a:off x="9660391" y="57715"/>
            <a:ext cx="2408042" cy="1781951"/>
          </a:xfrm>
          <a:prstGeom prst="rect">
            <a:avLst/>
          </a:prstGeom>
        </p:spPr>
      </p:pic>
    </p:spTree>
    <p:extLst>
      <p:ext uri="{BB962C8B-B14F-4D97-AF65-F5344CB8AC3E}">
        <p14:creationId xmlns:p14="http://schemas.microsoft.com/office/powerpoint/2010/main" val="62713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D321F-01CE-2FD5-AFEC-500E0AB1193D}"/>
              </a:ext>
            </a:extLst>
          </p:cNvPr>
          <p:cNvSpPr>
            <a:spLocks noGrp="1"/>
          </p:cNvSpPr>
          <p:nvPr>
            <p:ph type="title"/>
          </p:nvPr>
        </p:nvSpPr>
        <p:spPr/>
        <p:txBody>
          <a:bodyPr/>
          <a:lstStyle/>
          <a:p>
            <a:r>
              <a:rPr lang="en-US" dirty="0"/>
              <a:t>URLs</a:t>
            </a:r>
          </a:p>
        </p:txBody>
      </p:sp>
      <p:sp>
        <p:nvSpPr>
          <p:cNvPr id="3" name="Content Placeholder 2">
            <a:extLst>
              <a:ext uri="{FF2B5EF4-FFF2-40B4-BE49-F238E27FC236}">
                <a16:creationId xmlns:a16="http://schemas.microsoft.com/office/drawing/2014/main" id="{921A5F3B-16C3-6F28-5372-BBC0BB79FEA1}"/>
              </a:ext>
            </a:extLst>
          </p:cNvPr>
          <p:cNvSpPr>
            <a:spLocks noGrp="1"/>
          </p:cNvSpPr>
          <p:nvPr>
            <p:ph idx="1"/>
          </p:nvPr>
        </p:nvSpPr>
        <p:spPr/>
        <p:txBody>
          <a:bodyPr/>
          <a:lstStyle/>
          <a:p>
            <a:pPr>
              <a:buFont typeface="Arial" panose="020B0604020202020204" pitchFamily="34" charset="0"/>
              <a:buChar char="•"/>
            </a:pPr>
            <a:r>
              <a:rPr lang="en-US" dirty="0"/>
              <a:t>Django also provides a way to navigate around the different pages in a website.</a:t>
            </a:r>
          </a:p>
          <a:p>
            <a:pPr>
              <a:buFont typeface="Arial" panose="020B0604020202020204" pitchFamily="34" charset="0"/>
              <a:buChar char="•"/>
            </a:pPr>
            <a:r>
              <a:rPr lang="en-US" dirty="0"/>
              <a:t>When a user requests a URL, Django decides which view it will send it to.</a:t>
            </a:r>
          </a:p>
          <a:p>
            <a:pPr>
              <a:buFont typeface="Arial" panose="020B0604020202020204" pitchFamily="34" charset="0"/>
              <a:buChar char="•"/>
            </a:pPr>
            <a:r>
              <a:rPr lang="en-US" dirty="0"/>
              <a:t>This is done in a file called </a:t>
            </a:r>
            <a:r>
              <a:rPr lang="en-US" b="1" dirty="0" err="1"/>
              <a:t>urls.py</a:t>
            </a:r>
            <a:endParaRPr lang="en-US" b="1" dirty="0"/>
          </a:p>
          <a:p>
            <a:endParaRPr lang="en-US" dirty="0"/>
          </a:p>
        </p:txBody>
      </p:sp>
      <p:pic>
        <p:nvPicPr>
          <p:cNvPr id="4" name="Picture 3" descr="A diagram of a software development&#10;&#10;Description automatically generated">
            <a:extLst>
              <a:ext uri="{FF2B5EF4-FFF2-40B4-BE49-F238E27FC236}">
                <a16:creationId xmlns:a16="http://schemas.microsoft.com/office/drawing/2014/main" id="{A733351F-A94F-475E-7203-2D44536A1535}"/>
              </a:ext>
            </a:extLst>
          </p:cNvPr>
          <p:cNvPicPr>
            <a:picLocks noChangeAspect="1"/>
          </p:cNvPicPr>
          <p:nvPr/>
        </p:nvPicPr>
        <p:blipFill>
          <a:blip r:embed="rId2"/>
          <a:stretch>
            <a:fillRect/>
          </a:stretch>
        </p:blipFill>
        <p:spPr>
          <a:xfrm>
            <a:off x="9660391" y="57715"/>
            <a:ext cx="2408042" cy="1781951"/>
          </a:xfrm>
          <a:prstGeom prst="rect">
            <a:avLst/>
          </a:prstGeom>
        </p:spPr>
      </p:pic>
    </p:spTree>
    <p:extLst>
      <p:ext uri="{BB962C8B-B14F-4D97-AF65-F5344CB8AC3E}">
        <p14:creationId xmlns:p14="http://schemas.microsoft.com/office/powerpoint/2010/main" val="3738763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15609-1807-CA08-C141-B437C00877F3}"/>
              </a:ext>
            </a:extLst>
          </p:cNvPr>
          <p:cNvSpPr>
            <a:spLocks noGrp="1"/>
          </p:cNvSpPr>
          <p:nvPr>
            <p:ph type="title"/>
          </p:nvPr>
        </p:nvSpPr>
        <p:spPr/>
        <p:txBody>
          <a:bodyPr/>
          <a:lstStyle/>
          <a:p>
            <a:r>
              <a:rPr lang="en-US" dirty="0"/>
              <a:t>So, What is Going On?</a:t>
            </a:r>
          </a:p>
        </p:txBody>
      </p:sp>
      <p:sp>
        <p:nvSpPr>
          <p:cNvPr id="3" name="Content Placeholder 2">
            <a:extLst>
              <a:ext uri="{FF2B5EF4-FFF2-40B4-BE49-F238E27FC236}">
                <a16:creationId xmlns:a16="http://schemas.microsoft.com/office/drawing/2014/main" id="{14D27B81-8194-B69A-3B76-A49C306B5AA2}"/>
              </a:ext>
            </a:extLst>
          </p:cNvPr>
          <p:cNvSpPr>
            <a:spLocks noGrp="1"/>
          </p:cNvSpPr>
          <p:nvPr>
            <p:ph idx="1"/>
          </p:nvPr>
        </p:nvSpPr>
        <p:spPr>
          <a:xfrm>
            <a:off x="1097280" y="2108201"/>
            <a:ext cx="10058400" cy="4060951"/>
          </a:xfrm>
        </p:spPr>
        <p:txBody>
          <a:bodyPr>
            <a:normAutofit/>
          </a:bodyPr>
          <a:lstStyle/>
          <a:p>
            <a:pPr algn="just"/>
            <a:r>
              <a:rPr lang="en-US" dirty="0"/>
              <a:t>When you have installed Django and created your first Django web application, and the browser requests the URL, this is basically what happens:</a:t>
            </a:r>
          </a:p>
          <a:p>
            <a:pPr lvl="1" algn="just">
              <a:buFont typeface="Arial" panose="020B0604020202020204" pitchFamily="34" charset="0"/>
              <a:buChar char="•"/>
            </a:pPr>
            <a:r>
              <a:rPr lang="en-US" dirty="0"/>
              <a:t>Django receives the URL, checks the </a:t>
            </a:r>
            <a:r>
              <a:rPr lang="en-US" dirty="0" err="1"/>
              <a:t>urls.py</a:t>
            </a:r>
            <a:r>
              <a:rPr lang="en-US" dirty="0"/>
              <a:t> file, and calls the view that matches the URL.</a:t>
            </a:r>
          </a:p>
          <a:p>
            <a:pPr lvl="1" algn="just">
              <a:buFont typeface="Arial" panose="020B0604020202020204" pitchFamily="34" charset="0"/>
              <a:buChar char="•"/>
            </a:pPr>
            <a:r>
              <a:rPr lang="en-US" dirty="0"/>
              <a:t>The view, located in </a:t>
            </a:r>
            <a:r>
              <a:rPr lang="en-US" dirty="0" err="1"/>
              <a:t>views.py</a:t>
            </a:r>
            <a:r>
              <a:rPr lang="en-US" dirty="0"/>
              <a:t>, checks for relevant models.</a:t>
            </a:r>
          </a:p>
          <a:p>
            <a:pPr lvl="1" algn="just">
              <a:buFont typeface="Arial" panose="020B0604020202020204" pitchFamily="34" charset="0"/>
              <a:buChar char="•"/>
            </a:pPr>
            <a:r>
              <a:rPr lang="en-US" dirty="0"/>
              <a:t>The models are imported from the </a:t>
            </a:r>
            <a:r>
              <a:rPr lang="en-US" dirty="0" err="1"/>
              <a:t>models.py</a:t>
            </a:r>
            <a:r>
              <a:rPr lang="en-US" dirty="0"/>
              <a:t> file.</a:t>
            </a:r>
          </a:p>
          <a:p>
            <a:pPr lvl="1" algn="just">
              <a:buFont typeface="Arial" panose="020B0604020202020204" pitchFamily="34" charset="0"/>
              <a:buChar char="•"/>
            </a:pPr>
            <a:r>
              <a:rPr lang="en-US" dirty="0"/>
              <a:t>The view then sends the data to a specified template in the template folder.</a:t>
            </a:r>
          </a:p>
          <a:p>
            <a:pPr lvl="1" algn="just">
              <a:buFont typeface="Arial" panose="020B0604020202020204" pitchFamily="34" charset="0"/>
              <a:buChar char="•"/>
            </a:pPr>
            <a:r>
              <a:rPr lang="en-US" dirty="0"/>
              <a:t>The template contains HTML and Django tags, and with the data it returns finished HTML content back to the browser.</a:t>
            </a:r>
          </a:p>
        </p:txBody>
      </p:sp>
      <p:pic>
        <p:nvPicPr>
          <p:cNvPr id="4" name="Picture 3" descr="A diagram of a software development&#10;&#10;Description automatically generated">
            <a:extLst>
              <a:ext uri="{FF2B5EF4-FFF2-40B4-BE49-F238E27FC236}">
                <a16:creationId xmlns:a16="http://schemas.microsoft.com/office/drawing/2014/main" id="{6AD507CE-98B6-B0BC-62C2-621AAEA1DBA8}"/>
              </a:ext>
            </a:extLst>
          </p:cNvPr>
          <p:cNvPicPr>
            <a:picLocks noChangeAspect="1"/>
          </p:cNvPicPr>
          <p:nvPr/>
        </p:nvPicPr>
        <p:blipFill>
          <a:blip r:embed="rId2"/>
          <a:stretch>
            <a:fillRect/>
          </a:stretch>
        </p:blipFill>
        <p:spPr>
          <a:xfrm>
            <a:off x="9660391" y="57715"/>
            <a:ext cx="2408042" cy="1781951"/>
          </a:xfrm>
          <a:prstGeom prst="rect">
            <a:avLst/>
          </a:prstGeom>
        </p:spPr>
      </p:pic>
    </p:spTree>
    <p:extLst>
      <p:ext uri="{BB962C8B-B14F-4D97-AF65-F5344CB8AC3E}">
        <p14:creationId xmlns:p14="http://schemas.microsoft.com/office/powerpoint/2010/main" val="74863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45A36-9102-F12B-B740-786290FFB2BD}"/>
              </a:ext>
            </a:extLst>
          </p:cNvPr>
          <p:cNvSpPr>
            <a:spLocks noGrp="1"/>
          </p:cNvSpPr>
          <p:nvPr>
            <p:ph type="title"/>
          </p:nvPr>
        </p:nvSpPr>
        <p:spPr/>
        <p:txBody>
          <a:bodyPr/>
          <a:lstStyle/>
          <a:p>
            <a:r>
              <a:rPr lang="en-US" dirty="0"/>
              <a:t>Django Getting Started</a:t>
            </a:r>
          </a:p>
        </p:txBody>
      </p:sp>
      <p:sp>
        <p:nvSpPr>
          <p:cNvPr id="3" name="Content Placeholder 2">
            <a:extLst>
              <a:ext uri="{FF2B5EF4-FFF2-40B4-BE49-F238E27FC236}">
                <a16:creationId xmlns:a16="http://schemas.microsoft.com/office/drawing/2014/main" id="{D32E47E5-13B4-53BE-B281-830D32B7B704}"/>
              </a:ext>
            </a:extLst>
          </p:cNvPr>
          <p:cNvSpPr>
            <a:spLocks noGrp="1"/>
          </p:cNvSpPr>
          <p:nvPr>
            <p:ph idx="1"/>
          </p:nvPr>
        </p:nvSpPr>
        <p:spPr/>
        <p:txBody>
          <a:bodyPr>
            <a:normAutofit fontScale="85000" lnSpcReduction="10000"/>
          </a:bodyPr>
          <a:lstStyle/>
          <a:p>
            <a:pPr>
              <a:buFont typeface="Arial" panose="020B0604020202020204" pitchFamily="34" charset="0"/>
              <a:buChar char="•"/>
            </a:pPr>
            <a:r>
              <a:rPr lang="en-US" sz="1400" dirty="0"/>
              <a:t>To install Django, you must have Python installed, and a package manager like </a:t>
            </a:r>
            <a:r>
              <a:rPr lang="en-US" sz="1400" b="1" dirty="0"/>
              <a:t>PIP</a:t>
            </a:r>
            <a:r>
              <a:rPr lang="en-US" sz="1400" dirty="0"/>
              <a:t>.</a:t>
            </a:r>
          </a:p>
          <a:p>
            <a:pPr>
              <a:buFont typeface="Arial" panose="020B0604020202020204" pitchFamily="34" charset="0"/>
              <a:buChar char="•"/>
            </a:pPr>
            <a:r>
              <a:rPr lang="en-US" sz="1400" dirty="0"/>
              <a:t>PIP is included in Python from version 3.4.</a:t>
            </a:r>
          </a:p>
          <a:p>
            <a:pPr>
              <a:buFont typeface="Arial" panose="020B0604020202020204" pitchFamily="34" charset="0"/>
              <a:buChar char="•"/>
            </a:pPr>
            <a:r>
              <a:rPr lang="en-US" sz="1400" b="1" dirty="0"/>
              <a:t>Django Requires Python</a:t>
            </a:r>
          </a:p>
          <a:p>
            <a:pPr lvl="1">
              <a:buFont typeface="Arial" panose="020B0604020202020204" pitchFamily="34" charset="0"/>
              <a:buChar char="•"/>
            </a:pPr>
            <a:r>
              <a:rPr lang="en-US" sz="1200" dirty="0"/>
              <a:t>To check if your system has Python installed, run this command in the command prompt: </a:t>
            </a:r>
            <a:r>
              <a:rPr lang="en-US" sz="1200" b="1" dirty="0"/>
              <a:t>python --version</a:t>
            </a:r>
          </a:p>
          <a:p>
            <a:pPr lvl="1">
              <a:buFont typeface="Arial" panose="020B0604020202020204" pitchFamily="34" charset="0"/>
              <a:buChar char="•"/>
            </a:pPr>
            <a:r>
              <a:rPr lang="en-US" sz="1200" dirty="0"/>
              <a:t>If Python is installed, you will get a result with the version number, like this: </a:t>
            </a:r>
            <a:r>
              <a:rPr lang="en-US" sz="1200" b="1" dirty="0"/>
              <a:t>Python 3.11.4</a:t>
            </a:r>
          </a:p>
          <a:p>
            <a:pPr lvl="1">
              <a:buFont typeface="Arial" panose="020B0604020202020204" pitchFamily="34" charset="0"/>
              <a:buChar char="•"/>
            </a:pPr>
            <a:r>
              <a:rPr lang="en-US" sz="1200" dirty="0"/>
              <a:t>If you find that you do not have Python installed on your computer, then you can download it for free from the following website: </a:t>
            </a:r>
            <a:r>
              <a:rPr lang="en-US" sz="1200" b="1" dirty="0"/>
              <a:t>https://</a:t>
            </a:r>
            <a:r>
              <a:rPr lang="en-US" sz="1200" b="1" dirty="0" err="1"/>
              <a:t>www.python.org</a:t>
            </a:r>
            <a:r>
              <a:rPr lang="en-US" sz="1200" b="1" dirty="0"/>
              <a:t>/</a:t>
            </a:r>
          </a:p>
          <a:p>
            <a:pPr>
              <a:buFont typeface="Arial" panose="020B0604020202020204" pitchFamily="34" charset="0"/>
              <a:buChar char="•"/>
            </a:pPr>
            <a:r>
              <a:rPr lang="en-IN" sz="1400" b="1" i="0" dirty="0">
                <a:solidFill>
                  <a:srgbClr val="000000"/>
                </a:solidFill>
                <a:effectLst/>
              </a:rPr>
              <a:t>PIP</a:t>
            </a:r>
          </a:p>
          <a:p>
            <a:pPr lvl="1">
              <a:buFont typeface="Arial" panose="020B0604020202020204" pitchFamily="34" charset="0"/>
              <a:buChar char="•"/>
            </a:pPr>
            <a:r>
              <a:rPr lang="en-US" sz="1200" dirty="0"/>
              <a:t>To install Django, you must use a package manager like PIP, which is included in Python from version 3.4.</a:t>
            </a:r>
          </a:p>
          <a:p>
            <a:pPr lvl="1">
              <a:buFont typeface="Arial" panose="020B0604020202020204" pitchFamily="34" charset="0"/>
              <a:buChar char="•"/>
            </a:pPr>
            <a:r>
              <a:rPr lang="en-US" sz="1200" dirty="0"/>
              <a:t>To check if your system has PIP installed, run this command in the command prompt: </a:t>
            </a:r>
            <a:r>
              <a:rPr lang="en-US" sz="1200" b="1" dirty="0"/>
              <a:t>pip --version</a:t>
            </a:r>
          </a:p>
          <a:p>
            <a:pPr lvl="1">
              <a:buFont typeface="Arial" panose="020B0604020202020204" pitchFamily="34" charset="0"/>
              <a:buChar char="•"/>
            </a:pPr>
            <a:r>
              <a:rPr lang="en-US" sz="1200" dirty="0"/>
              <a:t>If PIP is installed, you will get a result with the version number, for me on Mac this is like: </a:t>
            </a:r>
            <a:r>
              <a:rPr lang="en-US" sz="1200" b="1" dirty="0"/>
              <a:t>pip 23.2.1 from /Users/</a:t>
            </a:r>
            <a:r>
              <a:rPr lang="en-US" sz="1200" b="1" dirty="0" err="1"/>
              <a:t>rashmig</a:t>
            </a:r>
            <a:r>
              <a:rPr lang="en-US" sz="1200" b="1" dirty="0"/>
              <a:t>/anaconda3/lib/python3.11/site-packages/pip (python 3.11)</a:t>
            </a:r>
          </a:p>
          <a:p>
            <a:pPr lvl="1">
              <a:buFont typeface="Arial" panose="020B0604020202020204" pitchFamily="34" charset="0"/>
              <a:buChar char="•"/>
            </a:pPr>
            <a:r>
              <a:rPr lang="en-US" sz="1200" dirty="0"/>
              <a:t> If you do not have PIP installed, you can download and install it from this page: </a:t>
            </a:r>
            <a:r>
              <a:rPr lang="en-US" sz="1200" b="1" dirty="0"/>
              <a:t>https://</a:t>
            </a:r>
            <a:r>
              <a:rPr lang="en-US" sz="1200" b="1" dirty="0" err="1"/>
              <a:t>pypi.org</a:t>
            </a:r>
            <a:r>
              <a:rPr lang="en-US" sz="1200" b="1" dirty="0"/>
              <a:t>/project/pip/</a:t>
            </a:r>
            <a:endParaRPr lang="en-US" sz="1200" dirty="0"/>
          </a:p>
          <a:p>
            <a:pPr>
              <a:buFont typeface="Arial" panose="020B0604020202020204" pitchFamily="34" charset="0"/>
              <a:buChar char="•"/>
            </a:pPr>
            <a:r>
              <a:rPr lang="en-US" sz="1400" b="1" dirty="0"/>
              <a:t>Virtual Environment</a:t>
            </a:r>
          </a:p>
          <a:p>
            <a:pPr lvl="1">
              <a:buFont typeface="Arial" panose="020B0604020202020204" pitchFamily="34" charset="0"/>
              <a:buChar char="•"/>
            </a:pPr>
            <a:r>
              <a:rPr lang="en-US" sz="1200" dirty="0"/>
              <a:t>It is suggested to have a dedicated virtual environment for each Django project, and in the next slides, you will learn how to create a virtual environment, and then install Django in it.</a:t>
            </a:r>
            <a:br>
              <a:rPr lang="en-US" sz="1200" dirty="0"/>
            </a:br>
            <a:endParaRPr lang="en-US" sz="1200" dirty="0"/>
          </a:p>
          <a:p>
            <a:pPr lvl="1">
              <a:buFont typeface="Arial" panose="020B0604020202020204" pitchFamily="34" charset="0"/>
              <a:buChar char="•"/>
            </a:pPr>
            <a:endParaRPr lang="en-US" sz="1200" dirty="0"/>
          </a:p>
          <a:p>
            <a:pPr>
              <a:buFont typeface="Arial" panose="020B0604020202020204" pitchFamily="34" charset="0"/>
              <a:buChar char="•"/>
            </a:pPr>
            <a:endParaRPr lang="en-US" sz="1400" dirty="0"/>
          </a:p>
        </p:txBody>
      </p:sp>
    </p:spTree>
    <p:extLst>
      <p:ext uri="{BB962C8B-B14F-4D97-AF65-F5344CB8AC3E}">
        <p14:creationId xmlns:p14="http://schemas.microsoft.com/office/powerpoint/2010/main" val="3373215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6EA37-D817-181C-DC1F-CA45BD19E492}"/>
              </a:ext>
            </a:extLst>
          </p:cNvPr>
          <p:cNvSpPr>
            <a:spLocks noGrp="1"/>
          </p:cNvSpPr>
          <p:nvPr>
            <p:ph type="title"/>
          </p:nvPr>
        </p:nvSpPr>
        <p:spPr/>
        <p:txBody>
          <a:bodyPr>
            <a:normAutofit/>
          </a:bodyPr>
          <a:lstStyle/>
          <a:p>
            <a:r>
              <a:rPr lang="en-US" dirty="0"/>
              <a:t>Django - Create Virtual Environment</a:t>
            </a:r>
          </a:p>
        </p:txBody>
      </p:sp>
      <p:sp>
        <p:nvSpPr>
          <p:cNvPr id="3" name="Content Placeholder 2">
            <a:extLst>
              <a:ext uri="{FF2B5EF4-FFF2-40B4-BE49-F238E27FC236}">
                <a16:creationId xmlns:a16="http://schemas.microsoft.com/office/drawing/2014/main" id="{E4DB4CEA-2072-0000-B7F1-DC00DBF103E6}"/>
              </a:ext>
            </a:extLst>
          </p:cNvPr>
          <p:cNvSpPr>
            <a:spLocks noGrp="1"/>
          </p:cNvSpPr>
          <p:nvPr>
            <p:ph idx="1"/>
          </p:nvPr>
        </p:nvSpPr>
        <p:spPr>
          <a:xfrm>
            <a:off x="1097280" y="2108201"/>
            <a:ext cx="10058400" cy="4219671"/>
          </a:xfrm>
        </p:spPr>
        <p:txBody>
          <a:bodyPr>
            <a:normAutofit fontScale="77500" lnSpcReduction="20000"/>
          </a:bodyPr>
          <a:lstStyle/>
          <a:p>
            <a:pPr algn="just">
              <a:buFont typeface="Arial" panose="020B0604020202020204" pitchFamily="34" charset="0"/>
              <a:buChar char="•"/>
            </a:pPr>
            <a:r>
              <a:rPr lang="en-US" sz="1400" dirty="0"/>
              <a:t>It is suggested to have a dedicated virtual environment for each Django project, and one way to manage a virtual environment is </a:t>
            </a:r>
            <a:r>
              <a:rPr lang="en-US" sz="1400" b="1" dirty="0" err="1"/>
              <a:t>venv</a:t>
            </a:r>
            <a:r>
              <a:rPr lang="en-US" sz="1400" dirty="0"/>
              <a:t>, which is included in Python.</a:t>
            </a:r>
          </a:p>
          <a:p>
            <a:pPr algn="just">
              <a:buFont typeface="Arial" panose="020B0604020202020204" pitchFamily="34" charset="0"/>
              <a:buChar char="•"/>
            </a:pPr>
            <a:r>
              <a:rPr lang="en-US" sz="1400" dirty="0"/>
              <a:t>The name of the virtual environment is your choice, here we will call it </a:t>
            </a:r>
            <a:r>
              <a:rPr lang="en-US" sz="1400" b="1" dirty="0" err="1"/>
              <a:t>Djtest</a:t>
            </a:r>
            <a:r>
              <a:rPr lang="en-US" sz="1400" dirty="0"/>
              <a:t>.</a:t>
            </a:r>
          </a:p>
          <a:p>
            <a:pPr algn="just">
              <a:buFont typeface="Arial" panose="020B0604020202020204" pitchFamily="34" charset="0"/>
              <a:buChar char="•"/>
            </a:pPr>
            <a:r>
              <a:rPr lang="en-US" sz="1400" dirty="0"/>
              <a:t>Type the following in the command prompt, remember to navigate to where you want to create your project:</a:t>
            </a:r>
          </a:p>
          <a:p>
            <a:pPr lvl="1" algn="just">
              <a:buFont typeface="Arial" panose="020B0604020202020204" pitchFamily="34" charset="0"/>
              <a:buChar char="•"/>
            </a:pPr>
            <a:r>
              <a:rPr lang="en-US" sz="1200" b="1" dirty="0"/>
              <a:t>Windows:</a:t>
            </a:r>
            <a:r>
              <a:rPr lang="en-US" sz="1200" dirty="0"/>
              <a:t> </a:t>
            </a:r>
            <a:r>
              <a:rPr lang="en-US" sz="1200" dirty="0" err="1"/>
              <a:t>py</a:t>
            </a:r>
            <a:r>
              <a:rPr lang="en-US" sz="1200" dirty="0"/>
              <a:t> -m </a:t>
            </a:r>
            <a:r>
              <a:rPr lang="en-US" sz="1200" dirty="0" err="1"/>
              <a:t>venv</a:t>
            </a:r>
            <a:r>
              <a:rPr lang="en-US" sz="1200" dirty="0"/>
              <a:t> </a:t>
            </a:r>
            <a:r>
              <a:rPr lang="en-US" sz="1200" dirty="0" err="1"/>
              <a:t>Djtest</a:t>
            </a:r>
            <a:endParaRPr lang="en-US" sz="1200" dirty="0"/>
          </a:p>
          <a:p>
            <a:pPr lvl="1" algn="just">
              <a:buFont typeface="Arial" panose="020B0604020202020204" pitchFamily="34" charset="0"/>
              <a:buChar char="•"/>
            </a:pPr>
            <a:r>
              <a:rPr lang="en-US" sz="1200" b="1" dirty="0"/>
              <a:t>Unix/MacOS:</a:t>
            </a:r>
            <a:r>
              <a:rPr lang="en-US" sz="1200" dirty="0"/>
              <a:t> python -m </a:t>
            </a:r>
            <a:r>
              <a:rPr lang="en-US" sz="1200" dirty="0" err="1"/>
              <a:t>venv</a:t>
            </a:r>
            <a:r>
              <a:rPr lang="en-US" sz="1200" dirty="0"/>
              <a:t> </a:t>
            </a:r>
            <a:r>
              <a:rPr lang="en-US" sz="1200" dirty="0" err="1"/>
              <a:t>Djtest</a:t>
            </a:r>
            <a:endParaRPr lang="en-US" sz="1200" dirty="0"/>
          </a:p>
          <a:p>
            <a:pPr algn="just">
              <a:buFont typeface="Arial" panose="020B0604020202020204" pitchFamily="34" charset="0"/>
              <a:buChar char="•"/>
            </a:pPr>
            <a:r>
              <a:rPr lang="en-US" sz="1400" dirty="0"/>
              <a:t>This will set up a virtual environment, and </a:t>
            </a:r>
            <a:r>
              <a:rPr lang="en-US" sz="1400" b="1" dirty="0"/>
              <a:t>create a folder named ”</a:t>
            </a:r>
            <a:r>
              <a:rPr lang="en-US" sz="1400" b="1" dirty="0" err="1"/>
              <a:t>Djtest</a:t>
            </a:r>
            <a:r>
              <a:rPr lang="en-US" sz="1400" b="1" dirty="0"/>
              <a:t>" with subfolders and files</a:t>
            </a:r>
            <a:r>
              <a:rPr lang="en-US" sz="1400" dirty="0"/>
              <a:t>, like this:</a:t>
            </a:r>
          </a:p>
          <a:p>
            <a:pPr algn="just">
              <a:buFont typeface="Arial" panose="020B0604020202020204" pitchFamily="34" charset="0"/>
              <a:buChar char="•"/>
            </a:pPr>
            <a:endParaRPr lang="en-US" sz="1400" dirty="0"/>
          </a:p>
          <a:p>
            <a:pPr algn="just">
              <a:buFont typeface="Arial" panose="020B0604020202020204" pitchFamily="34" charset="0"/>
              <a:buChar char="•"/>
            </a:pPr>
            <a:endParaRPr lang="en-US" sz="1400" dirty="0"/>
          </a:p>
          <a:p>
            <a:pPr algn="just">
              <a:buFont typeface="Arial" panose="020B0604020202020204" pitchFamily="34" charset="0"/>
              <a:buChar char="•"/>
            </a:pPr>
            <a:r>
              <a:rPr lang="en-US" sz="1400" dirty="0"/>
              <a:t>Then you have to </a:t>
            </a:r>
            <a:r>
              <a:rPr lang="en-US" sz="1400" b="1" dirty="0"/>
              <a:t>activate the environment</a:t>
            </a:r>
            <a:r>
              <a:rPr lang="en-US" sz="1400" dirty="0"/>
              <a:t>, by typing this command:</a:t>
            </a:r>
          </a:p>
          <a:p>
            <a:pPr lvl="1" algn="just">
              <a:buFont typeface="Arial" panose="020B0604020202020204" pitchFamily="34" charset="0"/>
              <a:buChar char="•"/>
            </a:pPr>
            <a:r>
              <a:rPr lang="en-US" sz="1200" b="1" dirty="0"/>
              <a:t>Windows: </a:t>
            </a:r>
            <a:r>
              <a:rPr lang="en-US" sz="1200" dirty="0" err="1"/>
              <a:t>Djtest</a:t>
            </a:r>
            <a:r>
              <a:rPr lang="en-US" sz="1200" dirty="0"/>
              <a:t>\Scripts\</a:t>
            </a:r>
            <a:r>
              <a:rPr lang="en-US" sz="1200" dirty="0" err="1"/>
              <a:t>activate.bat</a:t>
            </a:r>
            <a:endParaRPr lang="en-US" sz="1200" dirty="0"/>
          </a:p>
          <a:p>
            <a:pPr lvl="1" algn="just">
              <a:buFont typeface="Arial" panose="020B0604020202020204" pitchFamily="34" charset="0"/>
              <a:buChar char="•"/>
            </a:pPr>
            <a:r>
              <a:rPr lang="en-US" sz="1200" b="1" dirty="0"/>
              <a:t>Unix/MacOS: </a:t>
            </a:r>
            <a:r>
              <a:rPr lang="en-US" sz="1200" dirty="0"/>
              <a:t>source </a:t>
            </a:r>
            <a:r>
              <a:rPr lang="en-US" sz="1200" dirty="0" err="1"/>
              <a:t>Djtest</a:t>
            </a:r>
            <a:r>
              <a:rPr lang="en-US" sz="1200" dirty="0"/>
              <a:t>/bin/activate</a:t>
            </a:r>
          </a:p>
          <a:p>
            <a:pPr algn="just">
              <a:buFont typeface="Arial" panose="020B0604020202020204" pitchFamily="34" charset="0"/>
              <a:buChar char="•"/>
            </a:pPr>
            <a:r>
              <a:rPr lang="en-US" sz="1400" dirty="0"/>
              <a:t>Once the environment is activated, you will see this result in the command prompt:</a:t>
            </a:r>
          </a:p>
          <a:p>
            <a:pPr lvl="1" algn="just">
              <a:buFont typeface="Arial" panose="020B0604020202020204" pitchFamily="34" charset="0"/>
              <a:buChar char="•"/>
            </a:pPr>
            <a:r>
              <a:rPr lang="en-US" sz="1200" b="1" dirty="0"/>
              <a:t>Windows: </a:t>
            </a:r>
            <a:r>
              <a:rPr lang="en-US" sz="1200" dirty="0"/>
              <a:t>(</a:t>
            </a:r>
            <a:r>
              <a:rPr lang="en-US" sz="1200" dirty="0" err="1"/>
              <a:t>Djtest</a:t>
            </a:r>
            <a:r>
              <a:rPr lang="en-US" sz="1200" dirty="0"/>
              <a:t>) C:\Users\Your Name&gt;</a:t>
            </a:r>
          </a:p>
          <a:p>
            <a:pPr lvl="1" algn="just">
              <a:buFont typeface="Arial" panose="020B0604020202020204" pitchFamily="34" charset="0"/>
              <a:buChar char="•"/>
            </a:pPr>
            <a:r>
              <a:rPr lang="en-US" sz="1200" b="1" dirty="0"/>
              <a:t>Unix/MacOS: </a:t>
            </a:r>
            <a:r>
              <a:rPr lang="en-US" sz="1200" dirty="0"/>
              <a:t>(</a:t>
            </a:r>
            <a:r>
              <a:rPr lang="en-US" sz="1200" dirty="0" err="1"/>
              <a:t>Djtest</a:t>
            </a:r>
            <a:r>
              <a:rPr lang="en-US" sz="1200" dirty="0"/>
              <a:t>) ... $</a:t>
            </a:r>
          </a:p>
          <a:p>
            <a:pPr algn="just">
              <a:buFont typeface="Arial" panose="020B0604020202020204" pitchFamily="34" charset="0"/>
              <a:buChar char="•"/>
            </a:pPr>
            <a:r>
              <a:rPr lang="en-IN" sz="1100" b="1" i="0" dirty="0">
                <a:solidFill>
                  <a:srgbClr val="000000"/>
                </a:solidFill>
                <a:effectLst/>
                <a:latin typeface="Verdana" panose="020B0604030504040204" pitchFamily="34" charset="0"/>
              </a:rPr>
              <a:t>Note:</a:t>
            </a:r>
            <a:r>
              <a:rPr lang="en-IN" sz="1100" b="0" i="0" dirty="0">
                <a:solidFill>
                  <a:srgbClr val="000000"/>
                </a:solidFill>
                <a:effectLst/>
                <a:latin typeface="Verdana" panose="020B0604030504040204" pitchFamily="34" charset="0"/>
              </a:rPr>
              <a:t> You must activate the virtual environment every time you open the command prompt to work on your project.</a:t>
            </a:r>
            <a:endParaRPr lang="en-US" sz="1400" dirty="0"/>
          </a:p>
          <a:p>
            <a:pPr algn="just">
              <a:buFont typeface="Arial" panose="020B0604020202020204" pitchFamily="34" charset="0"/>
              <a:buChar char="•"/>
            </a:pPr>
            <a:endParaRPr lang="en-US" sz="1400" dirty="0"/>
          </a:p>
          <a:p>
            <a:pPr lvl="1" algn="just">
              <a:buFont typeface="Arial" panose="020B0604020202020204" pitchFamily="34" charset="0"/>
              <a:buChar char="•"/>
            </a:pPr>
            <a:endParaRPr lang="en-US" sz="1200" dirty="0"/>
          </a:p>
          <a:p>
            <a:endParaRPr lang="en-US" dirty="0"/>
          </a:p>
        </p:txBody>
      </p:sp>
      <p:pic>
        <p:nvPicPr>
          <p:cNvPr id="7" name="Picture 6">
            <a:extLst>
              <a:ext uri="{FF2B5EF4-FFF2-40B4-BE49-F238E27FC236}">
                <a16:creationId xmlns:a16="http://schemas.microsoft.com/office/drawing/2014/main" id="{9D07EDBB-7C8B-0FB8-95BE-9D200FCEA94D}"/>
              </a:ext>
            </a:extLst>
          </p:cNvPr>
          <p:cNvPicPr>
            <a:picLocks noChangeAspect="1"/>
          </p:cNvPicPr>
          <p:nvPr/>
        </p:nvPicPr>
        <p:blipFill>
          <a:blip r:embed="rId2"/>
          <a:stretch>
            <a:fillRect/>
          </a:stretch>
        </p:blipFill>
        <p:spPr>
          <a:xfrm>
            <a:off x="1152896" y="3964387"/>
            <a:ext cx="5308600" cy="342900"/>
          </a:xfrm>
          <a:prstGeom prst="rect">
            <a:avLst/>
          </a:prstGeom>
        </p:spPr>
      </p:pic>
    </p:spTree>
    <p:extLst>
      <p:ext uri="{BB962C8B-B14F-4D97-AF65-F5344CB8AC3E}">
        <p14:creationId xmlns:p14="http://schemas.microsoft.com/office/powerpoint/2010/main" val="1008984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2CCD4-5E59-BF14-443B-08F88EA4FAA0}"/>
              </a:ext>
            </a:extLst>
          </p:cNvPr>
          <p:cNvSpPr>
            <a:spLocks noGrp="1"/>
          </p:cNvSpPr>
          <p:nvPr>
            <p:ph type="title"/>
          </p:nvPr>
        </p:nvSpPr>
        <p:spPr/>
        <p:txBody>
          <a:bodyPr/>
          <a:lstStyle/>
          <a:p>
            <a:r>
              <a:rPr lang="en-US" dirty="0"/>
              <a:t>Install Django</a:t>
            </a:r>
          </a:p>
        </p:txBody>
      </p:sp>
      <p:sp>
        <p:nvSpPr>
          <p:cNvPr id="3" name="Content Placeholder 2">
            <a:extLst>
              <a:ext uri="{FF2B5EF4-FFF2-40B4-BE49-F238E27FC236}">
                <a16:creationId xmlns:a16="http://schemas.microsoft.com/office/drawing/2014/main" id="{90D123C3-4C12-A7AA-BBAA-BFE930AF6AB2}"/>
              </a:ext>
            </a:extLst>
          </p:cNvPr>
          <p:cNvSpPr>
            <a:spLocks noGrp="1"/>
          </p:cNvSpPr>
          <p:nvPr>
            <p:ph idx="1"/>
          </p:nvPr>
        </p:nvSpPr>
        <p:spPr>
          <a:xfrm>
            <a:off x="1097280" y="2108201"/>
            <a:ext cx="10058400" cy="4219671"/>
          </a:xfrm>
        </p:spPr>
        <p:txBody>
          <a:bodyPr>
            <a:normAutofit fontScale="70000" lnSpcReduction="20000"/>
          </a:bodyPr>
          <a:lstStyle/>
          <a:p>
            <a:pPr algn="just">
              <a:buFont typeface="Arial" panose="020B0604020202020204" pitchFamily="34" charset="0"/>
              <a:buChar char="•"/>
            </a:pPr>
            <a:r>
              <a:rPr lang="en-US" dirty="0"/>
              <a:t>Now, that we have created a virtual environment, we are ready to install Django.</a:t>
            </a:r>
          </a:p>
          <a:p>
            <a:pPr algn="just">
              <a:buFont typeface="Arial" panose="020B0604020202020204" pitchFamily="34" charset="0"/>
              <a:buChar char="•"/>
            </a:pPr>
            <a:r>
              <a:rPr lang="en-US" dirty="0"/>
              <a:t>Note: Remember to install Django while you are in the virtual environment!</a:t>
            </a:r>
          </a:p>
          <a:p>
            <a:pPr algn="just">
              <a:buFont typeface="Arial" panose="020B0604020202020204" pitchFamily="34" charset="0"/>
              <a:buChar char="•"/>
            </a:pPr>
            <a:r>
              <a:rPr lang="en-US" dirty="0"/>
              <a:t>Django is installed using pip, with this command:</a:t>
            </a:r>
          </a:p>
          <a:p>
            <a:pPr lvl="1" algn="just">
              <a:buFont typeface="Arial" panose="020B0604020202020204" pitchFamily="34" charset="0"/>
              <a:buChar char="•"/>
            </a:pPr>
            <a:r>
              <a:rPr lang="en-US" b="1" dirty="0"/>
              <a:t>Windows: </a:t>
            </a:r>
            <a:r>
              <a:rPr lang="en-US" dirty="0"/>
              <a:t>(</a:t>
            </a:r>
            <a:r>
              <a:rPr lang="en-US" dirty="0" err="1"/>
              <a:t>Djtest</a:t>
            </a:r>
            <a:r>
              <a:rPr lang="en-US" dirty="0"/>
              <a:t>) C:\Users\Your Name&gt;</a:t>
            </a:r>
            <a:r>
              <a:rPr lang="en-US" b="1" dirty="0" err="1"/>
              <a:t>py</a:t>
            </a:r>
            <a:r>
              <a:rPr lang="en-US" dirty="0"/>
              <a:t> -m pip install Django</a:t>
            </a:r>
          </a:p>
          <a:p>
            <a:pPr lvl="1" algn="just">
              <a:buFont typeface="Arial" panose="020B0604020202020204" pitchFamily="34" charset="0"/>
              <a:buChar char="•"/>
            </a:pPr>
            <a:r>
              <a:rPr lang="en-US" b="1" dirty="0"/>
              <a:t>Unix/MacOS: </a:t>
            </a:r>
            <a:r>
              <a:rPr lang="en-US" dirty="0"/>
              <a:t>(</a:t>
            </a:r>
            <a:r>
              <a:rPr lang="en-US" dirty="0" err="1"/>
              <a:t>Djtest</a:t>
            </a:r>
            <a:r>
              <a:rPr lang="en-US" dirty="0"/>
              <a:t>) ... $ </a:t>
            </a:r>
            <a:r>
              <a:rPr lang="en-US" b="1" dirty="0"/>
              <a:t>python</a:t>
            </a:r>
            <a:r>
              <a:rPr lang="en-US" dirty="0"/>
              <a:t> -m pip install Django</a:t>
            </a:r>
          </a:p>
          <a:p>
            <a:pPr algn="just">
              <a:buFont typeface="Arial" panose="020B0604020202020204" pitchFamily="34" charset="0"/>
              <a:buChar char="•"/>
            </a:pPr>
            <a:r>
              <a:rPr lang="en-US" dirty="0"/>
              <a:t>That's it! Now you have installed Django in your new project, running in a virtual environment!</a:t>
            </a:r>
          </a:p>
          <a:p>
            <a:pPr algn="just">
              <a:buFont typeface="Arial" panose="020B0604020202020204" pitchFamily="34" charset="0"/>
              <a:buChar char="•"/>
            </a:pPr>
            <a:r>
              <a:rPr lang="en-US" dirty="0"/>
              <a:t>You can check if Django is installed by asking for its version number like this: (</a:t>
            </a:r>
            <a:r>
              <a:rPr lang="en-US" dirty="0" err="1"/>
              <a:t>Djtest</a:t>
            </a:r>
            <a:r>
              <a:rPr lang="en-US" dirty="0"/>
              <a:t>) C:\Users\Your Name&gt;</a:t>
            </a:r>
            <a:r>
              <a:rPr lang="en-US" dirty="0" err="1"/>
              <a:t>django</a:t>
            </a:r>
            <a:r>
              <a:rPr lang="en-US" dirty="0"/>
              <a:t>-admin –version</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Now you are ready to create a Django project in a virtual environment on your computer.</a:t>
            </a:r>
          </a:p>
          <a:p>
            <a:pPr marL="0" indent="0" algn="just">
              <a:buNone/>
            </a:pPr>
            <a:br>
              <a:rPr lang="en-US" dirty="0"/>
            </a:br>
            <a:endParaRPr lang="en-US" dirty="0"/>
          </a:p>
          <a:p>
            <a:pPr algn="just">
              <a:buFont typeface="Arial" panose="020B0604020202020204" pitchFamily="34" charset="0"/>
              <a:buChar char="•"/>
            </a:pPr>
            <a:endParaRPr lang="en-US" dirty="0"/>
          </a:p>
        </p:txBody>
      </p:sp>
      <p:pic>
        <p:nvPicPr>
          <p:cNvPr id="5" name="Picture 4" descr="A screenshot of a computer program&#10;&#10;Description automatically generated">
            <a:extLst>
              <a:ext uri="{FF2B5EF4-FFF2-40B4-BE49-F238E27FC236}">
                <a16:creationId xmlns:a16="http://schemas.microsoft.com/office/drawing/2014/main" id="{72FAB759-2AC8-8E3A-C41A-317C2822114B}"/>
              </a:ext>
            </a:extLst>
          </p:cNvPr>
          <p:cNvPicPr>
            <a:picLocks noChangeAspect="1"/>
          </p:cNvPicPr>
          <p:nvPr/>
        </p:nvPicPr>
        <p:blipFill>
          <a:blip r:embed="rId2"/>
          <a:stretch>
            <a:fillRect/>
          </a:stretch>
        </p:blipFill>
        <p:spPr>
          <a:xfrm>
            <a:off x="7354261" y="2564953"/>
            <a:ext cx="4157080" cy="1245650"/>
          </a:xfrm>
          <a:prstGeom prst="rect">
            <a:avLst/>
          </a:prstGeom>
        </p:spPr>
      </p:pic>
      <p:pic>
        <p:nvPicPr>
          <p:cNvPr id="7" name="Picture 6">
            <a:extLst>
              <a:ext uri="{FF2B5EF4-FFF2-40B4-BE49-F238E27FC236}">
                <a16:creationId xmlns:a16="http://schemas.microsoft.com/office/drawing/2014/main" id="{720837D0-D835-2B46-233C-8FA61DBC8797}"/>
              </a:ext>
            </a:extLst>
          </p:cNvPr>
          <p:cNvPicPr>
            <a:picLocks noChangeAspect="1"/>
          </p:cNvPicPr>
          <p:nvPr/>
        </p:nvPicPr>
        <p:blipFill>
          <a:blip r:embed="rId3"/>
          <a:stretch>
            <a:fillRect/>
          </a:stretch>
        </p:blipFill>
        <p:spPr>
          <a:xfrm>
            <a:off x="3202854" y="4821548"/>
            <a:ext cx="6134100" cy="368300"/>
          </a:xfrm>
          <a:prstGeom prst="rect">
            <a:avLst/>
          </a:prstGeom>
        </p:spPr>
      </p:pic>
    </p:spTree>
    <p:extLst>
      <p:ext uri="{BB962C8B-B14F-4D97-AF65-F5344CB8AC3E}">
        <p14:creationId xmlns:p14="http://schemas.microsoft.com/office/powerpoint/2010/main" val="1835517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49619-50BA-B710-0351-F95935A03707}"/>
              </a:ext>
            </a:extLst>
          </p:cNvPr>
          <p:cNvSpPr>
            <a:spLocks noGrp="1"/>
          </p:cNvSpPr>
          <p:nvPr>
            <p:ph type="title"/>
          </p:nvPr>
        </p:nvSpPr>
        <p:spPr/>
        <p:txBody>
          <a:bodyPr/>
          <a:lstStyle/>
          <a:p>
            <a:r>
              <a:rPr lang="en-US" dirty="0"/>
              <a:t>My First Django Project</a:t>
            </a:r>
          </a:p>
        </p:txBody>
      </p:sp>
      <p:sp>
        <p:nvSpPr>
          <p:cNvPr id="3" name="Content Placeholder 2">
            <a:extLst>
              <a:ext uri="{FF2B5EF4-FFF2-40B4-BE49-F238E27FC236}">
                <a16:creationId xmlns:a16="http://schemas.microsoft.com/office/drawing/2014/main" id="{B1AACC19-9982-4205-D6D7-2B6A1E6A185B}"/>
              </a:ext>
            </a:extLst>
          </p:cNvPr>
          <p:cNvSpPr>
            <a:spLocks noGrp="1"/>
          </p:cNvSpPr>
          <p:nvPr>
            <p:ph idx="1"/>
          </p:nvPr>
        </p:nvSpPr>
        <p:spPr/>
        <p:txBody>
          <a:bodyPr/>
          <a:lstStyle/>
          <a:p>
            <a:pPr algn="just">
              <a:buFont typeface="Arial" panose="020B0604020202020204" pitchFamily="34" charset="0"/>
              <a:buChar char="•"/>
            </a:pPr>
            <a:r>
              <a:rPr lang="en-US" sz="1600" dirty="0"/>
              <a:t>Once you have come up with a suitable name for your Django project, like mine: </a:t>
            </a:r>
            <a:r>
              <a:rPr lang="en-US" sz="1600" b="1" dirty="0" err="1"/>
              <a:t>my_tennis_club</a:t>
            </a:r>
            <a:r>
              <a:rPr lang="en-US" sz="1600" dirty="0"/>
              <a:t>, navigate to where in the file system you want to store the code (in the virtual environment), and run this command in the command prompt: </a:t>
            </a:r>
            <a:r>
              <a:rPr lang="en-US" sz="1600" b="1" dirty="0" err="1"/>
              <a:t>django</a:t>
            </a:r>
            <a:r>
              <a:rPr lang="en-US" sz="1600" b="1" dirty="0"/>
              <a:t>-admin </a:t>
            </a:r>
            <a:r>
              <a:rPr lang="en-US" sz="1600" b="1" dirty="0" err="1"/>
              <a:t>startproject</a:t>
            </a:r>
            <a:r>
              <a:rPr lang="en-US" sz="1600" b="1" dirty="0"/>
              <a:t> </a:t>
            </a:r>
            <a:r>
              <a:rPr lang="en-US" sz="1600" b="1" dirty="0" err="1"/>
              <a:t>my_tennis_club</a:t>
            </a:r>
            <a:endParaRPr lang="en-US" sz="1600" b="1" dirty="0"/>
          </a:p>
          <a:p>
            <a:pPr algn="just">
              <a:buFont typeface="Arial" panose="020B0604020202020204" pitchFamily="34" charset="0"/>
              <a:buChar char="•"/>
            </a:pPr>
            <a:endParaRPr lang="en-US" dirty="0"/>
          </a:p>
        </p:txBody>
      </p:sp>
      <p:pic>
        <p:nvPicPr>
          <p:cNvPr id="5" name="Picture 4" descr="A screenshot of a computer&#10;&#10;Description automatically generated">
            <a:extLst>
              <a:ext uri="{FF2B5EF4-FFF2-40B4-BE49-F238E27FC236}">
                <a16:creationId xmlns:a16="http://schemas.microsoft.com/office/drawing/2014/main" id="{94A1C5F6-CEB4-EDE4-5FB3-7B8FD747913A}"/>
              </a:ext>
            </a:extLst>
          </p:cNvPr>
          <p:cNvPicPr>
            <a:picLocks noChangeAspect="1"/>
          </p:cNvPicPr>
          <p:nvPr/>
        </p:nvPicPr>
        <p:blipFill>
          <a:blip r:embed="rId2"/>
          <a:stretch>
            <a:fillRect/>
          </a:stretch>
        </p:blipFill>
        <p:spPr>
          <a:xfrm>
            <a:off x="3241866" y="3338169"/>
            <a:ext cx="4976514" cy="2470796"/>
          </a:xfrm>
          <a:prstGeom prst="rect">
            <a:avLst/>
          </a:prstGeom>
        </p:spPr>
      </p:pic>
    </p:spTree>
    <p:extLst>
      <p:ext uri="{BB962C8B-B14F-4D97-AF65-F5344CB8AC3E}">
        <p14:creationId xmlns:p14="http://schemas.microsoft.com/office/powerpoint/2010/main" val="2044092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CA728-A45E-4846-7402-BD7840EF51B0}"/>
              </a:ext>
            </a:extLst>
          </p:cNvPr>
          <p:cNvSpPr>
            <a:spLocks noGrp="1"/>
          </p:cNvSpPr>
          <p:nvPr>
            <p:ph type="title"/>
          </p:nvPr>
        </p:nvSpPr>
        <p:spPr/>
        <p:txBody>
          <a:bodyPr/>
          <a:lstStyle/>
          <a:p>
            <a:r>
              <a:rPr lang="en-US" dirty="0"/>
              <a:t>Run the Django Project</a:t>
            </a:r>
          </a:p>
        </p:txBody>
      </p:sp>
      <p:sp>
        <p:nvSpPr>
          <p:cNvPr id="3" name="Content Placeholder 2">
            <a:extLst>
              <a:ext uri="{FF2B5EF4-FFF2-40B4-BE49-F238E27FC236}">
                <a16:creationId xmlns:a16="http://schemas.microsoft.com/office/drawing/2014/main" id="{9646BEF3-B3C6-020A-E8CC-EA23DD81E26A}"/>
              </a:ext>
            </a:extLst>
          </p:cNvPr>
          <p:cNvSpPr>
            <a:spLocks noGrp="1"/>
          </p:cNvSpPr>
          <p:nvPr>
            <p:ph idx="1"/>
          </p:nvPr>
        </p:nvSpPr>
        <p:spPr>
          <a:xfrm>
            <a:off x="1097280" y="2108201"/>
            <a:ext cx="10058400" cy="4247720"/>
          </a:xfrm>
        </p:spPr>
        <p:txBody>
          <a:bodyPr>
            <a:normAutofit fontScale="62500" lnSpcReduction="20000"/>
          </a:bodyPr>
          <a:lstStyle/>
          <a:p>
            <a:pPr algn="just">
              <a:buFont typeface="Arial" panose="020B0604020202020204" pitchFamily="34" charset="0"/>
              <a:buChar char="•"/>
            </a:pPr>
            <a:r>
              <a:rPr lang="en-US" dirty="0"/>
              <a:t>Now that you have a Django project, you can run it, and see what it looks like in a browser.</a:t>
            </a:r>
          </a:p>
          <a:p>
            <a:pPr algn="just">
              <a:buFont typeface="Arial" panose="020B0604020202020204" pitchFamily="34" charset="0"/>
              <a:buChar char="•"/>
            </a:pPr>
            <a:r>
              <a:rPr lang="en-US" dirty="0"/>
              <a:t>Navigate to the </a:t>
            </a:r>
            <a:r>
              <a:rPr lang="en-US" b="1" dirty="0"/>
              <a:t>/</a:t>
            </a:r>
            <a:r>
              <a:rPr lang="en-US" b="1" dirty="0" err="1"/>
              <a:t>my_tennis_club</a:t>
            </a:r>
            <a:r>
              <a:rPr lang="en-US" b="1" dirty="0"/>
              <a:t> </a:t>
            </a:r>
            <a:r>
              <a:rPr lang="en-US" dirty="0"/>
              <a:t>folder and execute this command in the command prompt: </a:t>
            </a:r>
            <a:r>
              <a:rPr lang="en-US" b="1" dirty="0" err="1"/>
              <a:t>py</a:t>
            </a:r>
            <a:r>
              <a:rPr lang="en-US" b="1" dirty="0"/>
              <a:t> </a:t>
            </a:r>
            <a:r>
              <a:rPr lang="en-US" b="1" dirty="0" err="1"/>
              <a:t>manage.py</a:t>
            </a:r>
            <a:r>
              <a:rPr lang="en-US" b="1" dirty="0"/>
              <a:t> </a:t>
            </a:r>
            <a:r>
              <a:rPr lang="en-US" b="1" dirty="0" err="1"/>
              <a:t>runserver</a:t>
            </a:r>
            <a:endParaRPr lang="en-US" b="1" dirty="0"/>
          </a:p>
          <a:p>
            <a:pPr algn="just">
              <a:buFont typeface="Arial" panose="020B0604020202020204" pitchFamily="34" charset="0"/>
              <a:buChar char="•"/>
            </a:pPr>
            <a:endParaRPr lang="en-US" b="1" dirty="0"/>
          </a:p>
          <a:p>
            <a:pPr algn="just">
              <a:buFont typeface="Arial" panose="020B0604020202020204" pitchFamily="34" charset="0"/>
              <a:buChar char="•"/>
            </a:pPr>
            <a:endParaRPr lang="en-US" b="1" dirty="0"/>
          </a:p>
          <a:p>
            <a:pPr algn="just">
              <a:buFont typeface="Arial" panose="020B0604020202020204" pitchFamily="34" charset="0"/>
              <a:buChar char="•"/>
            </a:pPr>
            <a:endParaRPr lang="en-US" b="1" dirty="0"/>
          </a:p>
          <a:p>
            <a:pPr algn="just">
              <a:buFont typeface="Arial" panose="020B0604020202020204" pitchFamily="34" charset="0"/>
              <a:buChar char="•"/>
            </a:pPr>
            <a:r>
              <a:rPr lang="en-US" dirty="0"/>
              <a:t>Open a new browser window and type </a:t>
            </a:r>
            <a:r>
              <a:rPr lang="en-US" b="1" dirty="0"/>
              <a:t>127.0.0.1:8000</a:t>
            </a:r>
            <a:r>
              <a:rPr lang="en-US" dirty="0"/>
              <a:t> in the address bar. To quit the server press </a:t>
            </a:r>
            <a:r>
              <a:rPr lang="en-US" dirty="0" err="1"/>
              <a:t>ctrl+C</a:t>
            </a:r>
            <a:endParaRPr lang="en-US" dirty="0"/>
          </a:p>
          <a:p>
            <a:pPr algn="just">
              <a:buFont typeface="Arial" panose="020B0604020202020204" pitchFamily="34" charset="0"/>
              <a:buChar char="•"/>
            </a:pPr>
            <a:endParaRPr lang="en-US" b="1" dirty="0"/>
          </a:p>
          <a:p>
            <a:br>
              <a:rPr lang="en-US" dirty="0"/>
            </a:br>
            <a:endParaRPr lang="en-US" dirty="0"/>
          </a:p>
          <a:p>
            <a:endParaRPr lang="en-US" dirty="0"/>
          </a:p>
          <a:p>
            <a:pPr>
              <a:buFont typeface="Arial" panose="020B0604020202020204" pitchFamily="34" charset="0"/>
              <a:buChar char="•"/>
            </a:pPr>
            <a:r>
              <a:rPr lang="en-US" dirty="0"/>
              <a:t>Congratulations!! We have a Django project! The next step is to make an app in your project. You cannot have a web page created with Django without an app.</a:t>
            </a:r>
          </a:p>
          <a:p>
            <a:pPr>
              <a:buFont typeface="Arial" panose="020B0604020202020204" pitchFamily="34" charset="0"/>
              <a:buChar char="•"/>
            </a:pPr>
            <a:endParaRPr lang="en-US" dirty="0"/>
          </a:p>
        </p:txBody>
      </p:sp>
      <p:pic>
        <p:nvPicPr>
          <p:cNvPr id="5" name="Picture 4" descr="A screenshot of a computer&#10;&#10;Description automatically generated">
            <a:extLst>
              <a:ext uri="{FF2B5EF4-FFF2-40B4-BE49-F238E27FC236}">
                <a16:creationId xmlns:a16="http://schemas.microsoft.com/office/drawing/2014/main" id="{D4E6248F-F1D8-B501-B3DE-AFAEFC3062FA}"/>
              </a:ext>
            </a:extLst>
          </p:cNvPr>
          <p:cNvPicPr>
            <a:picLocks noChangeAspect="1"/>
          </p:cNvPicPr>
          <p:nvPr/>
        </p:nvPicPr>
        <p:blipFill>
          <a:blip r:embed="rId2"/>
          <a:stretch>
            <a:fillRect/>
          </a:stretch>
        </p:blipFill>
        <p:spPr>
          <a:xfrm>
            <a:off x="2473929" y="2866683"/>
            <a:ext cx="5502436" cy="1127505"/>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5F1CE272-2977-5F89-8B97-484B2A3DC9D7}"/>
              </a:ext>
            </a:extLst>
          </p:cNvPr>
          <p:cNvPicPr>
            <a:picLocks noChangeAspect="1"/>
          </p:cNvPicPr>
          <p:nvPr/>
        </p:nvPicPr>
        <p:blipFill>
          <a:blip r:embed="rId3"/>
          <a:stretch>
            <a:fillRect/>
          </a:stretch>
        </p:blipFill>
        <p:spPr>
          <a:xfrm>
            <a:off x="3074182" y="4286142"/>
            <a:ext cx="2827344" cy="1355689"/>
          </a:xfrm>
          <a:prstGeom prst="rect">
            <a:avLst/>
          </a:prstGeom>
        </p:spPr>
      </p:pic>
    </p:spTree>
    <p:extLst>
      <p:ext uri="{BB962C8B-B14F-4D97-AF65-F5344CB8AC3E}">
        <p14:creationId xmlns:p14="http://schemas.microsoft.com/office/powerpoint/2010/main" val="4088387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9EA8A-8693-0E68-30D8-2B512EC29B9C}"/>
              </a:ext>
            </a:extLst>
          </p:cNvPr>
          <p:cNvSpPr>
            <a:spLocks noGrp="1"/>
          </p:cNvSpPr>
          <p:nvPr>
            <p:ph type="title"/>
          </p:nvPr>
        </p:nvSpPr>
        <p:spPr/>
        <p:txBody>
          <a:bodyPr/>
          <a:lstStyle/>
          <a:p>
            <a:r>
              <a:rPr lang="en-US" dirty="0"/>
              <a:t>Django Create App</a:t>
            </a:r>
          </a:p>
        </p:txBody>
      </p:sp>
      <p:sp>
        <p:nvSpPr>
          <p:cNvPr id="3" name="Content Placeholder 2">
            <a:extLst>
              <a:ext uri="{FF2B5EF4-FFF2-40B4-BE49-F238E27FC236}">
                <a16:creationId xmlns:a16="http://schemas.microsoft.com/office/drawing/2014/main" id="{BC5EF6DF-4F7C-2B6F-AFD0-D19998CE7139}"/>
              </a:ext>
            </a:extLst>
          </p:cNvPr>
          <p:cNvSpPr>
            <a:spLocks noGrp="1"/>
          </p:cNvSpPr>
          <p:nvPr>
            <p:ph idx="1"/>
          </p:nvPr>
        </p:nvSpPr>
        <p:spPr>
          <a:xfrm>
            <a:off x="1097279" y="2108201"/>
            <a:ext cx="10649675" cy="3760891"/>
          </a:xfrm>
        </p:spPr>
        <p:txBody>
          <a:bodyPr/>
          <a:lstStyle/>
          <a:p>
            <a:pPr algn="just">
              <a:buFont typeface="Arial" panose="020B0604020202020204" pitchFamily="34" charset="0"/>
              <a:buChar char="•"/>
            </a:pPr>
            <a:r>
              <a:rPr lang="en-US" dirty="0"/>
              <a:t>An app is a </a:t>
            </a:r>
            <a:r>
              <a:rPr lang="en-US" b="1" dirty="0"/>
              <a:t>web application</a:t>
            </a:r>
            <a:r>
              <a:rPr lang="en-US" dirty="0"/>
              <a:t> that has a specific meaning in your project, like </a:t>
            </a:r>
            <a:r>
              <a:rPr lang="en-US" b="1" dirty="0"/>
              <a:t>a home page, a contact form, or a members database.</a:t>
            </a:r>
          </a:p>
          <a:p>
            <a:pPr algn="just">
              <a:buFont typeface="Arial" panose="020B0604020202020204" pitchFamily="34" charset="0"/>
              <a:buChar char="•"/>
            </a:pPr>
            <a:r>
              <a:rPr lang="en-US" dirty="0"/>
              <a:t>We will now </a:t>
            </a:r>
            <a:r>
              <a:rPr lang="en-US" b="1" dirty="0"/>
              <a:t>create an app that allows us to list and register members in a database</a:t>
            </a:r>
            <a:r>
              <a:rPr lang="en-US" dirty="0"/>
              <a:t>.</a:t>
            </a:r>
          </a:p>
          <a:p>
            <a:pPr algn="just">
              <a:buFont typeface="Arial" panose="020B0604020202020204" pitchFamily="34" charset="0"/>
              <a:buChar char="•"/>
            </a:pPr>
            <a:r>
              <a:rPr lang="en-US" dirty="0"/>
              <a:t>But first, let's just create a </a:t>
            </a:r>
            <a:r>
              <a:rPr lang="en-US" b="1" dirty="0"/>
              <a:t>simple Django app </a:t>
            </a:r>
            <a:r>
              <a:rPr lang="en-US" dirty="0"/>
              <a:t>that displays </a:t>
            </a:r>
            <a:r>
              <a:rPr lang="en-US" b="1" dirty="0"/>
              <a:t>"Hello World!".</a:t>
            </a:r>
          </a:p>
          <a:p>
            <a:endParaRPr lang="en-US" dirty="0"/>
          </a:p>
        </p:txBody>
      </p:sp>
    </p:spTree>
    <p:extLst>
      <p:ext uri="{BB962C8B-B14F-4D97-AF65-F5344CB8AC3E}">
        <p14:creationId xmlns:p14="http://schemas.microsoft.com/office/powerpoint/2010/main" val="1564416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1E985-F6AA-6091-0552-BA103AD1B450}"/>
              </a:ext>
            </a:extLst>
          </p:cNvPr>
          <p:cNvSpPr>
            <a:spLocks noGrp="1"/>
          </p:cNvSpPr>
          <p:nvPr>
            <p:ph type="title"/>
          </p:nvPr>
        </p:nvSpPr>
        <p:spPr/>
        <p:txBody>
          <a:bodyPr/>
          <a:lstStyle/>
          <a:p>
            <a:r>
              <a:rPr lang="en-US" dirty="0"/>
              <a:t>Creating Web App</a:t>
            </a:r>
          </a:p>
        </p:txBody>
      </p:sp>
      <p:sp>
        <p:nvSpPr>
          <p:cNvPr id="3" name="Content Placeholder 2">
            <a:extLst>
              <a:ext uri="{FF2B5EF4-FFF2-40B4-BE49-F238E27FC236}">
                <a16:creationId xmlns:a16="http://schemas.microsoft.com/office/drawing/2014/main" id="{74E608D5-056F-A726-4BCD-0594AF5A0AF8}"/>
              </a:ext>
            </a:extLst>
          </p:cNvPr>
          <p:cNvSpPr>
            <a:spLocks noGrp="1"/>
          </p:cNvSpPr>
          <p:nvPr>
            <p:ph idx="1"/>
          </p:nvPr>
        </p:nvSpPr>
        <p:spPr/>
        <p:txBody>
          <a:bodyPr/>
          <a:lstStyle/>
          <a:p>
            <a:pPr algn="just">
              <a:buFont typeface="Arial" panose="020B0604020202020204" pitchFamily="34" charset="0"/>
              <a:buChar char="•"/>
            </a:pPr>
            <a:r>
              <a:rPr lang="en-US" dirty="0"/>
              <a:t>Let´s name our app </a:t>
            </a:r>
            <a:r>
              <a:rPr lang="en-US" b="1" dirty="0"/>
              <a:t>members</a:t>
            </a:r>
            <a:r>
              <a:rPr lang="en-US" dirty="0"/>
              <a:t>.</a:t>
            </a:r>
          </a:p>
          <a:p>
            <a:pPr algn="just">
              <a:buFont typeface="Arial" panose="020B0604020202020204" pitchFamily="34" charset="0"/>
              <a:buChar char="•"/>
            </a:pPr>
            <a:r>
              <a:rPr lang="en-US" dirty="0"/>
              <a:t>Start by </a:t>
            </a:r>
            <a:r>
              <a:rPr lang="en-US" b="1" dirty="0"/>
              <a:t>navigating to the selected location </a:t>
            </a:r>
            <a:r>
              <a:rPr lang="en-US" dirty="0"/>
              <a:t>where you want to store the app, in my case the </a:t>
            </a:r>
            <a:r>
              <a:rPr lang="en-US" b="1" dirty="0" err="1"/>
              <a:t>my_tennis_club</a:t>
            </a:r>
            <a:r>
              <a:rPr lang="en-US" b="1" dirty="0"/>
              <a:t> folder</a:t>
            </a:r>
            <a:r>
              <a:rPr lang="en-US" dirty="0"/>
              <a:t>, and run the command below.</a:t>
            </a:r>
          </a:p>
          <a:p>
            <a:pPr algn="just">
              <a:buFont typeface="Arial" panose="020B0604020202020204" pitchFamily="34" charset="0"/>
              <a:buChar char="•"/>
            </a:pPr>
            <a:r>
              <a:rPr lang="en-US" dirty="0"/>
              <a:t>If the server is still running, and you are not able to write commands, press [CTRL] [BREAK], or [CTRL] [C] to stop the server and you should be back in the virtual environment.</a:t>
            </a:r>
          </a:p>
          <a:p>
            <a:endParaRPr lang="en-US" dirty="0"/>
          </a:p>
        </p:txBody>
      </p:sp>
      <p:pic>
        <p:nvPicPr>
          <p:cNvPr id="5" name="Picture 4" descr="A close up of numbers&#10;&#10;Description automatically generated">
            <a:extLst>
              <a:ext uri="{FF2B5EF4-FFF2-40B4-BE49-F238E27FC236}">
                <a16:creationId xmlns:a16="http://schemas.microsoft.com/office/drawing/2014/main" id="{9EF72015-1A16-6EA9-E715-33918E3B76DA}"/>
              </a:ext>
            </a:extLst>
          </p:cNvPr>
          <p:cNvPicPr>
            <a:picLocks noChangeAspect="1"/>
          </p:cNvPicPr>
          <p:nvPr/>
        </p:nvPicPr>
        <p:blipFill>
          <a:blip r:embed="rId2"/>
          <a:stretch>
            <a:fillRect/>
          </a:stretch>
        </p:blipFill>
        <p:spPr>
          <a:xfrm>
            <a:off x="3448673" y="4954692"/>
            <a:ext cx="5092700" cy="914400"/>
          </a:xfrm>
          <a:prstGeom prst="rect">
            <a:avLst/>
          </a:prstGeom>
        </p:spPr>
      </p:pic>
    </p:spTree>
    <p:extLst>
      <p:ext uri="{BB962C8B-B14F-4D97-AF65-F5344CB8AC3E}">
        <p14:creationId xmlns:p14="http://schemas.microsoft.com/office/powerpoint/2010/main" val="22411226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09766-D856-1BA3-B1F3-33C568A88F43}"/>
              </a:ext>
            </a:extLst>
          </p:cNvPr>
          <p:cNvSpPr>
            <a:spLocks noGrp="1"/>
          </p:cNvSpPr>
          <p:nvPr>
            <p:ph type="title"/>
          </p:nvPr>
        </p:nvSpPr>
        <p:spPr/>
        <p:txBody>
          <a:bodyPr/>
          <a:lstStyle/>
          <a:p>
            <a:r>
              <a:rPr lang="en-US" dirty="0"/>
              <a:t>Creating Web App</a:t>
            </a:r>
          </a:p>
        </p:txBody>
      </p:sp>
      <p:sp>
        <p:nvSpPr>
          <p:cNvPr id="3" name="Content Placeholder 2">
            <a:extLst>
              <a:ext uri="{FF2B5EF4-FFF2-40B4-BE49-F238E27FC236}">
                <a16:creationId xmlns:a16="http://schemas.microsoft.com/office/drawing/2014/main" id="{38EC3FE3-2C4C-9515-EFD2-9AF21F3C876B}"/>
              </a:ext>
            </a:extLst>
          </p:cNvPr>
          <p:cNvSpPr>
            <a:spLocks noGrp="1"/>
          </p:cNvSpPr>
          <p:nvPr>
            <p:ph idx="1"/>
          </p:nvPr>
        </p:nvSpPr>
        <p:spPr/>
        <p:txBody>
          <a:bodyPr>
            <a:normAutofit/>
          </a:bodyPr>
          <a:lstStyle/>
          <a:p>
            <a:pPr algn="just">
              <a:buFont typeface="Arial" panose="020B0604020202020204" pitchFamily="34" charset="0"/>
              <a:buChar char="•"/>
            </a:pPr>
            <a:r>
              <a:rPr lang="en-US" dirty="0"/>
              <a:t>Django creates a folder named members in my project, with this content:</a:t>
            </a:r>
          </a:p>
          <a:p>
            <a:pPr lvl="1" algn="just">
              <a:buFont typeface="Arial" panose="020B0604020202020204" pitchFamily="34" charset="0"/>
              <a:buChar char="•"/>
            </a:pPr>
            <a:r>
              <a:rPr lang="en-US" b="1" dirty="0"/>
              <a:t>python </a:t>
            </a:r>
            <a:r>
              <a:rPr lang="en-US" b="1" dirty="0" err="1"/>
              <a:t>manage.py</a:t>
            </a:r>
            <a:r>
              <a:rPr lang="en-US" b="1" dirty="0"/>
              <a:t> </a:t>
            </a:r>
            <a:r>
              <a:rPr lang="en-US" b="1" dirty="0" err="1"/>
              <a:t>startapp</a:t>
            </a:r>
            <a:r>
              <a:rPr lang="en-US" b="1" dirty="0"/>
              <a:t> members</a:t>
            </a:r>
          </a:p>
          <a:p>
            <a:pPr lvl="1" algn="just">
              <a:buFont typeface="Arial" panose="020B0604020202020204" pitchFamily="34" charset="0"/>
              <a:buChar char="•"/>
            </a:pPr>
            <a:endParaRPr lang="en-US" b="1" dirty="0"/>
          </a:p>
          <a:p>
            <a:pPr lvl="1" algn="just">
              <a:buFont typeface="Arial" panose="020B0604020202020204" pitchFamily="34" charset="0"/>
              <a:buChar char="•"/>
            </a:pPr>
            <a:endParaRPr lang="en-US" b="1" dirty="0"/>
          </a:p>
          <a:p>
            <a:pPr lvl="1" algn="just">
              <a:buFont typeface="Arial" panose="020B0604020202020204" pitchFamily="34" charset="0"/>
              <a:buChar char="•"/>
            </a:pPr>
            <a:endParaRPr lang="en-US" b="1" dirty="0"/>
          </a:p>
          <a:p>
            <a:pPr lvl="1" algn="just">
              <a:buFont typeface="Arial" panose="020B0604020202020204" pitchFamily="34" charset="0"/>
              <a:buChar char="•"/>
            </a:pPr>
            <a:endParaRPr lang="en-US" b="1" dirty="0"/>
          </a:p>
          <a:p>
            <a:pPr algn="just">
              <a:buFont typeface="Arial" panose="020B0604020202020204" pitchFamily="34" charset="0"/>
              <a:buChar char="•"/>
            </a:pPr>
            <a:r>
              <a:rPr lang="en-US" sz="1600" dirty="0"/>
              <a:t>These are all files and folders with a specific meaning. You will learn about most of them later. First, take a look at the file called </a:t>
            </a:r>
            <a:r>
              <a:rPr lang="en-US" sz="1600" b="1" dirty="0" err="1"/>
              <a:t>views.py</a:t>
            </a:r>
            <a:r>
              <a:rPr lang="en-US" sz="1600" dirty="0"/>
              <a:t>. This is where we gather the information we need to send back a proper response.</a:t>
            </a:r>
          </a:p>
          <a:p>
            <a:pPr algn="just">
              <a:buFont typeface="Arial" panose="020B0604020202020204" pitchFamily="34" charset="0"/>
              <a:buChar char="•"/>
            </a:pPr>
            <a:endParaRPr lang="en-US" b="1" dirty="0"/>
          </a:p>
        </p:txBody>
      </p:sp>
      <p:pic>
        <p:nvPicPr>
          <p:cNvPr id="5" name="Picture 4" descr="A computer screen shot of a code&#10;&#10;Description automatically generated">
            <a:extLst>
              <a:ext uri="{FF2B5EF4-FFF2-40B4-BE49-F238E27FC236}">
                <a16:creationId xmlns:a16="http://schemas.microsoft.com/office/drawing/2014/main" id="{91719C00-8703-0B9D-E874-79CE6F933749}"/>
              </a:ext>
            </a:extLst>
          </p:cNvPr>
          <p:cNvPicPr>
            <a:picLocks noChangeAspect="1"/>
          </p:cNvPicPr>
          <p:nvPr/>
        </p:nvPicPr>
        <p:blipFill>
          <a:blip r:embed="rId3"/>
          <a:stretch>
            <a:fillRect/>
          </a:stretch>
        </p:blipFill>
        <p:spPr>
          <a:xfrm>
            <a:off x="2459905" y="3189468"/>
            <a:ext cx="7772400" cy="1598356"/>
          </a:xfrm>
          <a:prstGeom prst="rect">
            <a:avLst/>
          </a:prstGeom>
        </p:spPr>
      </p:pic>
    </p:spTree>
    <p:extLst>
      <p:ext uri="{BB962C8B-B14F-4D97-AF65-F5344CB8AC3E}">
        <p14:creationId xmlns:p14="http://schemas.microsoft.com/office/powerpoint/2010/main" val="2872798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40791F6-715D-481A-9C4A-3645AECFD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A6733E-B498-51A9-25B2-44B4E3CC82F9}"/>
              </a:ext>
            </a:extLst>
          </p:cNvPr>
          <p:cNvSpPr>
            <a:spLocks noGrp="1"/>
          </p:cNvSpPr>
          <p:nvPr>
            <p:ph type="title"/>
          </p:nvPr>
        </p:nvSpPr>
        <p:spPr>
          <a:xfrm>
            <a:off x="642257" y="634946"/>
            <a:ext cx="6432434" cy="1450757"/>
          </a:xfrm>
        </p:spPr>
        <p:txBody>
          <a:bodyPr>
            <a:normAutofit/>
          </a:bodyPr>
          <a:lstStyle/>
          <a:p>
            <a:r>
              <a:rPr lang="en-US" dirty="0"/>
              <a:t>Django Views</a:t>
            </a:r>
          </a:p>
        </p:txBody>
      </p:sp>
      <p:cxnSp>
        <p:nvCxnSpPr>
          <p:cNvPr id="12" name="Straight Connector 11">
            <a:extLst>
              <a:ext uri="{FF2B5EF4-FFF2-40B4-BE49-F238E27FC236}">
                <a16:creationId xmlns:a16="http://schemas.microsoft.com/office/drawing/2014/main" id="{740F83A4-FAC4-4867-95A5-BBFD280C7B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76240" y="2267421"/>
            <a:ext cx="603504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6FF13FB-2ECA-4553-53EF-807D56D90866}"/>
              </a:ext>
            </a:extLst>
          </p:cNvPr>
          <p:cNvSpPr>
            <a:spLocks noGrp="1"/>
          </p:cNvSpPr>
          <p:nvPr>
            <p:ph idx="1"/>
          </p:nvPr>
        </p:nvSpPr>
        <p:spPr>
          <a:xfrm>
            <a:off x="642257" y="2407435"/>
            <a:ext cx="6432434" cy="3993357"/>
          </a:xfrm>
        </p:spPr>
        <p:txBody>
          <a:bodyPr>
            <a:normAutofit fontScale="92500" lnSpcReduction="10000"/>
          </a:bodyPr>
          <a:lstStyle/>
          <a:p>
            <a:pPr>
              <a:lnSpc>
                <a:spcPct val="100000"/>
              </a:lnSpc>
              <a:buFont typeface="Arial" panose="020B0604020202020204" pitchFamily="34" charset="0"/>
              <a:buChar char="•"/>
            </a:pPr>
            <a:r>
              <a:rPr lang="en-US" sz="1200" dirty="0"/>
              <a:t>Django views are </a:t>
            </a:r>
            <a:r>
              <a:rPr lang="en-US" sz="1200" b="1" dirty="0"/>
              <a:t>Python functions </a:t>
            </a:r>
            <a:r>
              <a:rPr lang="en-US" sz="1200" dirty="0"/>
              <a:t>that </a:t>
            </a:r>
            <a:r>
              <a:rPr lang="en-US" sz="1200" b="1" dirty="0"/>
              <a:t>takes http requests </a:t>
            </a:r>
            <a:r>
              <a:rPr lang="en-US" sz="1200" dirty="0"/>
              <a:t>and </a:t>
            </a:r>
            <a:r>
              <a:rPr lang="en-US" sz="1200" b="1" dirty="0"/>
              <a:t>returns http response</a:t>
            </a:r>
            <a:r>
              <a:rPr lang="en-US" sz="1200" dirty="0"/>
              <a:t>, like HTML documents.</a:t>
            </a:r>
          </a:p>
          <a:p>
            <a:pPr>
              <a:lnSpc>
                <a:spcPct val="100000"/>
              </a:lnSpc>
              <a:buFont typeface="Arial" panose="020B0604020202020204" pitchFamily="34" charset="0"/>
              <a:buChar char="•"/>
            </a:pPr>
            <a:r>
              <a:rPr lang="en-US" sz="1200" dirty="0"/>
              <a:t>A web page that uses Django is full of views with different tasks and missions.</a:t>
            </a:r>
          </a:p>
          <a:p>
            <a:pPr>
              <a:lnSpc>
                <a:spcPct val="100000"/>
              </a:lnSpc>
              <a:buFont typeface="Arial" panose="020B0604020202020204" pitchFamily="34" charset="0"/>
              <a:buChar char="•"/>
            </a:pPr>
            <a:r>
              <a:rPr lang="en-US" sz="1200" dirty="0"/>
              <a:t>Views are usually put in a file called </a:t>
            </a:r>
            <a:r>
              <a:rPr lang="en-US" sz="1200" b="1" dirty="0" err="1"/>
              <a:t>views.py</a:t>
            </a:r>
            <a:r>
              <a:rPr lang="en-US" sz="1200" b="1" dirty="0"/>
              <a:t> </a:t>
            </a:r>
            <a:r>
              <a:rPr lang="en-US" sz="1200" dirty="0"/>
              <a:t>located on your app's folder.</a:t>
            </a:r>
          </a:p>
          <a:p>
            <a:pPr>
              <a:lnSpc>
                <a:spcPct val="100000"/>
              </a:lnSpc>
              <a:buFont typeface="Arial" panose="020B0604020202020204" pitchFamily="34" charset="0"/>
              <a:buChar char="•"/>
            </a:pPr>
            <a:r>
              <a:rPr lang="en-US" sz="1200" dirty="0"/>
              <a:t>There is a </a:t>
            </a:r>
            <a:r>
              <a:rPr lang="en-US" sz="1200" dirty="0" err="1"/>
              <a:t>views.py</a:t>
            </a:r>
            <a:r>
              <a:rPr lang="en-US" sz="1200" dirty="0"/>
              <a:t> in your ”members” folder that looks like this:</a:t>
            </a:r>
          </a:p>
          <a:p>
            <a:pPr lvl="1">
              <a:lnSpc>
                <a:spcPct val="100000"/>
              </a:lnSpc>
              <a:buFont typeface="Arial" panose="020B0604020202020204" pitchFamily="34" charset="0"/>
              <a:buChar char="•"/>
            </a:pPr>
            <a:r>
              <a:rPr lang="en-US" sz="1200" dirty="0" err="1"/>
              <a:t>my_tennis_club</a:t>
            </a:r>
            <a:r>
              <a:rPr lang="en-US" sz="1200" dirty="0"/>
              <a:t>/members/</a:t>
            </a:r>
            <a:r>
              <a:rPr lang="en-US" sz="1200" dirty="0" err="1"/>
              <a:t>views.py</a:t>
            </a:r>
            <a:r>
              <a:rPr lang="en-US" sz="1200" dirty="0"/>
              <a:t>:</a:t>
            </a:r>
          </a:p>
          <a:p>
            <a:pPr lvl="2">
              <a:lnSpc>
                <a:spcPct val="100000"/>
              </a:lnSpc>
              <a:buFont typeface="Arial" panose="020B0604020202020204" pitchFamily="34" charset="0"/>
              <a:buChar char="•"/>
            </a:pPr>
            <a:r>
              <a:rPr lang="en-US" sz="1200" dirty="0"/>
              <a:t>python </a:t>
            </a:r>
            <a:r>
              <a:rPr lang="en-US" sz="1200" dirty="0" err="1"/>
              <a:t>views.py</a:t>
            </a:r>
            <a:endParaRPr lang="en-US" sz="1200" dirty="0"/>
          </a:p>
          <a:p>
            <a:pPr lvl="2">
              <a:lnSpc>
                <a:spcPct val="100000"/>
              </a:lnSpc>
              <a:buFont typeface="Arial" panose="020B0604020202020204" pitchFamily="34" charset="0"/>
              <a:buChar char="•"/>
            </a:pPr>
            <a:r>
              <a:rPr lang="en-US" sz="1200" dirty="0"/>
              <a:t>vim </a:t>
            </a:r>
            <a:r>
              <a:rPr lang="en-US" sz="1200" dirty="0" err="1"/>
              <a:t>views.py</a:t>
            </a:r>
            <a:endParaRPr lang="en-US" sz="1200" dirty="0"/>
          </a:p>
          <a:p>
            <a:pPr lvl="2">
              <a:lnSpc>
                <a:spcPct val="100000"/>
              </a:lnSpc>
              <a:buFont typeface="Arial" panose="020B0604020202020204" pitchFamily="34" charset="0"/>
              <a:buChar char="•"/>
            </a:pPr>
            <a:r>
              <a:rPr lang="en-US" sz="1200" dirty="0"/>
              <a:t>type </a:t>
            </a:r>
            <a:r>
              <a:rPr lang="en-US" sz="1200" b="1" dirty="0"/>
              <a:t>:w</a:t>
            </a:r>
            <a:r>
              <a:rPr lang="en-US" sz="1200" dirty="0"/>
              <a:t> to enter in write mode</a:t>
            </a:r>
          </a:p>
          <a:p>
            <a:pPr lvl="2">
              <a:lnSpc>
                <a:spcPct val="100000"/>
              </a:lnSpc>
              <a:buFont typeface="Arial" panose="020B0604020202020204" pitchFamily="34" charset="0"/>
              <a:buChar char="•"/>
            </a:pPr>
            <a:r>
              <a:rPr lang="en-US" sz="1200" dirty="0"/>
              <a:t>type </a:t>
            </a:r>
            <a:r>
              <a:rPr lang="en-US" sz="1200" b="1" dirty="0"/>
              <a:t>:q! </a:t>
            </a:r>
            <a:r>
              <a:rPr lang="en-US" sz="1200" dirty="0"/>
              <a:t>to enter in quit without saving any changes</a:t>
            </a:r>
          </a:p>
          <a:p>
            <a:pPr lvl="2">
              <a:lnSpc>
                <a:spcPct val="100000"/>
              </a:lnSpc>
              <a:buFont typeface="Arial" panose="020B0604020202020204" pitchFamily="34" charset="0"/>
              <a:buChar char="•"/>
            </a:pPr>
            <a:r>
              <a:rPr lang="en-US" sz="1200" dirty="0"/>
              <a:t>Press Esc, type </a:t>
            </a:r>
            <a:r>
              <a:rPr lang="en-US" sz="1200" b="1" dirty="0"/>
              <a:t>:x </a:t>
            </a:r>
            <a:r>
              <a:rPr lang="en-US" sz="1200" dirty="0"/>
              <a:t>and hit Enter to save and quit the program.</a:t>
            </a:r>
          </a:p>
          <a:p>
            <a:pPr lvl="2">
              <a:lnSpc>
                <a:spcPct val="100000"/>
              </a:lnSpc>
              <a:buFont typeface="Arial" panose="020B0604020202020204" pitchFamily="34" charset="0"/>
              <a:buChar char="•"/>
            </a:pPr>
            <a:r>
              <a:rPr lang="en-US" sz="1200" dirty="0"/>
              <a:t>Press Esc, type </a:t>
            </a:r>
            <a:r>
              <a:rPr lang="en-US" sz="1200" b="1" dirty="0"/>
              <a:t>:</a:t>
            </a:r>
            <a:r>
              <a:rPr lang="en-US" sz="1200" b="1" dirty="0" err="1"/>
              <a:t>wq</a:t>
            </a:r>
            <a:r>
              <a:rPr lang="en-US" sz="1200" b="1" dirty="0"/>
              <a:t> </a:t>
            </a:r>
            <a:r>
              <a:rPr lang="en-US" sz="1200" dirty="0"/>
              <a:t>and hit Enter to save the file and exit the editor simultaneously.</a:t>
            </a:r>
          </a:p>
          <a:p>
            <a:pPr>
              <a:lnSpc>
                <a:spcPct val="100000"/>
              </a:lnSpc>
              <a:buFont typeface="Arial" panose="020B0604020202020204" pitchFamily="34" charset="0"/>
              <a:buChar char="•"/>
            </a:pPr>
            <a:r>
              <a:rPr lang="en-US" sz="1200" dirty="0"/>
              <a:t>Note: The name of the view does not have to be the same as the application. We call it members because I think it fits well in this context.</a:t>
            </a:r>
          </a:p>
          <a:p>
            <a:pPr>
              <a:lnSpc>
                <a:spcPct val="100000"/>
              </a:lnSpc>
              <a:buFont typeface="Arial" panose="020B0604020202020204" pitchFamily="34" charset="0"/>
              <a:buChar char="•"/>
            </a:pPr>
            <a:r>
              <a:rPr lang="en-US" sz="1200" dirty="0"/>
              <a:t>This is a simple example of how to send a response back to the browser.</a:t>
            </a:r>
          </a:p>
          <a:p>
            <a:pPr>
              <a:lnSpc>
                <a:spcPct val="100000"/>
              </a:lnSpc>
              <a:buFont typeface="Arial" panose="020B0604020202020204" pitchFamily="34" charset="0"/>
              <a:buChar char="•"/>
            </a:pPr>
            <a:r>
              <a:rPr lang="en-US" sz="1200" dirty="0"/>
              <a:t>But how can we execute the view? Well, we must call the view via a URL.</a:t>
            </a:r>
          </a:p>
          <a:p>
            <a:pPr>
              <a:lnSpc>
                <a:spcPct val="100000"/>
              </a:lnSpc>
              <a:buFont typeface="Arial" panose="020B0604020202020204" pitchFamily="34" charset="0"/>
              <a:buChar char="•"/>
            </a:pPr>
            <a:endParaRPr lang="en-US" sz="700" dirty="0"/>
          </a:p>
          <a:p>
            <a:pPr>
              <a:lnSpc>
                <a:spcPct val="100000"/>
              </a:lnSpc>
            </a:pPr>
            <a:endParaRPr lang="en-US" sz="700" dirty="0"/>
          </a:p>
        </p:txBody>
      </p:sp>
      <p:pic>
        <p:nvPicPr>
          <p:cNvPr id="5" name="Picture 4" descr="A screenshot of a computer program&#10;&#10;Description automatically generated">
            <a:extLst>
              <a:ext uri="{FF2B5EF4-FFF2-40B4-BE49-F238E27FC236}">
                <a16:creationId xmlns:a16="http://schemas.microsoft.com/office/drawing/2014/main" id="{771121B7-03B2-4C7D-50A8-887CCC47CB77}"/>
              </a:ext>
            </a:extLst>
          </p:cNvPr>
          <p:cNvPicPr>
            <a:picLocks noChangeAspect="1"/>
          </p:cNvPicPr>
          <p:nvPr/>
        </p:nvPicPr>
        <p:blipFill>
          <a:blip r:embed="rId2"/>
          <a:stretch>
            <a:fillRect/>
          </a:stretch>
        </p:blipFill>
        <p:spPr>
          <a:xfrm>
            <a:off x="7556687" y="969161"/>
            <a:ext cx="4001315" cy="1850607"/>
          </a:xfrm>
          <a:prstGeom prst="rect">
            <a:avLst/>
          </a:prstGeom>
        </p:spPr>
      </p:pic>
      <p:pic>
        <p:nvPicPr>
          <p:cNvPr id="4" name="Picture 3" descr="A diagram of a software development&#10;&#10;Description automatically generated">
            <a:extLst>
              <a:ext uri="{FF2B5EF4-FFF2-40B4-BE49-F238E27FC236}">
                <a16:creationId xmlns:a16="http://schemas.microsoft.com/office/drawing/2014/main" id="{DEB41039-C5B6-30A2-F55A-19DAFAEB434F}"/>
              </a:ext>
            </a:extLst>
          </p:cNvPr>
          <p:cNvPicPr>
            <a:picLocks noChangeAspect="1"/>
          </p:cNvPicPr>
          <p:nvPr/>
        </p:nvPicPr>
        <p:blipFill>
          <a:blip r:embed="rId3"/>
          <a:stretch>
            <a:fillRect/>
          </a:stretch>
        </p:blipFill>
        <p:spPr>
          <a:xfrm>
            <a:off x="7850933" y="3428999"/>
            <a:ext cx="3412820" cy="2525487"/>
          </a:xfrm>
          <a:prstGeom prst="rect">
            <a:avLst/>
          </a:prstGeom>
        </p:spPr>
      </p:pic>
      <p:sp>
        <p:nvSpPr>
          <p:cNvPr id="14" name="Rectangle 13">
            <a:extLst>
              <a:ext uri="{FF2B5EF4-FFF2-40B4-BE49-F238E27FC236}">
                <a16:creationId xmlns:a16="http://schemas.microsoft.com/office/drawing/2014/main" id="{811CBAFA-D7E0-40A7-BB94-2C05304B4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377849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81567-6EB5-6595-12A0-DAE67F047AFB}"/>
              </a:ext>
            </a:extLst>
          </p:cNvPr>
          <p:cNvSpPr>
            <a:spLocks noGrp="1"/>
          </p:cNvSpPr>
          <p:nvPr>
            <p:ph type="title"/>
          </p:nvPr>
        </p:nvSpPr>
        <p:spPr/>
        <p:txBody>
          <a:bodyPr/>
          <a:lstStyle/>
          <a:p>
            <a:r>
              <a:rPr lang="en-US" dirty="0"/>
              <a:t>Django URLs</a:t>
            </a:r>
          </a:p>
        </p:txBody>
      </p:sp>
      <p:sp>
        <p:nvSpPr>
          <p:cNvPr id="3" name="Content Placeholder 2">
            <a:extLst>
              <a:ext uri="{FF2B5EF4-FFF2-40B4-BE49-F238E27FC236}">
                <a16:creationId xmlns:a16="http://schemas.microsoft.com/office/drawing/2014/main" id="{9CA80A67-9D0F-A87D-DBCD-54DC4B573784}"/>
              </a:ext>
            </a:extLst>
          </p:cNvPr>
          <p:cNvSpPr>
            <a:spLocks noGrp="1"/>
          </p:cNvSpPr>
          <p:nvPr>
            <p:ph idx="1"/>
          </p:nvPr>
        </p:nvSpPr>
        <p:spPr>
          <a:xfrm>
            <a:off x="1097280" y="2108201"/>
            <a:ext cx="10058400" cy="4208452"/>
          </a:xfrm>
        </p:spPr>
        <p:txBody>
          <a:bodyPr>
            <a:normAutofit fontScale="62500" lnSpcReduction="20000"/>
          </a:bodyPr>
          <a:lstStyle/>
          <a:p>
            <a:pPr algn="just">
              <a:buFont typeface="Arial" panose="020B0604020202020204" pitchFamily="34" charset="0"/>
              <a:buChar char="•"/>
            </a:pPr>
            <a:r>
              <a:rPr lang="en-US" dirty="0"/>
              <a:t>Create a file named </a:t>
            </a:r>
            <a:r>
              <a:rPr lang="en-US" b="1" dirty="0" err="1"/>
              <a:t>urls.py</a:t>
            </a:r>
            <a:r>
              <a:rPr lang="en-US" b="1" dirty="0"/>
              <a:t> </a:t>
            </a:r>
            <a:r>
              <a:rPr lang="en-US" dirty="0"/>
              <a:t>in the same folder as the </a:t>
            </a:r>
            <a:r>
              <a:rPr lang="en-US" dirty="0" err="1"/>
              <a:t>views.py</a:t>
            </a:r>
            <a:r>
              <a:rPr lang="en-US" dirty="0"/>
              <a:t> file, and type this code in it:</a:t>
            </a:r>
          </a:p>
          <a:p>
            <a:pPr algn="just">
              <a:buFont typeface="Arial" panose="020B0604020202020204" pitchFamily="34" charset="0"/>
              <a:buChar char="•"/>
            </a:pPr>
            <a:endParaRPr lang="en-US" dirty="0"/>
          </a:p>
          <a:p>
            <a:pPr marL="0" indent="0" algn="just">
              <a:buNone/>
            </a:pPr>
            <a:endParaRPr lang="en-US" dirty="0"/>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a:p>
            <a:pPr algn="just">
              <a:buFont typeface="Arial" panose="020B0604020202020204" pitchFamily="34" charset="0"/>
              <a:buChar char="•"/>
            </a:pPr>
            <a:r>
              <a:rPr lang="en-US" dirty="0"/>
              <a:t>The </a:t>
            </a:r>
            <a:r>
              <a:rPr lang="en-US" dirty="0" err="1"/>
              <a:t>urls.py</a:t>
            </a:r>
            <a:r>
              <a:rPr lang="en-US" dirty="0"/>
              <a:t> file you just created is specific for the</a:t>
            </a:r>
            <a:r>
              <a:rPr lang="en-US" b="1" dirty="0"/>
              <a:t> members </a:t>
            </a:r>
            <a:r>
              <a:rPr lang="en-US" dirty="0"/>
              <a:t>application. We have to do some routing in the root directory </a:t>
            </a:r>
            <a:r>
              <a:rPr lang="en-US" b="1" dirty="0" err="1"/>
              <a:t>my_tennis_club</a:t>
            </a:r>
            <a:r>
              <a:rPr lang="en-US" b="1" dirty="0"/>
              <a:t> </a:t>
            </a:r>
            <a:r>
              <a:rPr lang="en-US" dirty="0"/>
              <a:t>as well. This may seem complicated, but for now, just follow the instructions below.</a:t>
            </a:r>
          </a:p>
          <a:p>
            <a:pPr lvl="1" algn="just">
              <a:buFont typeface="Arial" panose="020B0604020202020204" pitchFamily="34" charset="0"/>
              <a:buChar char="•"/>
            </a:pPr>
            <a:r>
              <a:rPr lang="en-US" dirty="0"/>
              <a:t>There is a file called </a:t>
            </a:r>
            <a:r>
              <a:rPr lang="en-US" dirty="0" err="1"/>
              <a:t>urls.py</a:t>
            </a:r>
            <a:r>
              <a:rPr lang="en-US" dirty="0"/>
              <a:t> on the </a:t>
            </a:r>
            <a:r>
              <a:rPr lang="en-US" dirty="0" err="1"/>
              <a:t>my_tennis_club</a:t>
            </a:r>
            <a:r>
              <a:rPr lang="en-US" dirty="0"/>
              <a:t> folder, open that file and add the include module in the import statement, and also add a path() function in the </a:t>
            </a:r>
            <a:r>
              <a:rPr lang="en-US" dirty="0" err="1"/>
              <a:t>urlpatterns</a:t>
            </a:r>
            <a:r>
              <a:rPr lang="en-US" dirty="0"/>
              <a:t>[] list, with arguments that will route users that comes in via 127.0.0.1:8000/.</a:t>
            </a:r>
          </a:p>
          <a:p>
            <a:pPr lvl="1" algn="just">
              <a:buFont typeface="Arial" panose="020B0604020202020204" pitchFamily="34" charset="0"/>
              <a:buChar char="•"/>
            </a:pPr>
            <a:r>
              <a:rPr lang="en-US" dirty="0"/>
              <a:t>Then your file will look like this:</a:t>
            </a:r>
          </a:p>
          <a:p>
            <a:pPr algn="just">
              <a:buFont typeface="Arial" panose="020B0604020202020204" pitchFamily="34" charset="0"/>
              <a:buChar char="•"/>
            </a:pPr>
            <a:r>
              <a:rPr lang="en-US" dirty="0"/>
              <a:t>If the server is not running, navigate to the /</a:t>
            </a:r>
            <a:r>
              <a:rPr lang="en-US" dirty="0" err="1"/>
              <a:t>my_tennis_club</a:t>
            </a:r>
            <a:r>
              <a:rPr lang="en-US" dirty="0"/>
              <a:t> folder and execute this command in the command prompt: </a:t>
            </a:r>
            <a:r>
              <a:rPr lang="en-US" b="1" dirty="0" err="1"/>
              <a:t>py</a:t>
            </a:r>
            <a:r>
              <a:rPr lang="en-US" b="1" dirty="0"/>
              <a:t> </a:t>
            </a:r>
            <a:r>
              <a:rPr lang="en-US" b="1" dirty="0" err="1"/>
              <a:t>manage.py</a:t>
            </a:r>
            <a:r>
              <a:rPr lang="en-US" b="1" dirty="0"/>
              <a:t> </a:t>
            </a:r>
            <a:r>
              <a:rPr lang="en-US" b="1" dirty="0" err="1"/>
              <a:t>runserver</a:t>
            </a:r>
            <a:endParaRPr lang="en-US" b="1" dirty="0"/>
          </a:p>
          <a:p>
            <a:pPr algn="just">
              <a:buFont typeface="Arial" panose="020B0604020202020204" pitchFamily="34" charset="0"/>
              <a:buChar char="•"/>
            </a:pPr>
            <a:r>
              <a:rPr lang="en-US" dirty="0"/>
              <a:t>In the browser window, type </a:t>
            </a:r>
            <a:r>
              <a:rPr lang="en-US" b="1" dirty="0"/>
              <a:t>127.0.0.1:8000/members/ </a:t>
            </a:r>
            <a:r>
              <a:rPr lang="en-US" dirty="0"/>
              <a:t>in the address bar.</a:t>
            </a:r>
          </a:p>
        </p:txBody>
      </p:sp>
      <p:pic>
        <p:nvPicPr>
          <p:cNvPr id="5" name="Picture 4" descr="A screenshot of a computer&#10;&#10;Description automatically generated">
            <a:extLst>
              <a:ext uri="{FF2B5EF4-FFF2-40B4-BE49-F238E27FC236}">
                <a16:creationId xmlns:a16="http://schemas.microsoft.com/office/drawing/2014/main" id="{3780A5A7-8B45-4B0E-D072-1E4D5C645D40}"/>
              </a:ext>
            </a:extLst>
          </p:cNvPr>
          <p:cNvPicPr>
            <a:picLocks noChangeAspect="1"/>
          </p:cNvPicPr>
          <p:nvPr/>
        </p:nvPicPr>
        <p:blipFill>
          <a:blip r:embed="rId2"/>
          <a:stretch>
            <a:fillRect/>
          </a:stretch>
        </p:blipFill>
        <p:spPr>
          <a:xfrm>
            <a:off x="2517279" y="2365683"/>
            <a:ext cx="3639911" cy="1490700"/>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B3A39FA9-5D44-1BCC-CC2F-AC70E2EF7650}"/>
              </a:ext>
            </a:extLst>
          </p:cNvPr>
          <p:cNvPicPr>
            <a:picLocks noChangeAspect="1"/>
          </p:cNvPicPr>
          <p:nvPr/>
        </p:nvPicPr>
        <p:blipFill>
          <a:blip r:embed="rId3"/>
          <a:stretch>
            <a:fillRect/>
          </a:stretch>
        </p:blipFill>
        <p:spPr>
          <a:xfrm>
            <a:off x="8026914" y="541347"/>
            <a:ext cx="3963186" cy="2044814"/>
          </a:xfrm>
          <a:prstGeom prst="rect">
            <a:avLst/>
          </a:prstGeom>
        </p:spPr>
      </p:pic>
    </p:spTree>
    <p:extLst>
      <p:ext uri="{BB962C8B-B14F-4D97-AF65-F5344CB8AC3E}">
        <p14:creationId xmlns:p14="http://schemas.microsoft.com/office/powerpoint/2010/main" val="3219047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595E8-3FE1-5872-330A-54EE0CCFC68B}"/>
              </a:ext>
            </a:extLst>
          </p:cNvPr>
          <p:cNvSpPr>
            <a:spLocks noGrp="1"/>
          </p:cNvSpPr>
          <p:nvPr>
            <p:ph type="title"/>
          </p:nvPr>
        </p:nvSpPr>
        <p:spPr/>
        <p:txBody>
          <a:bodyPr/>
          <a:lstStyle/>
          <a:p>
            <a:r>
              <a:rPr lang="en-US" dirty="0"/>
              <a:t>Django Templates</a:t>
            </a:r>
          </a:p>
        </p:txBody>
      </p:sp>
      <p:sp>
        <p:nvSpPr>
          <p:cNvPr id="3" name="Content Placeholder 2">
            <a:extLst>
              <a:ext uri="{FF2B5EF4-FFF2-40B4-BE49-F238E27FC236}">
                <a16:creationId xmlns:a16="http://schemas.microsoft.com/office/drawing/2014/main" id="{140D2B03-584B-BB37-C8C5-0D7027B70EB4}"/>
              </a:ext>
            </a:extLst>
          </p:cNvPr>
          <p:cNvSpPr>
            <a:spLocks noGrp="1"/>
          </p:cNvSpPr>
          <p:nvPr>
            <p:ph idx="1"/>
          </p:nvPr>
        </p:nvSpPr>
        <p:spPr/>
        <p:txBody>
          <a:bodyPr>
            <a:normAutofit lnSpcReduction="10000"/>
          </a:bodyPr>
          <a:lstStyle/>
          <a:p>
            <a:pPr algn="just">
              <a:buFont typeface="Arial" panose="020B0604020202020204" pitchFamily="34" charset="0"/>
              <a:buChar char="•"/>
            </a:pPr>
            <a:r>
              <a:rPr lang="en-US" sz="1600" dirty="0"/>
              <a:t>In the Django Intro page, we learned that the result should be in HTML, and it should be created in a template, so let's do that.</a:t>
            </a:r>
          </a:p>
          <a:p>
            <a:pPr algn="just">
              <a:buFont typeface="Arial" panose="020B0604020202020204" pitchFamily="34" charset="0"/>
              <a:buChar char="•"/>
            </a:pPr>
            <a:r>
              <a:rPr lang="en-US" sz="1600" dirty="0"/>
              <a:t>Create a templates folder inside the members folder, and create a HTML file named </a:t>
            </a:r>
            <a:r>
              <a:rPr lang="en-US" sz="1600" dirty="0" err="1"/>
              <a:t>myfirst.html</a:t>
            </a:r>
            <a:r>
              <a:rPr lang="en-US" sz="1600" dirty="0"/>
              <a:t>.</a:t>
            </a:r>
          </a:p>
          <a:p>
            <a:pPr algn="just">
              <a:buFont typeface="Arial" panose="020B0604020202020204" pitchFamily="34" charset="0"/>
              <a:buChar char="•"/>
            </a:pPr>
            <a:r>
              <a:rPr lang="en-US" sz="1600" dirty="0"/>
              <a:t>The file structure should be like this:</a:t>
            </a:r>
          </a:p>
          <a:p>
            <a:pPr algn="just">
              <a:buFont typeface="Arial" panose="020B0604020202020204" pitchFamily="34" charset="0"/>
              <a:buChar char="•"/>
            </a:pPr>
            <a:endParaRPr lang="en-US" sz="1600" dirty="0"/>
          </a:p>
          <a:p>
            <a:pPr algn="just">
              <a:buFont typeface="Arial" panose="020B0604020202020204" pitchFamily="34" charset="0"/>
              <a:buChar char="•"/>
            </a:pPr>
            <a:endParaRPr lang="en-US" sz="1600" dirty="0"/>
          </a:p>
          <a:p>
            <a:pPr algn="just">
              <a:buFont typeface="Arial" panose="020B0604020202020204" pitchFamily="34" charset="0"/>
              <a:buChar char="•"/>
            </a:pPr>
            <a:r>
              <a:rPr lang="en-US" sz="1600" dirty="0"/>
              <a:t>Open the HTML file and insert the following:</a:t>
            </a:r>
          </a:p>
          <a:p>
            <a:pPr marL="0" indent="0">
              <a:buNone/>
            </a:pPr>
            <a:br>
              <a:rPr lang="en-US" dirty="0"/>
            </a:br>
            <a:endParaRPr lang="en-US" dirty="0"/>
          </a:p>
          <a:p>
            <a:endParaRPr lang="en-US" dirty="0"/>
          </a:p>
        </p:txBody>
      </p:sp>
      <p:pic>
        <p:nvPicPr>
          <p:cNvPr id="5" name="Picture 4">
            <a:extLst>
              <a:ext uri="{FF2B5EF4-FFF2-40B4-BE49-F238E27FC236}">
                <a16:creationId xmlns:a16="http://schemas.microsoft.com/office/drawing/2014/main" id="{7BFF5E03-C242-ED7F-19BE-E4BCF6E36770}"/>
              </a:ext>
            </a:extLst>
          </p:cNvPr>
          <p:cNvPicPr>
            <a:picLocks noChangeAspect="1"/>
          </p:cNvPicPr>
          <p:nvPr/>
        </p:nvPicPr>
        <p:blipFill>
          <a:blip r:embed="rId2"/>
          <a:stretch>
            <a:fillRect/>
          </a:stretch>
        </p:blipFill>
        <p:spPr>
          <a:xfrm>
            <a:off x="2041973" y="3629763"/>
            <a:ext cx="7772400" cy="807521"/>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815904EF-765F-5767-94AB-30CB2640D02A}"/>
              </a:ext>
            </a:extLst>
          </p:cNvPr>
          <p:cNvPicPr>
            <a:picLocks noChangeAspect="1"/>
          </p:cNvPicPr>
          <p:nvPr/>
        </p:nvPicPr>
        <p:blipFill>
          <a:blip r:embed="rId3"/>
          <a:stretch>
            <a:fillRect/>
          </a:stretch>
        </p:blipFill>
        <p:spPr>
          <a:xfrm>
            <a:off x="4288120" y="4818832"/>
            <a:ext cx="2621008" cy="1521876"/>
          </a:xfrm>
          <a:prstGeom prst="rect">
            <a:avLst/>
          </a:prstGeom>
        </p:spPr>
      </p:pic>
    </p:spTree>
    <p:extLst>
      <p:ext uri="{BB962C8B-B14F-4D97-AF65-F5344CB8AC3E}">
        <p14:creationId xmlns:p14="http://schemas.microsoft.com/office/powerpoint/2010/main" val="666208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3EEE6-6B73-B822-07B9-EE42253E9BA0}"/>
              </a:ext>
            </a:extLst>
          </p:cNvPr>
          <p:cNvSpPr>
            <a:spLocks noGrp="1"/>
          </p:cNvSpPr>
          <p:nvPr>
            <p:ph type="title"/>
          </p:nvPr>
        </p:nvSpPr>
        <p:spPr/>
        <p:txBody>
          <a:bodyPr>
            <a:normAutofit/>
          </a:bodyPr>
          <a:lstStyle/>
          <a:p>
            <a:r>
              <a:rPr lang="en-US" dirty="0"/>
              <a:t>Django Templates: Modify the View</a:t>
            </a:r>
          </a:p>
        </p:txBody>
      </p:sp>
      <p:sp>
        <p:nvSpPr>
          <p:cNvPr id="3" name="Content Placeholder 2">
            <a:extLst>
              <a:ext uri="{FF2B5EF4-FFF2-40B4-BE49-F238E27FC236}">
                <a16:creationId xmlns:a16="http://schemas.microsoft.com/office/drawing/2014/main" id="{3C08F351-A3E2-F3DE-BC88-96DE3453B012}"/>
              </a:ext>
            </a:extLst>
          </p:cNvPr>
          <p:cNvSpPr>
            <a:spLocks noGrp="1"/>
          </p:cNvSpPr>
          <p:nvPr>
            <p:ph idx="1"/>
          </p:nvPr>
        </p:nvSpPr>
        <p:spPr/>
        <p:txBody>
          <a:bodyPr/>
          <a:lstStyle/>
          <a:p>
            <a:r>
              <a:rPr lang="en-US" dirty="0"/>
              <a:t>Open the </a:t>
            </a:r>
            <a:r>
              <a:rPr lang="en-US" b="1" dirty="0" err="1"/>
              <a:t>views.py</a:t>
            </a:r>
            <a:r>
              <a:rPr lang="en-US" b="1" dirty="0"/>
              <a:t> </a:t>
            </a:r>
            <a:r>
              <a:rPr lang="en-US" dirty="0"/>
              <a:t>file and replace the </a:t>
            </a:r>
            <a:r>
              <a:rPr lang="en-US" b="1" dirty="0"/>
              <a:t>members </a:t>
            </a:r>
            <a:r>
              <a:rPr lang="en-US" dirty="0"/>
              <a:t>view with this:</a:t>
            </a:r>
          </a:p>
          <a:p>
            <a:r>
              <a:rPr lang="en-US" dirty="0"/>
              <a:t>More information about templates.. https://</a:t>
            </a:r>
            <a:r>
              <a:rPr lang="en-US" dirty="0" err="1"/>
              <a:t>docs.djangoproject.com</a:t>
            </a:r>
            <a:r>
              <a:rPr lang="en-US" dirty="0"/>
              <a:t>/</a:t>
            </a:r>
            <a:r>
              <a:rPr lang="en-US" dirty="0" err="1"/>
              <a:t>en</a:t>
            </a:r>
            <a:r>
              <a:rPr lang="en-US" dirty="0"/>
              <a:t>/5.2/intro/tutorial06/</a:t>
            </a:r>
          </a:p>
        </p:txBody>
      </p:sp>
      <p:pic>
        <p:nvPicPr>
          <p:cNvPr id="5" name="Picture 4" descr="A screenshot of a web page&#10;&#10;Description automatically generated">
            <a:extLst>
              <a:ext uri="{FF2B5EF4-FFF2-40B4-BE49-F238E27FC236}">
                <a16:creationId xmlns:a16="http://schemas.microsoft.com/office/drawing/2014/main" id="{2A1A7F6E-D221-2D41-CD53-2C0288627B5B}"/>
              </a:ext>
            </a:extLst>
          </p:cNvPr>
          <p:cNvPicPr>
            <a:picLocks noChangeAspect="1"/>
          </p:cNvPicPr>
          <p:nvPr/>
        </p:nvPicPr>
        <p:blipFill>
          <a:blip r:embed="rId2"/>
          <a:stretch>
            <a:fillRect/>
          </a:stretch>
        </p:blipFill>
        <p:spPr>
          <a:xfrm>
            <a:off x="2577087" y="3577047"/>
            <a:ext cx="4908801" cy="2184000"/>
          </a:xfrm>
          <a:prstGeom prst="rect">
            <a:avLst/>
          </a:prstGeom>
        </p:spPr>
      </p:pic>
    </p:spTree>
    <p:extLst>
      <p:ext uri="{BB962C8B-B14F-4D97-AF65-F5344CB8AC3E}">
        <p14:creationId xmlns:p14="http://schemas.microsoft.com/office/powerpoint/2010/main" val="26827136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3B8F4-0306-9AF8-D35C-877F85D39A95}"/>
              </a:ext>
            </a:extLst>
          </p:cNvPr>
          <p:cNvSpPr>
            <a:spLocks noGrp="1"/>
          </p:cNvSpPr>
          <p:nvPr>
            <p:ph type="title"/>
          </p:nvPr>
        </p:nvSpPr>
        <p:spPr/>
        <p:txBody>
          <a:bodyPr/>
          <a:lstStyle/>
          <a:p>
            <a:r>
              <a:rPr lang="en-US" dirty="0"/>
              <a:t>Change Settings</a:t>
            </a:r>
          </a:p>
        </p:txBody>
      </p:sp>
      <p:sp>
        <p:nvSpPr>
          <p:cNvPr id="3" name="Content Placeholder 2">
            <a:extLst>
              <a:ext uri="{FF2B5EF4-FFF2-40B4-BE49-F238E27FC236}">
                <a16:creationId xmlns:a16="http://schemas.microsoft.com/office/drawing/2014/main" id="{C16BD37E-6C59-3214-FAA7-7991D0EE058C}"/>
              </a:ext>
            </a:extLst>
          </p:cNvPr>
          <p:cNvSpPr>
            <a:spLocks noGrp="1"/>
          </p:cNvSpPr>
          <p:nvPr>
            <p:ph idx="1"/>
          </p:nvPr>
        </p:nvSpPr>
        <p:spPr/>
        <p:txBody>
          <a:bodyPr>
            <a:normAutofit fontScale="92500" lnSpcReduction="20000"/>
          </a:bodyPr>
          <a:lstStyle/>
          <a:p>
            <a:pPr algn="just">
              <a:buFont typeface="Arial" panose="020B0604020202020204" pitchFamily="34" charset="0"/>
              <a:buChar char="•"/>
            </a:pPr>
            <a:r>
              <a:rPr lang="en-US" sz="1600" dirty="0"/>
              <a:t>To be able to work with more complicated stuff than "Hello World!", We have to tell Django that a new app is created.</a:t>
            </a:r>
          </a:p>
          <a:p>
            <a:pPr algn="just">
              <a:buFont typeface="Arial" panose="020B0604020202020204" pitchFamily="34" charset="0"/>
              <a:buChar char="•"/>
            </a:pPr>
            <a:r>
              <a:rPr lang="en-US" sz="1600" dirty="0"/>
              <a:t>This is done in the </a:t>
            </a:r>
            <a:r>
              <a:rPr lang="en-US" sz="1600" dirty="0" err="1"/>
              <a:t>settings.py</a:t>
            </a:r>
            <a:r>
              <a:rPr lang="en-US" sz="1600" dirty="0"/>
              <a:t> file in the </a:t>
            </a:r>
            <a:r>
              <a:rPr lang="en-US" sz="1600" dirty="0" err="1"/>
              <a:t>my_tennis_club</a:t>
            </a:r>
            <a:r>
              <a:rPr lang="en-US" sz="1600" dirty="0"/>
              <a:t> folder.</a:t>
            </a:r>
          </a:p>
          <a:p>
            <a:pPr algn="just">
              <a:buFont typeface="Arial" panose="020B0604020202020204" pitchFamily="34" charset="0"/>
              <a:buChar char="•"/>
            </a:pPr>
            <a:r>
              <a:rPr lang="en-US" sz="1600" dirty="0"/>
              <a:t>Look up the INSTALLED_APPS[] list and add the </a:t>
            </a:r>
            <a:r>
              <a:rPr lang="en-US" sz="1600" b="1" dirty="0"/>
              <a:t>members</a:t>
            </a:r>
            <a:r>
              <a:rPr lang="en-US" sz="1600" dirty="0"/>
              <a:t> app like this:</a:t>
            </a:r>
          </a:p>
          <a:p>
            <a:pPr algn="just">
              <a:buFont typeface="Arial" panose="020B0604020202020204" pitchFamily="34" charset="0"/>
              <a:buChar char="•"/>
            </a:pPr>
            <a:endParaRPr lang="en-US" sz="1600" dirty="0"/>
          </a:p>
          <a:p>
            <a:pPr algn="just">
              <a:buFont typeface="Arial" panose="020B0604020202020204" pitchFamily="34" charset="0"/>
              <a:buChar char="•"/>
            </a:pPr>
            <a:endParaRPr lang="en-US" sz="1600" dirty="0"/>
          </a:p>
          <a:p>
            <a:pPr marL="0" indent="0" algn="just">
              <a:buNone/>
            </a:pPr>
            <a:endParaRPr lang="en-US" sz="1600" dirty="0"/>
          </a:p>
          <a:p>
            <a:pPr algn="just">
              <a:buFont typeface="Arial" panose="020B0604020202020204" pitchFamily="34" charset="0"/>
              <a:buChar char="•"/>
            </a:pPr>
            <a:r>
              <a:rPr lang="en-US" sz="1600" dirty="0"/>
              <a:t>Then run this command: </a:t>
            </a:r>
            <a:r>
              <a:rPr lang="en-US" sz="1600" b="1" dirty="0" err="1"/>
              <a:t>py</a:t>
            </a:r>
            <a:r>
              <a:rPr lang="en-US" sz="1600" b="1" dirty="0"/>
              <a:t> </a:t>
            </a:r>
            <a:r>
              <a:rPr lang="en-US" sz="1600" b="1" dirty="0" err="1"/>
              <a:t>manage.py</a:t>
            </a:r>
            <a:r>
              <a:rPr lang="en-US" sz="1600" b="1" dirty="0"/>
              <a:t> migrate</a:t>
            </a:r>
          </a:p>
          <a:p>
            <a:pPr algn="just">
              <a:buFont typeface="Arial" panose="020B0604020202020204" pitchFamily="34" charset="0"/>
              <a:buChar char="•"/>
            </a:pPr>
            <a:r>
              <a:rPr lang="en-US" sz="1600" dirty="0"/>
              <a:t>Which will produce this output:</a:t>
            </a:r>
          </a:p>
          <a:p>
            <a:pPr algn="just">
              <a:buFont typeface="Arial" panose="020B0604020202020204" pitchFamily="34" charset="0"/>
              <a:buChar char="•"/>
            </a:pPr>
            <a:r>
              <a:rPr lang="en-IN" sz="1200" b="0" i="0" dirty="0">
                <a:solidFill>
                  <a:srgbClr val="000000"/>
                </a:solidFill>
                <a:effectLst/>
              </a:rPr>
              <a:t>Start the server by navigating to the </a:t>
            </a:r>
            <a:r>
              <a:rPr lang="en-IN" sz="1200" b="1" dirty="0"/>
              <a:t>/</a:t>
            </a:r>
            <a:r>
              <a:rPr lang="en-IN" sz="1200" b="1" dirty="0" err="1"/>
              <a:t>my_tennis_club</a:t>
            </a:r>
            <a:r>
              <a:rPr lang="en-IN" sz="1200" b="1" i="0" dirty="0">
                <a:solidFill>
                  <a:srgbClr val="000000"/>
                </a:solidFill>
                <a:effectLst/>
              </a:rPr>
              <a:t> </a:t>
            </a:r>
            <a:r>
              <a:rPr lang="en-IN" sz="1200" b="0" i="0" dirty="0">
                <a:solidFill>
                  <a:srgbClr val="000000"/>
                </a:solidFill>
                <a:effectLst/>
              </a:rPr>
              <a:t>folder and execute this command: </a:t>
            </a:r>
            <a:r>
              <a:rPr lang="en-IN" sz="1200" b="0" i="0" dirty="0" err="1">
                <a:solidFill>
                  <a:srgbClr val="000000"/>
                </a:solidFill>
                <a:effectLst/>
              </a:rPr>
              <a:t>py</a:t>
            </a:r>
            <a:r>
              <a:rPr lang="en-IN" sz="1200" b="0" i="0" dirty="0">
                <a:solidFill>
                  <a:srgbClr val="000000"/>
                </a:solidFill>
                <a:effectLst/>
              </a:rPr>
              <a:t> </a:t>
            </a:r>
            <a:r>
              <a:rPr lang="en-IN" sz="1200" b="0" i="0" dirty="0" err="1">
                <a:solidFill>
                  <a:srgbClr val="000000"/>
                </a:solidFill>
                <a:effectLst/>
              </a:rPr>
              <a:t>manage.py</a:t>
            </a:r>
            <a:r>
              <a:rPr lang="en-IN" sz="1200" b="0" i="0" dirty="0">
                <a:solidFill>
                  <a:srgbClr val="000000"/>
                </a:solidFill>
                <a:effectLst/>
              </a:rPr>
              <a:t> </a:t>
            </a:r>
            <a:r>
              <a:rPr lang="en-IN" sz="1200" b="0" i="0" dirty="0" err="1">
                <a:solidFill>
                  <a:srgbClr val="000000"/>
                </a:solidFill>
                <a:effectLst/>
              </a:rPr>
              <a:t>runserver</a:t>
            </a:r>
            <a:endParaRPr lang="en-IN" sz="1200" b="0" i="0" dirty="0">
              <a:solidFill>
                <a:srgbClr val="000000"/>
              </a:solidFill>
              <a:effectLst/>
            </a:endParaRPr>
          </a:p>
          <a:p>
            <a:pPr algn="just">
              <a:buFont typeface="Arial" panose="020B0604020202020204" pitchFamily="34" charset="0"/>
              <a:buChar char="•"/>
            </a:pPr>
            <a:r>
              <a:rPr lang="en-US" sz="1600" dirty="0"/>
              <a:t>In the browser window, type </a:t>
            </a:r>
            <a:r>
              <a:rPr lang="en-US" sz="1600" b="1" dirty="0"/>
              <a:t>127.0.0.1:8000/members/ </a:t>
            </a:r>
            <a:r>
              <a:rPr lang="en-US" sz="1600" dirty="0"/>
              <a:t>in the address bar.</a:t>
            </a:r>
          </a:p>
        </p:txBody>
      </p:sp>
      <p:pic>
        <p:nvPicPr>
          <p:cNvPr id="5" name="Picture 4" descr="A screenshot of a computer program&#10;&#10;Description automatically generated">
            <a:extLst>
              <a:ext uri="{FF2B5EF4-FFF2-40B4-BE49-F238E27FC236}">
                <a16:creationId xmlns:a16="http://schemas.microsoft.com/office/drawing/2014/main" id="{B86B634C-E2F6-E5C2-6B61-A06180F29AA2}"/>
              </a:ext>
            </a:extLst>
          </p:cNvPr>
          <p:cNvPicPr>
            <a:picLocks noChangeAspect="1"/>
          </p:cNvPicPr>
          <p:nvPr/>
        </p:nvPicPr>
        <p:blipFill>
          <a:blip r:embed="rId2"/>
          <a:stretch>
            <a:fillRect/>
          </a:stretch>
        </p:blipFill>
        <p:spPr>
          <a:xfrm>
            <a:off x="3270873" y="3387500"/>
            <a:ext cx="1620462" cy="1027426"/>
          </a:xfrm>
          <a:prstGeom prst="rect">
            <a:avLst/>
          </a:prstGeom>
        </p:spPr>
      </p:pic>
      <p:pic>
        <p:nvPicPr>
          <p:cNvPr id="7" name="Picture 6" descr="A screenshot of a computer program&#10;&#10;Description automatically generated">
            <a:extLst>
              <a:ext uri="{FF2B5EF4-FFF2-40B4-BE49-F238E27FC236}">
                <a16:creationId xmlns:a16="http://schemas.microsoft.com/office/drawing/2014/main" id="{1519FDB7-7CC1-68FC-21B6-61BF738906A3}"/>
              </a:ext>
            </a:extLst>
          </p:cNvPr>
          <p:cNvPicPr>
            <a:picLocks noChangeAspect="1"/>
          </p:cNvPicPr>
          <p:nvPr/>
        </p:nvPicPr>
        <p:blipFill>
          <a:blip r:embed="rId3"/>
          <a:stretch>
            <a:fillRect/>
          </a:stretch>
        </p:blipFill>
        <p:spPr>
          <a:xfrm>
            <a:off x="6769797" y="3199867"/>
            <a:ext cx="3031911" cy="1739277"/>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A059C3A1-A8BF-34B6-51A8-DCA615BC1313}"/>
              </a:ext>
            </a:extLst>
          </p:cNvPr>
          <p:cNvPicPr>
            <a:picLocks noChangeAspect="1"/>
          </p:cNvPicPr>
          <p:nvPr/>
        </p:nvPicPr>
        <p:blipFill>
          <a:blip r:embed="rId4"/>
          <a:stretch>
            <a:fillRect/>
          </a:stretch>
        </p:blipFill>
        <p:spPr>
          <a:xfrm>
            <a:off x="8232338" y="4997224"/>
            <a:ext cx="3138739" cy="1394995"/>
          </a:xfrm>
          <a:prstGeom prst="rect">
            <a:avLst/>
          </a:prstGeom>
        </p:spPr>
      </p:pic>
    </p:spTree>
    <p:extLst>
      <p:ext uri="{BB962C8B-B14F-4D97-AF65-F5344CB8AC3E}">
        <p14:creationId xmlns:p14="http://schemas.microsoft.com/office/powerpoint/2010/main" val="4245689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42BFE-DEE2-76A1-B683-BED0CC76D615}"/>
              </a:ext>
            </a:extLst>
          </p:cNvPr>
          <p:cNvSpPr>
            <a:spLocks noGrp="1"/>
          </p:cNvSpPr>
          <p:nvPr>
            <p:ph type="title"/>
          </p:nvPr>
        </p:nvSpPr>
        <p:spPr/>
        <p:txBody>
          <a:bodyPr/>
          <a:lstStyle/>
          <a:p>
            <a:r>
              <a:rPr lang="en-US" dirty="0"/>
              <a:t>Django Models</a:t>
            </a:r>
          </a:p>
        </p:txBody>
      </p:sp>
      <p:sp>
        <p:nvSpPr>
          <p:cNvPr id="3" name="Content Placeholder 2">
            <a:extLst>
              <a:ext uri="{FF2B5EF4-FFF2-40B4-BE49-F238E27FC236}">
                <a16:creationId xmlns:a16="http://schemas.microsoft.com/office/drawing/2014/main" id="{5663B6F4-09D9-10F4-EBB5-1807A6FB24CE}"/>
              </a:ext>
            </a:extLst>
          </p:cNvPr>
          <p:cNvSpPr>
            <a:spLocks noGrp="1"/>
          </p:cNvSpPr>
          <p:nvPr>
            <p:ph idx="1"/>
          </p:nvPr>
        </p:nvSpPr>
        <p:spPr>
          <a:xfrm>
            <a:off x="1097280" y="2108201"/>
            <a:ext cx="10058400" cy="4463196"/>
          </a:xfrm>
        </p:spPr>
        <p:txBody>
          <a:bodyPr>
            <a:normAutofit lnSpcReduction="10000"/>
          </a:bodyPr>
          <a:lstStyle/>
          <a:p>
            <a:pPr algn="just">
              <a:buFont typeface="Arial" panose="020B0604020202020204" pitchFamily="34" charset="0"/>
              <a:buChar char="•"/>
            </a:pPr>
            <a:r>
              <a:rPr lang="en-US" sz="1600" dirty="0"/>
              <a:t>A Django model is the built-in feature that Django uses to create tables, their fields, and various constraints. In short, Django Models is the SQL Database one uses with Django. </a:t>
            </a:r>
          </a:p>
          <a:p>
            <a:pPr algn="just">
              <a:buFont typeface="Arial" panose="020B0604020202020204" pitchFamily="34" charset="0"/>
              <a:buChar char="•"/>
            </a:pPr>
            <a:r>
              <a:rPr lang="en-US" sz="1600" dirty="0"/>
              <a:t>SQL (Structured Query Language) is complex and involves a lot of different queries for creating, deleting, updating, or any other stuff related to a database. Django models simplify the tasks and organize tables into models. Generally, each model maps to a single database table. </a:t>
            </a:r>
          </a:p>
          <a:p>
            <a:pPr algn="just">
              <a:buFont typeface="Arial" panose="020B0604020202020204" pitchFamily="34" charset="0"/>
              <a:buChar char="•"/>
            </a:pPr>
            <a:r>
              <a:rPr lang="en-US" sz="1600" dirty="0"/>
              <a:t>Up until now, output has been static data from Python or HTML templates.</a:t>
            </a:r>
          </a:p>
          <a:p>
            <a:pPr algn="just">
              <a:buFont typeface="Arial" panose="020B0604020202020204" pitchFamily="34" charset="0"/>
              <a:buChar char="•"/>
            </a:pPr>
            <a:r>
              <a:rPr lang="en-US" sz="1600" b="1" dirty="0"/>
              <a:t>Django Models</a:t>
            </a:r>
          </a:p>
          <a:p>
            <a:pPr lvl="1" algn="just">
              <a:buFont typeface="Arial" panose="020B0604020202020204" pitchFamily="34" charset="0"/>
              <a:buChar char="•"/>
            </a:pPr>
            <a:r>
              <a:rPr lang="en-US" sz="1600" dirty="0"/>
              <a:t>Create a model in Django to store data in the database conveniently. Moreover, we can use the admin panel of Django to create, update, delete, or retrieve fields of a model and various similar operations. Django models provide simplicity, consistency, version control, and advanced metadata handling. The basics of a model include – </a:t>
            </a:r>
          </a:p>
          <a:p>
            <a:pPr lvl="1" algn="just">
              <a:buFont typeface="Arial" panose="020B0604020202020204" pitchFamily="34" charset="0"/>
              <a:buChar char="•"/>
            </a:pPr>
            <a:r>
              <a:rPr lang="en-US" sz="1600" dirty="0"/>
              <a:t>Each model is a Python class that subclasses </a:t>
            </a:r>
            <a:r>
              <a:rPr lang="en-US" sz="1600" b="1" dirty="0" err="1"/>
              <a:t>django.db.models.Model</a:t>
            </a:r>
            <a:r>
              <a:rPr lang="en-US" sz="1600" b="1" dirty="0"/>
              <a:t>.</a:t>
            </a:r>
          </a:p>
          <a:p>
            <a:pPr lvl="1" algn="just">
              <a:buFont typeface="Arial" panose="020B0604020202020204" pitchFamily="34" charset="0"/>
              <a:buChar char="•"/>
            </a:pPr>
            <a:r>
              <a:rPr lang="en-US" sz="1600" dirty="0"/>
              <a:t>Each attribute of the model represents a database field. </a:t>
            </a:r>
          </a:p>
          <a:p>
            <a:pPr lvl="1" algn="just">
              <a:buFont typeface="Arial" panose="020B0604020202020204" pitchFamily="34" charset="0"/>
              <a:buChar char="•"/>
            </a:pPr>
            <a:r>
              <a:rPr lang="en-US" sz="1600" dirty="0"/>
              <a:t>With all of this, Django gives you an automatically generated database-access API. Now we will see how Django allows us to work with data, without having to change or upload files in the process.</a:t>
            </a:r>
          </a:p>
        </p:txBody>
      </p:sp>
    </p:spTree>
    <p:extLst>
      <p:ext uri="{BB962C8B-B14F-4D97-AF65-F5344CB8AC3E}">
        <p14:creationId xmlns:p14="http://schemas.microsoft.com/office/powerpoint/2010/main" val="1195289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75148-1AC0-B605-D1BC-540569641A37}"/>
              </a:ext>
            </a:extLst>
          </p:cNvPr>
          <p:cNvSpPr>
            <a:spLocks noGrp="1"/>
          </p:cNvSpPr>
          <p:nvPr>
            <p:ph type="title"/>
          </p:nvPr>
        </p:nvSpPr>
        <p:spPr/>
        <p:txBody>
          <a:bodyPr/>
          <a:lstStyle/>
          <a:p>
            <a:r>
              <a:rPr lang="en-US" dirty="0"/>
              <a:t>Create Table (Model)</a:t>
            </a:r>
          </a:p>
        </p:txBody>
      </p:sp>
      <p:sp>
        <p:nvSpPr>
          <p:cNvPr id="3" name="Content Placeholder 2">
            <a:extLst>
              <a:ext uri="{FF2B5EF4-FFF2-40B4-BE49-F238E27FC236}">
                <a16:creationId xmlns:a16="http://schemas.microsoft.com/office/drawing/2014/main" id="{6F06DCAC-94DE-D5AD-3B13-B2658A6D4E29}"/>
              </a:ext>
            </a:extLst>
          </p:cNvPr>
          <p:cNvSpPr>
            <a:spLocks noGrp="1"/>
          </p:cNvSpPr>
          <p:nvPr>
            <p:ph idx="1"/>
          </p:nvPr>
        </p:nvSpPr>
        <p:spPr/>
        <p:txBody>
          <a:bodyPr>
            <a:normAutofit fontScale="62500" lnSpcReduction="20000"/>
          </a:bodyPr>
          <a:lstStyle/>
          <a:p>
            <a:pPr algn="just">
              <a:buFont typeface="Arial" panose="020B0604020202020204" pitchFamily="34" charset="0"/>
              <a:buChar char="•"/>
            </a:pPr>
            <a:r>
              <a:rPr lang="en-US" dirty="0"/>
              <a:t>To create a model, navigate to the </a:t>
            </a:r>
            <a:r>
              <a:rPr lang="en-US" b="1" dirty="0" err="1"/>
              <a:t>models.py</a:t>
            </a:r>
            <a:r>
              <a:rPr lang="en-US" b="1" dirty="0"/>
              <a:t> </a:t>
            </a:r>
            <a:r>
              <a:rPr lang="en-US" dirty="0"/>
              <a:t>file in the </a:t>
            </a:r>
            <a:r>
              <a:rPr lang="en-US" b="1" dirty="0"/>
              <a:t>/members/ </a:t>
            </a:r>
            <a:r>
              <a:rPr lang="en-US" dirty="0"/>
              <a:t>folder.</a:t>
            </a:r>
          </a:p>
          <a:p>
            <a:pPr algn="just">
              <a:buFont typeface="Arial" panose="020B0604020202020204" pitchFamily="34" charset="0"/>
              <a:buChar char="•"/>
            </a:pPr>
            <a:r>
              <a:rPr lang="en-US" dirty="0"/>
              <a:t>Open it, and add a </a:t>
            </a:r>
            <a:r>
              <a:rPr lang="en-US" b="1" dirty="0"/>
              <a:t>Member</a:t>
            </a:r>
            <a:r>
              <a:rPr lang="en-US" dirty="0"/>
              <a:t> table by creating a </a:t>
            </a:r>
            <a:r>
              <a:rPr lang="en-US" b="1" dirty="0"/>
              <a:t>Member class</a:t>
            </a:r>
            <a:r>
              <a:rPr lang="en-US" dirty="0"/>
              <a:t>, and describe the table fields in it:</a:t>
            </a:r>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a:p>
            <a:pPr algn="just">
              <a:buFont typeface="Arial" panose="020B0604020202020204" pitchFamily="34" charset="0"/>
              <a:buChar char="•"/>
            </a:pPr>
            <a:r>
              <a:rPr lang="en-US" dirty="0"/>
              <a:t>The first field, </a:t>
            </a:r>
            <a:r>
              <a:rPr lang="en-US" dirty="0" err="1"/>
              <a:t>firstname</a:t>
            </a:r>
            <a:r>
              <a:rPr lang="en-US" dirty="0"/>
              <a:t>, is a Text field, and will contain the first name of the members.</a:t>
            </a:r>
          </a:p>
          <a:p>
            <a:pPr algn="just">
              <a:buFont typeface="Arial" panose="020B0604020202020204" pitchFamily="34" charset="0"/>
              <a:buChar char="•"/>
            </a:pPr>
            <a:r>
              <a:rPr lang="en-US" dirty="0"/>
              <a:t>The second field, </a:t>
            </a:r>
            <a:r>
              <a:rPr lang="en-US" dirty="0" err="1"/>
              <a:t>lastname</a:t>
            </a:r>
            <a:r>
              <a:rPr lang="en-US" dirty="0"/>
              <a:t>, is also a Text field, with the member's last name.</a:t>
            </a:r>
          </a:p>
          <a:p>
            <a:pPr algn="just">
              <a:buFont typeface="Arial" panose="020B0604020202020204" pitchFamily="34" charset="0"/>
              <a:buChar char="•"/>
            </a:pPr>
            <a:r>
              <a:rPr lang="en-US" dirty="0"/>
              <a:t>Both </a:t>
            </a:r>
            <a:r>
              <a:rPr lang="en-US" dirty="0" err="1"/>
              <a:t>firstname</a:t>
            </a:r>
            <a:r>
              <a:rPr lang="en-US" dirty="0"/>
              <a:t> and </a:t>
            </a:r>
            <a:r>
              <a:rPr lang="en-US" dirty="0" err="1"/>
              <a:t>lastname</a:t>
            </a:r>
            <a:r>
              <a:rPr lang="en-US" dirty="0"/>
              <a:t> is set up to have a maximum of 255 characters.</a:t>
            </a:r>
          </a:p>
          <a:p>
            <a:pPr algn="just">
              <a:buFont typeface="Arial" panose="020B0604020202020204" pitchFamily="34" charset="0"/>
              <a:buChar char="•"/>
            </a:pPr>
            <a:r>
              <a:rPr lang="en-US" b="1" dirty="0"/>
              <a:t>SQLite Database</a:t>
            </a:r>
          </a:p>
          <a:p>
            <a:pPr lvl="1" algn="just">
              <a:buFont typeface="Arial" panose="020B0604020202020204" pitchFamily="34" charset="0"/>
              <a:buChar char="•"/>
            </a:pPr>
            <a:r>
              <a:rPr lang="en-US" dirty="0"/>
              <a:t>When we created the Django project, we got an </a:t>
            </a:r>
            <a:r>
              <a:rPr lang="en-US" b="1" dirty="0"/>
              <a:t>empty SQLite database</a:t>
            </a:r>
            <a:r>
              <a:rPr lang="en-US" dirty="0"/>
              <a:t>.</a:t>
            </a:r>
          </a:p>
          <a:p>
            <a:pPr lvl="1" algn="just">
              <a:buFont typeface="Arial" panose="020B0604020202020204" pitchFamily="34" charset="0"/>
              <a:buChar char="•"/>
            </a:pPr>
            <a:r>
              <a:rPr lang="en-US" dirty="0"/>
              <a:t>It was created in the </a:t>
            </a:r>
            <a:r>
              <a:rPr lang="en-US" b="1" dirty="0" err="1"/>
              <a:t>my_tennis_club</a:t>
            </a:r>
            <a:r>
              <a:rPr lang="en-US" b="1" dirty="0"/>
              <a:t> root folder, and has the filename db.sqlite3</a:t>
            </a:r>
            <a:r>
              <a:rPr lang="en-US" dirty="0"/>
              <a:t>.</a:t>
            </a:r>
          </a:p>
          <a:p>
            <a:pPr lvl="1" algn="just">
              <a:buFont typeface="Arial" panose="020B0604020202020204" pitchFamily="34" charset="0"/>
              <a:buChar char="•"/>
            </a:pPr>
            <a:r>
              <a:rPr lang="en-US" dirty="0"/>
              <a:t>By default, all Models created in the Django project will be created as tables in this database.</a:t>
            </a:r>
          </a:p>
          <a:p>
            <a:pPr algn="just">
              <a:buFont typeface="Arial" panose="020B0604020202020204" pitchFamily="34" charset="0"/>
              <a:buChar char="•"/>
            </a:pPr>
            <a:endParaRPr lang="en-US" dirty="0"/>
          </a:p>
          <a:p>
            <a:pPr marL="0" indent="0" algn="just">
              <a:buNone/>
            </a:pPr>
            <a:endParaRPr lang="en-US" dirty="0"/>
          </a:p>
        </p:txBody>
      </p:sp>
      <p:pic>
        <p:nvPicPr>
          <p:cNvPr id="5" name="Picture 4" descr="A screenshot of a computer&#10;&#10;Description automatically generated">
            <a:extLst>
              <a:ext uri="{FF2B5EF4-FFF2-40B4-BE49-F238E27FC236}">
                <a16:creationId xmlns:a16="http://schemas.microsoft.com/office/drawing/2014/main" id="{30CC4BEF-3C7C-EA5C-71DF-B565C70AEDC3}"/>
              </a:ext>
            </a:extLst>
          </p:cNvPr>
          <p:cNvPicPr>
            <a:picLocks noChangeAspect="1"/>
          </p:cNvPicPr>
          <p:nvPr/>
        </p:nvPicPr>
        <p:blipFill>
          <a:blip r:embed="rId2"/>
          <a:stretch>
            <a:fillRect/>
          </a:stretch>
        </p:blipFill>
        <p:spPr>
          <a:xfrm>
            <a:off x="2780870" y="2679883"/>
            <a:ext cx="2554263" cy="972108"/>
          </a:xfrm>
          <a:prstGeom prst="rect">
            <a:avLst/>
          </a:prstGeom>
        </p:spPr>
      </p:pic>
    </p:spTree>
    <p:extLst>
      <p:ext uri="{BB962C8B-B14F-4D97-AF65-F5344CB8AC3E}">
        <p14:creationId xmlns:p14="http://schemas.microsoft.com/office/powerpoint/2010/main" val="22927442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3D835-59AE-4FA3-BEF2-C1F2B4DD81CB}"/>
              </a:ext>
            </a:extLst>
          </p:cNvPr>
          <p:cNvSpPr>
            <a:spLocks noGrp="1"/>
          </p:cNvSpPr>
          <p:nvPr>
            <p:ph type="title"/>
          </p:nvPr>
        </p:nvSpPr>
        <p:spPr/>
        <p:txBody>
          <a:bodyPr/>
          <a:lstStyle/>
          <a:p>
            <a:r>
              <a:rPr lang="en-US" dirty="0"/>
              <a:t>Migrate</a:t>
            </a:r>
          </a:p>
        </p:txBody>
      </p:sp>
      <p:sp>
        <p:nvSpPr>
          <p:cNvPr id="3" name="Content Placeholder 2">
            <a:extLst>
              <a:ext uri="{FF2B5EF4-FFF2-40B4-BE49-F238E27FC236}">
                <a16:creationId xmlns:a16="http://schemas.microsoft.com/office/drawing/2014/main" id="{EB646F5E-7B4D-61E0-6269-B56D472760F9}"/>
              </a:ext>
            </a:extLst>
          </p:cNvPr>
          <p:cNvSpPr>
            <a:spLocks noGrp="1"/>
          </p:cNvSpPr>
          <p:nvPr>
            <p:ph idx="1"/>
          </p:nvPr>
        </p:nvSpPr>
        <p:spPr/>
        <p:txBody>
          <a:bodyPr>
            <a:normAutofit fontScale="92500"/>
          </a:bodyPr>
          <a:lstStyle/>
          <a:p>
            <a:pPr algn="just">
              <a:buFont typeface="Arial" panose="020B0604020202020204" pitchFamily="34" charset="0"/>
              <a:buChar char="•"/>
            </a:pPr>
            <a:r>
              <a:rPr lang="en-US" sz="1600" dirty="0"/>
              <a:t>Now when we have described a Model in the </a:t>
            </a:r>
            <a:r>
              <a:rPr lang="en-US" sz="1600" dirty="0" err="1"/>
              <a:t>models.py</a:t>
            </a:r>
            <a:r>
              <a:rPr lang="en-US" sz="1600" dirty="0"/>
              <a:t> file, we must run a command to actually create the table in the database.</a:t>
            </a:r>
          </a:p>
          <a:p>
            <a:pPr algn="just">
              <a:buFont typeface="Arial" panose="020B0604020202020204" pitchFamily="34" charset="0"/>
              <a:buChar char="•"/>
            </a:pPr>
            <a:r>
              <a:rPr lang="en-US" sz="1600" dirty="0"/>
              <a:t>Navigate to the </a:t>
            </a:r>
            <a:r>
              <a:rPr lang="en-US" sz="1600" b="1" dirty="0"/>
              <a:t>/</a:t>
            </a:r>
            <a:r>
              <a:rPr lang="en-US" sz="1600" b="1" dirty="0" err="1"/>
              <a:t>my_tennis_club</a:t>
            </a:r>
            <a:r>
              <a:rPr lang="en-US" sz="1600" b="1" dirty="0"/>
              <a:t>/ folder </a:t>
            </a:r>
            <a:r>
              <a:rPr lang="en-US" sz="1600" dirty="0"/>
              <a:t>and run this command: </a:t>
            </a:r>
            <a:r>
              <a:rPr lang="en-US" sz="1600" dirty="0" err="1"/>
              <a:t>py</a:t>
            </a:r>
            <a:r>
              <a:rPr lang="en-US" sz="1600" dirty="0"/>
              <a:t> </a:t>
            </a:r>
            <a:r>
              <a:rPr lang="en-US" sz="1600" dirty="0" err="1"/>
              <a:t>manage.py</a:t>
            </a:r>
            <a:r>
              <a:rPr lang="en-US" sz="1600" dirty="0"/>
              <a:t> </a:t>
            </a:r>
            <a:r>
              <a:rPr lang="en-US" sz="1600" dirty="0" err="1"/>
              <a:t>makemigrations</a:t>
            </a:r>
            <a:r>
              <a:rPr lang="en-US" sz="1600" dirty="0"/>
              <a:t> members</a:t>
            </a:r>
          </a:p>
          <a:p>
            <a:pPr algn="just">
              <a:buFont typeface="Arial" panose="020B0604020202020204" pitchFamily="34" charset="0"/>
              <a:buChar char="•"/>
            </a:pPr>
            <a:endParaRPr lang="en-US" sz="1600" dirty="0"/>
          </a:p>
          <a:p>
            <a:pPr algn="just">
              <a:buFont typeface="Arial" panose="020B0604020202020204" pitchFamily="34" charset="0"/>
              <a:buChar char="•"/>
            </a:pPr>
            <a:r>
              <a:rPr lang="en-US" sz="1600" dirty="0"/>
              <a:t>Django creates a file describing the changes and stores the file in the /migrations/ folder:</a:t>
            </a:r>
          </a:p>
          <a:p>
            <a:pPr algn="just">
              <a:buFont typeface="Arial" panose="020B0604020202020204" pitchFamily="34" charset="0"/>
              <a:buChar char="•"/>
            </a:pPr>
            <a:br>
              <a:rPr lang="en-US" sz="1600" dirty="0"/>
            </a:br>
            <a:endParaRPr lang="en-US" sz="1600" dirty="0"/>
          </a:p>
          <a:p>
            <a:pPr algn="just">
              <a:buFont typeface="Arial" panose="020B0604020202020204" pitchFamily="34" charset="0"/>
              <a:buChar char="•"/>
            </a:pPr>
            <a:endParaRPr lang="en-US" sz="1600" dirty="0"/>
          </a:p>
          <a:p>
            <a:br>
              <a:rPr lang="en-US" dirty="0"/>
            </a:br>
            <a:endParaRPr lang="en-US" dirty="0"/>
          </a:p>
          <a:p>
            <a:endParaRPr lang="en-US" dirty="0"/>
          </a:p>
        </p:txBody>
      </p:sp>
      <p:pic>
        <p:nvPicPr>
          <p:cNvPr id="5" name="Picture 4">
            <a:extLst>
              <a:ext uri="{FF2B5EF4-FFF2-40B4-BE49-F238E27FC236}">
                <a16:creationId xmlns:a16="http://schemas.microsoft.com/office/drawing/2014/main" id="{6FA49242-F0DE-EAF2-35F0-7533F8EE06D1}"/>
              </a:ext>
            </a:extLst>
          </p:cNvPr>
          <p:cNvPicPr>
            <a:picLocks noChangeAspect="1"/>
          </p:cNvPicPr>
          <p:nvPr/>
        </p:nvPicPr>
        <p:blipFill>
          <a:blip r:embed="rId2"/>
          <a:stretch>
            <a:fillRect/>
          </a:stretch>
        </p:blipFill>
        <p:spPr>
          <a:xfrm>
            <a:off x="3575752" y="2908300"/>
            <a:ext cx="4356100" cy="520700"/>
          </a:xfrm>
          <a:prstGeom prst="rect">
            <a:avLst/>
          </a:prstGeom>
        </p:spPr>
      </p:pic>
      <p:pic>
        <p:nvPicPr>
          <p:cNvPr id="7" name="Picture 6" descr="A screen shot of a computer code&#10;&#10;Description automatically generated">
            <a:extLst>
              <a:ext uri="{FF2B5EF4-FFF2-40B4-BE49-F238E27FC236}">
                <a16:creationId xmlns:a16="http://schemas.microsoft.com/office/drawing/2014/main" id="{44F2A8B7-0925-BEEB-1EF5-183820900A52}"/>
              </a:ext>
            </a:extLst>
          </p:cNvPr>
          <p:cNvPicPr>
            <a:picLocks noChangeAspect="1"/>
          </p:cNvPicPr>
          <p:nvPr/>
        </p:nvPicPr>
        <p:blipFill>
          <a:blip r:embed="rId3"/>
          <a:stretch>
            <a:fillRect/>
          </a:stretch>
        </p:blipFill>
        <p:spPr>
          <a:xfrm>
            <a:off x="3073400" y="3812522"/>
            <a:ext cx="2586904" cy="2277128"/>
          </a:xfrm>
          <a:prstGeom prst="rect">
            <a:avLst/>
          </a:prstGeom>
        </p:spPr>
      </p:pic>
    </p:spTree>
    <p:extLst>
      <p:ext uri="{BB962C8B-B14F-4D97-AF65-F5344CB8AC3E}">
        <p14:creationId xmlns:p14="http://schemas.microsoft.com/office/powerpoint/2010/main" val="36329403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18496-42C9-93D4-B958-416962FCE505}"/>
              </a:ext>
            </a:extLst>
          </p:cNvPr>
          <p:cNvSpPr>
            <a:spLocks noGrp="1"/>
          </p:cNvSpPr>
          <p:nvPr>
            <p:ph type="title"/>
          </p:nvPr>
        </p:nvSpPr>
        <p:spPr/>
        <p:txBody>
          <a:bodyPr/>
          <a:lstStyle/>
          <a:p>
            <a:r>
              <a:rPr lang="en-US" dirty="0"/>
              <a:t>Migrate</a:t>
            </a:r>
          </a:p>
        </p:txBody>
      </p:sp>
      <p:sp>
        <p:nvSpPr>
          <p:cNvPr id="3" name="Content Placeholder 2">
            <a:extLst>
              <a:ext uri="{FF2B5EF4-FFF2-40B4-BE49-F238E27FC236}">
                <a16:creationId xmlns:a16="http://schemas.microsoft.com/office/drawing/2014/main" id="{24D389FF-11EE-5F18-04B8-542FD445AF67}"/>
              </a:ext>
            </a:extLst>
          </p:cNvPr>
          <p:cNvSpPr>
            <a:spLocks noGrp="1"/>
          </p:cNvSpPr>
          <p:nvPr>
            <p:ph idx="1"/>
          </p:nvPr>
        </p:nvSpPr>
        <p:spPr/>
        <p:txBody>
          <a:bodyPr>
            <a:normAutofit/>
          </a:bodyPr>
          <a:lstStyle/>
          <a:p>
            <a:pPr algn="just">
              <a:buFont typeface="Arial" panose="020B0604020202020204" pitchFamily="34" charset="0"/>
              <a:buChar char="•"/>
            </a:pPr>
            <a:r>
              <a:rPr lang="en-US" sz="1600" dirty="0"/>
              <a:t>Note that Django inserts an id field for your tables, which is an auto increment number (first record gets the value 1, the second record 2 etc.), this is the default behavior of Django, you can override it by describing your own id field.</a:t>
            </a:r>
          </a:p>
          <a:p>
            <a:pPr algn="just">
              <a:buFont typeface="Arial" panose="020B0604020202020204" pitchFamily="34" charset="0"/>
              <a:buChar char="•"/>
            </a:pPr>
            <a:r>
              <a:rPr lang="en-US" sz="1600" dirty="0"/>
              <a:t>The table is not created yet, you will have to run one more command, then Django will create and execute an SQL statement, based on the content of the new file in the /migrations/ folder.</a:t>
            </a:r>
          </a:p>
          <a:p>
            <a:pPr algn="just">
              <a:buFont typeface="Arial" panose="020B0604020202020204" pitchFamily="34" charset="0"/>
              <a:buChar char="•"/>
            </a:pPr>
            <a:r>
              <a:rPr lang="en-US" sz="1600" dirty="0"/>
              <a:t>Run the migrate command: </a:t>
            </a:r>
            <a:r>
              <a:rPr lang="en-US" sz="1600" b="1" dirty="0" err="1"/>
              <a:t>py</a:t>
            </a:r>
            <a:r>
              <a:rPr lang="en-US" sz="1600" b="1" dirty="0"/>
              <a:t> </a:t>
            </a:r>
            <a:r>
              <a:rPr lang="en-US" sz="1600" b="1" dirty="0" err="1"/>
              <a:t>manage.py</a:t>
            </a:r>
            <a:r>
              <a:rPr lang="en-US" sz="1600" b="1" dirty="0"/>
              <a:t> migrate</a:t>
            </a:r>
          </a:p>
          <a:p>
            <a:pPr algn="just">
              <a:buFont typeface="Arial" panose="020B0604020202020204" pitchFamily="34" charset="0"/>
              <a:buChar char="•"/>
            </a:pPr>
            <a:r>
              <a:rPr lang="en-US" sz="1600" dirty="0"/>
              <a:t>Which will result in this output:</a:t>
            </a:r>
          </a:p>
          <a:p>
            <a:pPr algn="just">
              <a:buFont typeface="Arial" panose="020B0604020202020204" pitchFamily="34" charset="0"/>
              <a:buChar char="•"/>
            </a:pPr>
            <a:endParaRPr lang="en-US" sz="1600" b="1" dirty="0"/>
          </a:p>
          <a:p>
            <a:pPr algn="just">
              <a:buFont typeface="Arial" panose="020B0604020202020204" pitchFamily="34" charset="0"/>
              <a:buChar char="•"/>
            </a:pPr>
            <a:endParaRPr lang="en-US" sz="1600" b="1" dirty="0"/>
          </a:p>
          <a:p>
            <a:pPr algn="just">
              <a:buFont typeface="Arial" panose="020B0604020202020204" pitchFamily="34" charset="0"/>
              <a:buChar char="•"/>
            </a:pPr>
            <a:r>
              <a:rPr lang="en-US" sz="1600" dirty="0"/>
              <a:t>Now you have a</a:t>
            </a:r>
            <a:r>
              <a:rPr lang="en-US" sz="1600" b="1" dirty="0"/>
              <a:t> Member table </a:t>
            </a:r>
            <a:r>
              <a:rPr lang="en-US" sz="1600" dirty="0"/>
              <a:t>in your database!</a:t>
            </a:r>
          </a:p>
        </p:txBody>
      </p:sp>
      <p:pic>
        <p:nvPicPr>
          <p:cNvPr id="5" name="Picture 4" descr="A screenshot of a computer code&#10;&#10;Description automatically generated">
            <a:extLst>
              <a:ext uri="{FF2B5EF4-FFF2-40B4-BE49-F238E27FC236}">
                <a16:creationId xmlns:a16="http://schemas.microsoft.com/office/drawing/2014/main" id="{7B4260D2-84BE-B84F-C8B3-BBDB67BFF93A}"/>
              </a:ext>
            </a:extLst>
          </p:cNvPr>
          <p:cNvPicPr>
            <a:picLocks noChangeAspect="1"/>
          </p:cNvPicPr>
          <p:nvPr/>
        </p:nvPicPr>
        <p:blipFill>
          <a:blip r:embed="rId2"/>
          <a:stretch>
            <a:fillRect/>
          </a:stretch>
        </p:blipFill>
        <p:spPr>
          <a:xfrm>
            <a:off x="3288553" y="4506085"/>
            <a:ext cx="4716592" cy="761533"/>
          </a:xfrm>
          <a:prstGeom prst="rect">
            <a:avLst/>
          </a:prstGeom>
        </p:spPr>
      </p:pic>
    </p:spTree>
    <p:extLst>
      <p:ext uri="{BB962C8B-B14F-4D97-AF65-F5344CB8AC3E}">
        <p14:creationId xmlns:p14="http://schemas.microsoft.com/office/powerpoint/2010/main" val="9968047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87731-F7C0-07BE-6AAC-138BA8C931F8}"/>
              </a:ext>
            </a:extLst>
          </p:cNvPr>
          <p:cNvSpPr>
            <a:spLocks noGrp="1"/>
          </p:cNvSpPr>
          <p:nvPr>
            <p:ph type="title"/>
          </p:nvPr>
        </p:nvSpPr>
        <p:spPr/>
        <p:txBody>
          <a:bodyPr/>
          <a:lstStyle/>
          <a:p>
            <a:r>
              <a:rPr lang="en-US" dirty="0"/>
              <a:t>View SQL</a:t>
            </a:r>
          </a:p>
        </p:txBody>
      </p:sp>
      <p:sp>
        <p:nvSpPr>
          <p:cNvPr id="3" name="Content Placeholder 2">
            <a:extLst>
              <a:ext uri="{FF2B5EF4-FFF2-40B4-BE49-F238E27FC236}">
                <a16:creationId xmlns:a16="http://schemas.microsoft.com/office/drawing/2014/main" id="{713BF4DF-071D-AF9C-6518-6A2D56333870}"/>
              </a:ext>
            </a:extLst>
          </p:cNvPr>
          <p:cNvSpPr>
            <a:spLocks noGrp="1"/>
          </p:cNvSpPr>
          <p:nvPr>
            <p:ph idx="1"/>
          </p:nvPr>
        </p:nvSpPr>
        <p:spPr/>
        <p:txBody>
          <a:bodyPr/>
          <a:lstStyle/>
          <a:p>
            <a:pPr algn="just">
              <a:buFont typeface="Arial" panose="020B0604020202020204" pitchFamily="34" charset="0"/>
              <a:buChar char="•"/>
            </a:pPr>
            <a:r>
              <a:rPr lang="en-US" sz="1600" dirty="0"/>
              <a:t>As a side-note: you can view the SQL statement that were executed from the migration before. </a:t>
            </a:r>
          </a:p>
          <a:p>
            <a:pPr algn="just">
              <a:buFont typeface="Arial" panose="020B0604020202020204" pitchFamily="34" charset="0"/>
              <a:buChar char="•"/>
            </a:pPr>
            <a:r>
              <a:rPr lang="en-US" sz="1600" dirty="0"/>
              <a:t>All you have to do is to run this command, with the migration number: </a:t>
            </a:r>
            <a:r>
              <a:rPr lang="en-US" sz="1600" b="1" dirty="0" err="1"/>
              <a:t>py</a:t>
            </a:r>
            <a:r>
              <a:rPr lang="en-US" sz="1600" b="1" dirty="0"/>
              <a:t> </a:t>
            </a:r>
            <a:r>
              <a:rPr lang="en-US" sz="1600" b="1" dirty="0" err="1"/>
              <a:t>manage.py</a:t>
            </a:r>
            <a:r>
              <a:rPr lang="en-US" sz="1600" b="1" dirty="0"/>
              <a:t> </a:t>
            </a:r>
            <a:r>
              <a:rPr lang="en-US" sz="1600" b="1" dirty="0" err="1"/>
              <a:t>sqlmigrate</a:t>
            </a:r>
            <a:r>
              <a:rPr lang="en-US" sz="1600" b="1" dirty="0"/>
              <a:t> members 0001</a:t>
            </a:r>
          </a:p>
          <a:p>
            <a:pPr algn="just">
              <a:buFont typeface="Arial" panose="020B0604020202020204" pitchFamily="34" charset="0"/>
              <a:buChar char="•"/>
            </a:pPr>
            <a:r>
              <a:rPr lang="en-US" sz="1600" dirty="0"/>
              <a:t>Which will result in this output:</a:t>
            </a:r>
          </a:p>
          <a:p>
            <a:br>
              <a:rPr lang="en-US" dirty="0"/>
            </a:br>
            <a:endParaRPr lang="en-US" dirty="0"/>
          </a:p>
          <a:p>
            <a:endParaRPr lang="en-US" dirty="0"/>
          </a:p>
        </p:txBody>
      </p:sp>
      <p:pic>
        <p:nvPicPr>
          <p:cNvPr id="5" name="Picture 4">
            <a:extLst>
              <a:ext uri="{FF2B5EF4-FFF2-40B4-BE49-F238E27FC236}">
                <a16:creationId xmlns:a16="http://schemas.microsoft.com/office/drawing/2014/main" id="{1CFE5B50-9954-8395-F066-B3D34C0A5DDD}"/>
              </a:ext>
            </a:extLst>
          </p:cNvPr>
          <p:cNvPicPr>
            <a:picLocks noChangeAspect="1"/>
          </p:cNvPicPr>
          <p:nvPr/>
        </p:nvPicPr>
        <p:blipFill>
          <a:blip r:embed="rId2"/>
          <a:stretch>
            <a:fillRect/>
          </a:stretch>
        </p:blipFill>
        <p:spPr>
          <a:xfrm>
            <a:off x="2417830" y="4142670"/>
            <a:ext cx="7772400" cy="928267"/>
          </a:xfrm>
          <a:prstGeom prst="rect">
            <a:avLst/>
          </a:prstGeom>
        </p:spPr>
      </p:pic>
    </p:spTree>
    <p:extLst>
      <p:ext uri="{BB962C8B-B14F-4D97-AF65-F5344CB8AC3E}">
        <p14:creationId xmlns:p14="http://schemas.microsoft.com/office/powerpoint/2010/main" val="3627526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4DF1B-DA33-163B-5040-3EB0ABA1B216}"/>
              </a:ext>
            </a:extLst>
          </p:cNvPr>
          <p:cNvSpPr>
            <a:spLocks noGrp="1"/>
          </p:cNvSpPr>
          <p:nvPr>
            <p:ph type="title"/>
          </p:nvPr>
        </p:nvSpPr>
        <p:spPr/>
        <p:txBody>
          <a:bodyPr/>
          <a:lstStyle/>
          <a:p>
            <a:r>
              <a:rPr lang="en-US" dirty="0"/>
              <a:t>Django Admin</a:t>
            </a:r>
          </a:p>
        </p:txBody>
      </p:sp>
      <p:sp>
        <p:nvSpPr>
          <p:cNvPr id="3" name="Content Placeholder 2">
            <a:extLst>
              <a:ext uri="{FF2B5EF4-FFF2-40B4-BE49-F238E27FC236}">
                <a16:creationId xmlns:a16="http://schemas.microsoft.com/office/drawing/2014/main" id="{2BC3C535-AE67-5472-CDDA-98A375795743}"/>
              </a:ext>
            </a:extLst>
          </p:cNvPr>
          <p:cNvSpPr>
            <a:spLocks noGrp="1"/>
          </p:cNvSpPr>
          <p:nvPr>
            <p:ph idx="1"/>
          </p:nvPr>
        </p:nvSpPr>
        <p:spPr/>
        <p:txBody>
          <a:bodyPr/>
          <a:lstStyle/>
          <a:p>
            <a:pPr algn="just">
              <a:buFont typeface="Arial" panose="020B0604020202020204" pitchFamily="34" charset="0"/>
              <a:buChar char="•"/>
            </a:pPr>
            <a:r>
              <a:rPr lang="en-US" dirty="0"/>
              <a:t>Django Admin is a really great tool in Django, it is actually a CRUD* user interface of all your models!</a:t>
            </a:r>
          </a:p>
          <a:p>
            <a:pPr algn="just">
              <a:buFont typeface="Arial" panose="020B0604020202020204" pitchFamily="34" charset="0"/>
              <a:buChar char="•"/>
            </a:pPr>
            <a:r>
              <a:rPr lang="en-US" dirty="0"/>
              <a:t>*CRUD stands for Create Read Update Delete.</a:t>
            </a:r>
          </a:p>
          <a:p>
            <a:pPr algn="just">
              <a:buFont typeface="Arial" panose="020B0604020202020204" pitchFamily="34" charset="0"/>
              <a:buChar char="•"/>
            </a:pPr>
            <a:r>
              <a:rPr lang="en-US" dirty="0"/>
              <a:t>It is free and comes ready-to-use with Django:</a:t>
            </a:r>
          </a:p>
          <a:p>
            <a:endParaRPr lang="en-US" dirty="0"/>
          </a:p>
        </p:txBody>
      </p:sp>
      <p:pic>
        <p:nvPicPr>
          <p:cNvPr id="5" name="Picture 4" descr="A screenshot of a computer&#10;&#10;Description automatically generated">
            <a:extLst>
              <a:ext uri="{FF2B5EF4-FFF2-40B4-BE49-F238E27FC236}">
                <a16:creationId xmlns:a16="http://schemas.microsoft.com/office/drawing/2014/main" id="{1EB3E129-A936-CACB-494F-F17914122DA4}"/>
              </a:ext>
            </a:extLst>
          </p:cNvPr>
          <p:cNvPicPr>
            <a:picLocks noChangeAspect="1"/>
          </p:cNvPicPr>
          <p:nvPr/>
        </p:nvPicPr>
        <p:blipFill>
          <a:blip r:embed="rId2"/>
          <a:stretch>
            <a:fillRect/>
          </a:stretch>
        </p:blipFill>
        <p:spPr>
          <a:xfrm>
            <a:off x="6924040" y="2887938"/>
            <a:ext cx="4719344" cy="3171486"/>
          </a:xfrm>
          <a:prstGeom prst="rect">
            <a:avLst/>
          </a:prstGeom>
        </p:spPr>
      </p:pic>
    </p:spTree>
    <p:extLst>
      <p:ext uri="{BB962C8B-B14F-4D97-AF65-F5344CB8AC3E}">
        <p14:creationId xmlns:p14="http://schemas.microsoft.com/office/powerpoint/2010/main" val="40333078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7F4DB-6B75-B12F-4193-96AF27783CB0}"/>
              </a:ext>
            </a:extLst>
          </p:cNvPr>
          <p:cNvSpPr>
            <a:spLocks noGrp="1"/>
          </p:cNvSpPr>
          <p:nvPr>
            <p:ph type="title"/>
          </p:nvPr>
        </p:nvSpPr>
        <p:spPr/>
        <p:txBody>
          <a:bodyPr/>
          <a:lstStyle/>
          <a:p>
            <a:r>
              <a:rPr lang="en-US" dirty="0"/>
              <a:t>Getting Started</a:t>
            </a:r>
          </a:p>
        </p:txBody>
      </p:sp>
      <p:sp>
        <p:nvSpPr>
          <p:cNvPr id="3" name="Content Placeholder 2">
            <a:extLst>
              <a:ext uri="{FF2B5EF4-FFF2-40B4-BE49-F238E27FC236}">
                <a16:creationId xmlns:a16="http://schemas.microsoft.com/office/drawing/2014/main" id="{5F0A0E3E-3AAF-E285-BF63-B547536743E0}"/>
              </a:ext>
            </a:extLst>
          </p:cNvPr>
          <p:cNvSpPr>
            <a:spLocks noGrp="1"/>
          </p:cNvSpPr>
          <p:nvPr>
            <p:ph idx="1"/>
          </p:nvPr>
        </p:nvSpPr>
        <p:spPr>
          <a:xfrm>
            <a:off x="1097280" y="2108201"/>
            <a:ext cx="10058400" cy="3760891"/>
          </a:xfrm>
        </p:spPr>
        <p:txBody>
          <a:bodyPr>
            <a:normAutofit/>
          </a:bodyPr>
          <a:lstStyle/>
          <a:p>
            <a:pPr algn="just">
              <a:buFont typeface="Arial" panose="020B0604020202020204" pitchFamily="34" charset="0"/>
              <a:buChar char="•"/>
            </a:pPr>
            <a:r>
              <a:rPr lang="en-US" dirty="0"/>
              <a:t>To enter the admin user interface, start the server by navigating to the </a:t>
            </a:r>
            <a:r>
              <a:rPr lang="en-US" b="1" dirty="0"/>
              <a:t>/</a:t>
            </a:r>
            <a:r>
              <a:rPr lang="en-US" b="1" dirty="0" err="1"/>
              <a:t>yourproject</a:t>
            </a:r>
            <a:r>
              <a:rPr lang="en-US" b="1" dirty="0"/>
              <a:t> folder </a:t>
            </a:r>
            <a:r>
              <a:rPr lang="en-US" dirty="0"/>
              <a:t>and execute this command: </a:t>
            </a:r>
            <a:r>
              <a:rPr lang="en-US" b="1" dirty="0" err="1"/>
              <a:t>py</a:t>
            </a:r>
            <a:r>
              <a:rPr lang="en-US" b="1" dirty="0"/>
              <a:t> </a:t>
            </a:r>
            <a:r>
              <a:rPr lang="en-US" b="1" dirty="0" err="1"/>
              <a:t>manage.py</a:t>
            </a:r>
            <a:r>
              <a:rPr lang="en-US" b="1" dirty="0"/>
              <a:t> </a:t>
            </a:r>
            <a:r>
              <a:rPr lang="en-US" b="1" dirty="0" err="1"/>
              <a:t>runserver</a:t>
            </a:r>
            <a:endParaRPr lang="en-US" b="1" dirty="0"/>
          </a:p>
          <a:p>
            <a:pPr algn="just">
              <a:buFont typeface="Arial" panose="020B0604020202020204" pitchFamily="34" charset="0"/>
              <a:buChar char="•"/>
            </a:pPr>
            <a:r>
              <a:rPr lang="en-US" dirty="0"/>
              <a:t>In the browser window, type </a:t>
            </a:r>
            <a:r>
              <a:rPr lang="en-US" b="1" dirty="0"/>
              <a:t>127.0.0.1:8000/admin/ </a:t>
            </a:r>
            <a:r>
              <a:rPr lang="en-US" dirty="0"/>
              <a:t>in the address bar. The result should look like this:</a:t>
            </a:r>
          </a:p>
          <a:p>
            <a:br>
              <a:rPr lang="en-US" dirty="0"/>
            </a:br>
            <a:endParaRPr lang="en-US" dirty="0"/>
          </a:p>
          <a:p>
            <a:endParaRPr lang="en-US" dirty="0"/>
          </a:p>
        </p:txBody>
      </p:sp>
      <p:pic>
        <p:nvPicPr>
          <p:cNvPr id="5" name="Picture 4" descr="A screenshot of a computer&#10;&#10;Description automatically generated">
            <a:extLst>
              <a:ext uri="{FF2B5EF4-FFF2-40B4-BE49-F238E27FC236}">
                <a16:creationId xmlns:a16="http://schemas.microsoft.com/office/drawing/2014/main" id="{2BBC2B39-8F0E-53F1-4A8F-2157405A3F4F}"/>
              </a:ext>
            </a:extLst>
          </p:cNvPr>
          <p:cNvPicPr>
            <a:picLocks noChangeAspect="1"/>
          </p:cNvPicPr>
          <p:nvPr/>
        </p:nvPicPr>
        <p:blipFill>
          <a:blip r:embed="rId2"/>
          <a:stretch>
            <a:fillRect/>
          </a:stretch>
        </p:blipFill>
        <p:spPr>
          <a:xfrm>
            <a:off x="4135882" y="3612297"/>
            <a:ext cx="4093718" cy="2733055"/>
          </a:xfrm>
          <a:prstGeom prst="rect">
            <a:avLst/>
          </a:prstGeom>
        </p:spPr>
      </p:pic>
    </p:spTree>
    <p:extLst>
      <p:ext uri="{BB962C8B-B14F-4D97-AF65-F5344CB8AC3E}">
        <p14:creationId xmlns:p14="http://schemas.microsoft.com/office/powerpoint/2010/main" val="25259027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2B342-90F3-4F97-CE35-360212DA38AF}"/>
              </a:ext>
            </a:extLst>
          </p:cNvPr>
          <p:cNvSpPr>
            <a:spLocks noGrp="1"/>
          </p:cNvSpPr>
          <p:nvPr>
            <p:ph type="title"/>
          </p:nvPr>
        </p:nvSpPr>
        <p:spPr/>
        <p:txBody>
          <a:bodyPr/>
          <a:lstStyle/>
          <a:p>
            <a:r>
              <a:rPr lang="en-US" dirty="0"/>
              <a:t>Getting Started</a:t>
            </a:r>
          </a:p>
        </p:txBody>
      </p:sp>
      <p:sp>
        <p:nvSpPr>
          <p:cNvPr id="3" name="Content Placeholder 2">
            <a:extLst>
              <a:ext uri="{FF2B5EF4-FFF2-40B4-BE49-F238E27FC236}">
                <a16:creationId xmlns:a16="http://schemas.microsoft.com/office/drawing/2014/main" id="{4DD22213-F65E-B6C2-B601-3CBC6786A177}"/>
              </a:ext>
            </a:extLst>
          </p:cNvPr>
          <p:cNvSpPr>
            <a:spLocks noGrp="1"/>
          </p:cNvSpPr>
          <p:nvPr>
            <p:ph idx="1"/>
          </p:nvPr>
        </p:nvSpPr>
        <p:spPr>
          <a:xfrm>
            <a:off x="1097280" y="2108201"/>
            <a:ext cx="10192512" cy="4365751"/>
          </a:xfrm>
        </p:spPr>
        <p:txBody>
          <a:bodyPr>
            <a:normAutofit fontScale="77500" lnSpcReduction="20000"/>
          </a:bodyPr>
          <a:lstStyle/>
          <a:p>
            <a:pPr algn="just">
              <a:buFont typeface="Arial" panose="020B0604020202020204" pitchFamily="34" charset="0"/>
              <a:buChar char="•"/>
            </a:pPr>
            <a:r>
              <a:rPr lang="en-US" dirty="0"/>
              <a:t>The reason why this URL goes to the Django admin log in page can be found in the </a:t>
            </a:r>
            <a:r>
              <a:rPr lang="en-US" dirty="0" err="1"/>
              <a:t>urls.py</a:t>
            </a:r>
            <a:r>
              <a:rPr lang="en-US" dirty="0"/>
              <a:t> file of your project:</a:t>
            </a:r>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a:p>
            <a:pPr>
              <a:buFont typeface="Arial" panose="020B0604020202020204" pitchFamily="34" charset="0"/>
              <a:buChar char="•"/>
            </a:pPr>
            <a:r>
              <a:rPr lang="en-IN" dirty="0">
                <a:effectLst/>
              </a:rPr>
              <a:t>The </a:t>
            </a:r>
            <a:r>
              <a:rPr lang="en-IN" dirty="0" err="1">
                <a:effectLst/>
              </a:rPr>
              <a:t>urlpatterns</a:t>
            </a:r>
            <a:r>
              <a:rPr lang="en-IN" dirty="0">
                <a:effectLst/>
              </a:rPr>
              <a:t>[] list takes requests going to admin/ and sends them to </a:t>
            </a:r>
            <a:r>
              <a:rPr lang="en-IN" dirty="0" err="1">
                <a:effectLst/>
              </a:rPr>
              <a:t>admin.site.urls</a:t>
            </a:r>
            <a:r>
              <a:rPr lang="en-IN" dirty="0">
                <a:effectLst/>
              </a:rPr>
              <a:t>, which is part of a built-in application that comes with Django, and contains a lot of functionality and user interfaces, one of them being the log-in user interface.</a:t>
            </a:r>
            <a:br>
              <a:rPr lang="en-US" dirty="0"/>
            </a:br>
            <a:endParaRPr lang="en-US" dirty="0"/>
          </a:p>
          <a:p>
            <a:endParaRPr lang="en-US" dirty="0"/>
          </a:p>
        </p:txBody>
      </p:sp>
      <p:pic>
        <p:nvPicPr>
          <p:cNvPr id="5" name="Picture 4" descr="A screenshot of a computer code&#10;&#10;Description automatically generated">
            <a:extLst>
              <a:ext uri="{FF2B5EF4-FFF2-40B4-BE49-F238E27FC236}">
                <a16:creationId xmlns:a16="http://schemas.microsoft.com/office/drawing/2014/main" id="{0413DCDA-C333-E610-6EE2-828881E7DCA7}"/>
              </a:ext>
            </a:extLst>
          </p:cNvPr>
          <p:cNvPicPr>
            <a:picLocks noChangeAspect="1"/>
          </p:cNvPicPr>
          <p:nvPr/>
        </p:nvPicPr>
        <p:blipFill>
          <a:blip r:embed="rId2"/>
          <a:stretch>
            <a:fillRect/>
          </a:stretch>
        </p:blipFill>
        <p:spPr>
          <a:xfrm>
            <a:off x="4005072" y="2474795"/>
            <a:ext cx="3949237" cy="2365429"/>
          </a:xfrm>
          <a:prstGeom prst="rect">
            <a:avLst/>
          </a:prstGeom>
        </p:spPr>
      </p:pic>
    </p:spTree>
    <p:extLst>
      <p:ext uri="{BB962C8B-B14F-4D97-AF65-F5344CB8AC3E}">
        <p14:creationId xmlns:p14="http://schemas.microsoft.com/office/powerpoint/2010/main" val="15038962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AF503-88F8-3DA4-7C5D-22EC9CEAECA0}"/>
              </a:ext>
            </a:extLst>
          </p:cNvPr>
          <p:cNvSpPr>
            <a:spLocks noGrp="1"/>
          </p:cNvSpPr>
          <p:nvPr>
            <p:ph type="title"/>
          </p:nvPr>
        </p:nvSpPr>
        <p:spPr/>
        <p:txBody>
          <a:bodyPr/>
          <a:lstStyle/>
          <a:p>
            <a:r>
              <a:rPr lang="en-US" dirty="0"/>
              <a:t>Django Admin - Create User</a:t>
            </a:r>
          </a:p>
        </p:txBody>
      </p:sp>
      <p:sp>
        <p:nvSpPr>
          <p:cNvPr id="3" name="Content Placeholder 2">
            <a:extLst>
              <a:ext uri="{FF2B5EF4-FFF2-40B4-BE49-F238E27FC236}">
                <a16:creationId xmlns:a16="http://schemas.microsoft.com/office/drawing/2014/main" id="{38395FC6-AAAF-7E80-7669-423290AB6063}"/>
              </a:ext>
            </a:extLst>
          </p:cNvPr>
          <p:cNvSpPr>
            <a:spLocks noGrp="1"/>
          </p:cNvSpPr>
          <p:nvPr>
            <p:ph idx="1"/>
          </p:nvPr>
        </p:nvSpPr>
        <p:spPr/>
        <p:txBody>
          <a:bodyPr/>
          <a:lstStyle/>
          <a:p>
            <a:pPr algn="just">
              <a:buFont typeface="Arial" panose="020B0604020202020204" pitchFamily="34" charset="0"/>
              <a:buChar char="•"/>
            </a:pPr>
            <a:r>
              <a:rPr lang="en-US" dirty="0"/>
              <a:t>To be able to log into the admin application, we need to create a user.</a:t>
            </a:r>
          </a:p>
          <a:p>
            <a:pPr algn="just">
              <a:buFont typeface="Arial" panose="020B0604020202020204" pitchFamily="34" charset="0"/>
              <a:buChar char="•"/>
            </a:pPr>
            <a:r>
              <a:rPr lang="en-US" dirty="0"/>
              <a:t>This is done by typing this command in the command view: </a:t>
            </a:r>
          </a:p>
          <a:p>
            <a:pPr marL="0" indent="0" algn="ctr">
              <a:buNone/>
            </a:pPr>
            <a:r>
              <a:rPr lang="en-US" b="1" dirty="0" err="1"/>
              <a:t>py</a:t>
            </a:r>
            <a:r>
              <a:rPr lang="en-US" b="1" dirty="0"/>
              <a:t> </a:t>
            </a:r>
            <a:r>
              <a:rPr lang="en-US" b="1" dirty="0" err="1"/>
              <a:t>manage.py</a:t>
            </a:r>
            <a:r>
              <a:rPr lang="en-US" b="1" dirty="0"/>
              <a:t> </a:t>
            </a:r>
            <a:r>
              <a:rPr lang="en-US" b="1" dirty="0" err="1"/>
              <a:t>createsuperuser</a:t>
            </a:r>
            <a:endParaRPr lang="en-US" b="1" dirty="0"/>
          </a:p>
          <a:p>
            <a:pPr algn="just">
              <a:buFont typeface="Arial" panose="020B0604020202020204" pitchFamily="34" charset="0"/>
              <a:buChar char="•"/>
            </a:pPr>
            <a:r>
              <a:rPr lang="en-US" dirty="0"/>
              <a:t>Which will give this prompt and you must enter: username, e-mail address, (you can just pick a fake e-mail address), and password:</a:t>
            </a:r>
          </a:p>
          <a:p>
            <a:pPr algn="just">
              <a:buFont typeface="Arial" panose="020B0604020202020204" pitchFamily="34" charset="0"/>
              <a:buChar char="•"/>
            </a:pPr>
            <a:br>
              <a:rPr lang="en-US" dirty="0"/>
            </a:br>
            <a:endParaRPr lang="en-US" dirty="0"/>
          </a:p>
          <a:p>
            <a:pPr algn="just">
              <a:buFont typeface="Arial" panose="020B0604020202020204" pitchFamily="34" charset="0"/>
              <a:buChar char="•"/>
            </a:pPr>
            <a:endParaRPr lang="en-US" dirty="0"/>
          </a:p>
          <a:p>
            <a:endParaRPr lang="en-US" dirty="0"/>
          </a:p>
        </p:txBody>
      </p:sp>
      <p:pic>
        <p:nvPicPr>
          <p:cNvPr id="5" name="Picture 4" descr="A black screen with white text&#10;&#10;Description automatically generated">
            <a:extLst>
              <a:ext uri="{FF2B5EF4-FFF2-40B4-BE49-F238E27FC236}">
                <a16:creationId xmlns:a16="http://schemas.microsoft.com/office/drawing/2014/main" id="{8CC2F1AB-BA9D-4D1A-48D3-CBC3E5078308}"/>
              </a:ext>
            </a:extLst>
          </p:cNvPr>
          <p:cNvPicPr>
            <a:picLocks noChangeAspect="1"/>
          </p:cNvPicPr>
          <p:nvPr/>
        </p:nvPicPr>
        <p:blipFill>
          <a:blip r:embed="rId2"/>
          <a:stretch>
            <a:fillRect/>
          </a:stretch>
        </p:blipFill>
        <p:spPr>
          <a:xfrm>
            <a:off x="3221868" y="4572000"/>
            <a:ext cx="5809224" cy="1814237"/>
          </a:xfrm>
          <a:prstGeom prst="rect">
            <a:avLst/>
          </a:prstGeom>
        </p:spPr>
      </p:pic>
    </p:spTree>
    <p:extLst>
      <p:ext uri="{BB962C8B-B14F-4D97-AF65-F5344CB8AC3E}">
        <p14:creationId xmlns:p14="http://schemas.microsoft.com/office/powerpoint/2010/main" val="24418763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1C99D-1129-7952-7BFA-CFB755259C34}"/>
              </a:ext>
            </a:extLst>
          </p:cNvPr>
          <p:cNvSpPr>
            <a:spLocks noGrp="1"/>
          </p:cNvSpPr>
          <p:nvPr>
            <p:ph type="title"/>
          </p:nvPr>
        </p:nvSpPr>
        <p:spPr/>
        <p:txBody>
          <a:bodyPr/>
          <a:lstStyle/>
          <a:p>
            <a:r>
              <a:rPr lang="en-US" dirty="0"/>
              <a:t>Django Admin - Create User</a:t>
            </a:r>
          </a:p>
        </p:txBody>
      </p:sp>
      <p:sp>
        <p:nvSpPr>
          <p:cNvPr id="3" name="Content Placeholder 2">
            <a:extLst>
              <a:ext uri="{FF2B5EF4-FFF2-40B4-BE49-F238E27FC236}">
                <a16:creationId xmlns:a16="http://schemas.microsoft.com/office/drawing/2014/main" id="{EB1617C7-1DFE-DABF-65DC-4A6CF384B195}"/>
              </a:ext>
            </a:extLst>
          </p:cNvPr>
          <p:cNvSpPr>
            <a:spLocks noGrp="1"/>
          </p:cNvSpPr>
          <p:nvPr>
            <p:ph idx="1"/>
          </p:nvPr>
        </p:nvSpPr>
        <p:spPr/>
        <p:txBody>
          <a:bodyPr/>
          <a:lstStyle/>
          <a:p>
            <a:pPr algn="just">
              <a:buFont typeface="Arial" panose="020B0604020202020204" pitchFamily="34" charset="0"/>
              <a:buChar char="•"/>
            </a:pPr>
            <a:r>
              <a:rPr lang="en-US" dirty="0"/>
              <a:t>Now start the server again: </a:t>
            </a:r>
            <a:r>
              <a:rPr lang="en-US" b="1" dirty="0" err="1"/>
              <a:t>py</a:t>
            </a:r>
            <a:r>
              <a:rPr lang="en-US" b="1" dirty="0"/>
              <a:t> </a:t>
            </a:r>
            <a:r>
              <a:rPr lang="en-US" b="1" dirty="0" err="1"/>
              <a:t>manage.py</a:t>
            </a:r>
            <a:r>
              <a:rPr lang="en-US" b="1" dirty="0"/>
              <a:t> </a:t>
            </a:r>
            <a:r>
              <a:rPr lang="en-US" b="1" dirty="0" err="1"/>
              <a:t>runserver</a:t>
            </a:r>
            <a:endParaRPr lang="en-US" b="1" dirty="0"/>
          </a:p>
          <a:p>
            <a:pPr algn="just">
              <a:buFont typeface="Arial" panose="020B0604020202020204" pitchFamily="34" charset="0"/>
              <a:buChar char="•"/>
            </a:pPr>
            <a:r>
              <a:rPr lang="en-US" dirty="0"/>
              <a:t>And fill in the form with the correct username and password:</a:t>
            </a:r>
          </a:p>
          <a:p>
            <a:pPr algn="just">
              <a:buFont typeface="Arial" panose="020B0604020202020204" pitchFamily="34" charset="0"/>
              <a:buChar char="•"/>
            </a:pPr>
            <a:r>
              <a:rPr lang="en-US" dirty="0"/>
              <a:t>Here you can create, read, update, and delete groups and users, but </a:t>
            </a:r>
            <a:r>
              <a:rPr lang="en-US" b="1" dirty="0"/>
              <a:t>where is the Members model?</a:t>
            </a:r>
          </a:p>
          <a:p>
            <a:pPr marL="0" indent="0" algn="just">
              <a:buNone/>
            </a:pPr>
            <a:br>
              <a:rPr lang="en-US" dirty="0"/>
            </a:br>
            <a:endParaRPr lang="en-US" dirty="0"/>
          </a:p>
        </p:txBody>
      </p:sp>
      <p:pic>
        <p:nvPicPr>
          <p:cNvPr id="5" name="Picture 4" descr="A screenshot of a computer&#10;&#10;Description automatically generated">
            <a:extLst>
              <a:ext uri="{FF2B5EF4-FFF2-40B4-BE49-F238E27FC236}">
                <a16:creationId xmlns:a16="http://schemas.microsoft.com/office/drawing/2014/main" id="{E81BFC72-144E-B06C-0203-E9E9215E4D9F}"/>
              </a:ext>
            </a:extLst>
          </p:cNvPr>
          <p:cNvPicPr>
            <a:picLocks noChangeAspect="1"/>
          </p:cNvPicPr>
          <p:nvPr/>
        </p:nvPicPr>
        <p:blipFill>
          <a:blip r:embed="rId2"/>
          <a:stretch>
            <a:fillRect/>
          </a:stretch>
        </p:blipFill>
        <p:spPr>
          <a:xfrm>
            <a:off x="1097281" y="4043351"/>
            <a:ext cx="3108960" cy="2306648"/>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D2DCDD9E-3DF6-9AE2-FDD8-828264534650}"/>
              </a:ext>
            </a:extLst>
          </p:cNvPr>
          <p:cNvPicPr>
            <a:picLocks noChangeAspect="1"/>
          </p:cNvPicPr>
          <p:nvPr/>
        </p:nvPicPr>
        <p:blipFill>
          <a:blip r:embed="rId3"/>
          <a:stretch>
            <a:fillRect/>
          </a:stretch>
        </p:blipFill>
        <p:spPr>
          <a:xfrm>
            <a:off x="6915277" y="3919704"/>
            <a:ext cx="3996563" cy="2479968"/>
          </a:xfrm>
          <a:prstGeom prst="rect">
            <a:avLst/>
          </a:prstGeom>
        </p:spPr>
      </p:pic>
      <p:cxnSp>
        <p:nvCxnSpPr>
          <p:cNvPr id="9" name="Straight Arrow Connector 8">
            <a:extLst>
              <a:ext uri="{FF2B5EF4-FFF2-40B4-BE49-F238E27FC236}">
                <a16:creationId xmlns:a16="http://schemas.microsoft.com/office/drawing/2014/main" id="{63D54B06-DE62-4789-B13D-DDEB07238D1A}"/>
              </a:ext>
            </a:extLst>
          </p:cNvPr>
          <p:cNvCxnSpPr>
            <a:cxnSpLocks/>
          </p:cNvCxnSpPr>
          <p:nvPr/>
        </p:nvCxnSpPr>
        <p:spPr>
          <a:xfrm>
            <a:off x="4365593" y="5327904"/>
            <a:ext cx="23903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8DD9837-CD3D-916D-5689-F04CAEC1D5E7}"/>
              </a:ext>
            </a:extLst>
          </p:cNvPr>
          <p:cNvSpPr txBox="1"/>
          <p:nvPr/>
        </p:nvSpPr>
        <p:spPr>
          <a:xfrm>
            <a:off x="4515294" y="4846997"/>
            <a:ext cx="2090928" cy="400110"/>
          </a:xfrm>
          <a:prstGeom prst="rect">
            <a:avLst/>
          </a:prstGeom>
          <a:noFill/>
        </p:spPr>
        <p:txBody>
          <a:bodyPr wrap="square">
            <a:spAutoFit/>
          </a:bodyPr>
          <a:lstStyle/>
          <a:p>
            <a:pPr algn="ctr"/>
            <a:r>
              <a:rPr lang="en-IN" sz="1000" b="0" i="0" dirty="0">
                <a:solidFill>
                  <a:srgbClr val="000000"/>
                </a:solidFill>
                <a:effectLst/>
              </a:rPr>
              <a:t>Which should result in this user interface</a:t>
            </a:r>
            <a:endParaRPr lang="en-US" sz="1000" dirty="0"/>
          </a:p>
        </p:txBody>
      </p:sp>
    </p:spTree>
    <p:extLst>
      <p:ext uri="{BB962C8B-B14F-4D97-AF65-F5344CB8AC3E}">
        <p14:creationId xmlns:p14="http://schemas.microsoft.com/office/powerpoint/2010/main" val="18270663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37610-08F1-543B-BD61-93C8FD9D1FC4}"/>
              </a:ext>
            </a:extLst>
          </p:cNvPr>
          <p:cNvSpPr>
            <a:spLocks noGrp="1"/>
          </p:cNvSpPr>
          <p:nvPr>
            <p:ph type="title"/>
          </p:nvPr>
        </p:nvSpPr>
        <p:spPr/>
        <p:txBody>
          <a:bodyPr>
            <a:normAutofit/>
          </a:bodyPr>
          <a:lstStyle/>
          <a:p>
            <a:r>
              <a:rPr lang="en-US" dirty="0"/>
              <a:t>Django Admin - Include Member in the Admin Interface</a:t>
            </a:r>
          </a:p>
        </p:txBody>
      </p:sp>
      <p:sp>
        <p:nvSpPr>
          <p:cNvPr id="3" name="Content Placeholder 2">
            <a:extLst>
              <a:ext uri="{FF2B5EF4-FFF2-40B4-BE49-F238E27FC236}">
                <a16:creationId xmlns:a16="http://schemas.microsoft.com/office/drawing/2014/main" id="{00EA0182-FCA5-1C0C-276A-201A36DA9D82}"/>
              </a:ext>
            </a:extLst>
          </p:cNvPr>
          <p:cNvSpPr>
            <a:spLocks noGrp="1"/>
          </p:cNvSpPr>
          <p:nvPr>
            <p:ph idx="1"/>
          </p:nvPr>
        </p:nvSpPr>
        <p:spPr/>
        <p:txBody>
          <a:bodyPr/>
          <a:lstStyle/>
          <a:p>
            <a:r>
              <a:rPr lang="en-US" dirty="0"/>
              <a:t>To include the Member model in the admin interface, we have to tell Django that this model should be visible in the admin interface.</a:t>
            </a:r>
          </a:p>
          <a:p>
            <a:r>
              <a:rPr lang="en-US" dirty="0"/>
              <a:t>This is done in a file called </a:t>
            </a:r>
            <a:r>
              <a:rPr lang="en-US" b="1" dirty="0" err="1"/>
              <a:t>admin.py</a:t>
            </a:r>
            <a:r>
              <a:rPr lang="en-US" dirty="0"/>
              <a:t>, and is located in your app's folder, which in our case is the </a:t>
            </a:r>
            <a:r>
              <a:rPr lang="en-US" b="1" dirty="0"/>
              <a:t>members folder</a:t>
            </a:r>
            <a:r>
              <a:rPr lang="en-US" dirty="0"/>
              <a:t>.</a:t>
            </a:r>
          </a:p>
          <a:p>
            <a:r>
              <a:rPr lang="en-US" dirty="0"/>
              <a:t>Open it, and it should look like this:</a:t>
            </a:r>
          </a:p>
          <a:p>
            <a:endParaRPr lang="en-US" dirty="0"/>
          </a:p>
        </p:txBody>
      </p:sp>
      <p:pic>
        <p:nvPicPr>
          <p:cNvPr id="5" name="Picture 4" descr="A screenshot of a website&#10;&#10;Description automatically generated">
            <a:extLst>
              <a:ext uri="{FF2B5EF4-FFF2-40B4-BE49-F238E27FC236}">
                <a16:creationId xmlns:a16="http://schemas.microsoft.com/office/drawing/2014/main" id="{987E5C93-A719-3BC1-9487-3091B7F1A31B}"/>
              </a:ext>
            </a:extLst>
          </p:cNvPr>
          <p:cNvPicPr>
            <a:picLocks noChangeAspect="1"/>
          </p:cNvPicPr>
          <p:nvPr/>
        </p:nvPicPr>
        <p:blipFill>
          <a:blip r:embed="rId2"/>
          <a:stretch>
            <a:fillRect/>
          </a:stretch>
        </p:blipFill>
        <p:spPr>
          <a:xfrm>
            <a:off x="4303014" y="4458510"/>
            <a:ext cx="4011930" cy="1876926"/>
          </a:xfrm>
          <a:prstGeom prst="rect">
            <a:avLst/>
          </a:prstGeom>
        </p:spPr>
      </p:pic>
    </p:spTree>
    <p:extLst>
      <p:ext uri="{BB962C8B-B14F-4D97-AF65-F5344CB8AC3E}">
        <p14:creationId xmlns:p14="http://schemas.microsoft.com/office/powerpoint/2010/main" val="5932618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56D2-706C-9923-24BC-AD513A39B510}"/>
              </a:ext>
            </a:extLst>
          </p:cNvPr>
          <p:cNvSpPr>
            <a:spLocks noGrp="1"/>
          </p:cNvSpPr>
          <p:nvPr>
            <p:ph type="title"/>
          </p:nvPr>
        </p:nvSpPr>
        <p:spPr/>
        <p:txBody>
          <a:bodyPr/>
          <a:lstStyle/>
          <a:p>
            <a:r>
              <a:rPr lang="en-US" dirty="0"/>
              <a:t>Django Admin - Include Member in the Admin Interface</a:t>
            </a:r>
          </a:p>
        </p:txBody>
      </p:sp>
      <p:sp>
        <p:nvSpPr>
          <p:cNvPr id="3" name="Content Placeholder 2">
            <a:extLst>
              <a:ext uri="{FF2B5EF4-FFF2-40B4-BE49-F238E27FC236}">
                <a16:creationId xmlns:a16="http://schemas.microsoft.com/office/drawing/2014/main" id="{5D8D0060-6B19-A7E9-8EFD-C86AD74A6BC7}"/>
              </a:ext>
            </a:extLst>
          </p:cNvPr>
          <p:cNvSpPr>
            <a:spLocks noGrp="1"/>
          </p:cNvSpPr>
          <p:nvPr>
            <p:ph idx="1"/>
          </p:nvPr>
        </p:nvSpPr>
        <p:spPr/>
        <p:txBody>
          <a:bodyPr/>
          <a:lstStyle/>
          <a:p>
            <a:pPr>
              <a:buFont typeface="Arial" panose="020B0604020202020204" pitchFamily="34" charset="0"/>
              <a:buChar char="•"/>
            </a:pPr>
            <a:r>
              <a:rPr lang="en-US" dirty="0"/>
              <a:t>Insert a couple of lines here to make the Member model visible in the admin page:</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r>
              <a:rPr lang="en-US" dirty="0"/>
              <a:t>Now go back to the browser and you should get this result:</a:t>
            </a:r>
          </a:p>
        </p:txBody>
      </p:sp>
      <p:pic>
        <p:nvPicPr>
          <p:cNvPr id="5" name="Picture 4" descr="A screenshot of a website&#10;&#10;Description automatically generated">
            <a:extLst>
              <a:ext uri="{FF2B5EF4-FFF2-40B4-BE49-F238E27FC236}">
                <a16:creationId xmlns:a16="http://schemas.microsoft.com/office/drawing/2014/main" id="{7D5712F7-FB4F-342C-6629-ACCAEB342A25}"/>
              </a:ext>
            </a:extLst>
          </p:cNvPr>
          <p:cNvPicPr>
            <a:picLocks noChangeAspect="1"/>
          </p:cNvPicPr>
          <p:nvPr/>
        </p:nvPicPr>
        <p:blipFill>
          <a:blip r:embed="rId2"/>
          <a:stretch>
            <a:fillRect/>
          </a:stretch>
        </p:blipFill>
        <p:spPr>
          <a:xfrm>
            <a:off x="3563144" y="2557018"/>
            <a:ext cx="3082696" cy="1758950"/>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592DC43D-6773-9F05-5C24-B283D35A4A22}"/>
              </a:ext>
            </a:extLst>
          </p:cNvPr>
          <p:cNvPicPr>
            <a:picLocks noChangeAspect="1"/>
          </p:cNvPicPr>
          <p:nvPr/>
        </p:nvPicPr>
        <p:blipFill>
          <a:blip r:embed="rId3"/>
          <a:stretch>
            <a:fillRect/>
          </a:stretch>
        </p:blipFill>
        <p:spPr>
          <a:xfrm>
            <a:off x="8083296" y="4424394"/>
            <a:ext cx="4108704" cy="2412270"/>
          </a:xfrm>
          <a:prstGeom prst="rect">
            <a:avLst/>
          </a:prstGeom>
        </p:spPr>
      </p:pic>
    </p:spTree>
    <p:extLst>
      <p:ext uri="{BB962C8B-B14F-4D97-AF65-F5344CB8AC3E}">
        <p14:creationId xmlns:p14="http://schemas.microsoft.com/office/powerpoint/2010/main" val="40413293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51001-0D3A-4C40-C884-3857B769A7BC}"/>
              </a:ext>
            </a:extLst>
          </p:cNvPr>
          <p:cNvSpPr>
            <a:spLocks noGrp="1"/>
          </p:cNvSpPr>
          <p:nvPr>
            <p:ph type="title"/>
          </p:nvPr>
        </p:nvSpPr>
        <p:spPr/>
        <p:txBody>
          <a:bodyPr/>
          <a:lstStyle/>
          <a:p>
            <a:r>
              <a:rPr lang="en-US" dirty="0"/>
              <a:t>Django Admin - Include Member in the Admin Interface</a:t>
            </a:r>
          </a:p>
        </p:txBody>
      </p:sp>
      <p:sp>
        <p:nvSpPr>
          <p:cNvPr id="3" name="Content Placeholder 2">
            <a:extLst>
              <a:ext uri="{FF2B5EF4-FFF2-40B4-BE49-F238E27FC236}">
                <a16:creationId xmlns:a16="http://schemas.microsoft.com/office/drawing/2014/main" id="{DE1D5254-387E-0BCC-4B1D-2A8CC5873102}"/>
              </a:ext>
            </a:extLst>
          </p:cNvPr>
          <p:cNvSpPr>
            <a:spLocks noGrp="1"/>
          </p:cNvSpPr>
          <p:nvPr>
            <p:ph idx="1"/>
          </p:nvPr>
        </p:nvSpPr>
        <p:spPr/>
        <p:txBody>
          <a:bodyPr/>
          <a:lstStyle/>
          <a:p>
            <a:r>
              <a:rPr lang="en-US" dirty="0"/>
              <a:t>Click </a:t>
            </a:r>
            <a:r>
              <a:rPr lang="en-US" b="1" dirty="0"/>
              <a:t>Members</a:t>
            </a:r>
            <a:r>
              <a:rPr lang="en-US" dirty="0"/>
              <a:t> and see the </a:t>
            </a:r>
            <a:r>
              <a:rPr lang="en-US" b="1" dirty="0"/>
              <a:t>five records we inserted earlier </a:t>
            </a:r>
            <a:r>
              <a:rPr lang="en-US" dirty="0"/>
              <a:t>in this lecture:</a:t>
            </a:r>
          </a:p>
        </p:txBody>
      </p:sp>
      <p:pic>
        <p:nvPicPr>
          <p:cNvPr id="5" name="Picture 4" descr="A screenshot of a computer&#10;&#10;Description automatically generated">
            <a:extLst>
              <a:ext uri="{FF2B5EF4-FFF2-40B4-BE49-F238E27FC236}">
                <a16:creationId xmlns:a16="http://schemas.microsoft.com/office/drawing/2014/main" id="{477F6C17-69B6-B24E-51A9-F1D308160030}"/>
              </a:ext>
            </a:extLst>
          </p:cNvPr>
          <p:cNvPicPr>
            <a:picLocks noChangeAspect="1"/>
          </p:cNvPicPr>
          <p:nvPr/>
        </p:nvPicPr>
        <p:blipFill>
          <a:blip r:embed="rId2"/>
          <a:stretch>
            <a:fillRect/>
          </a:stretch>
        </p:blipFill>
        <p:spPr>
          <a:xfrm>
            <a:off x="3478530" y="2722033"/>
            <a:ext cx="5295900" cy="3517900"/>
          </a:xfrm>
          <a:prstGeom prst="rect">
            <a:avLst/>
          </a:prstGeom>
        </p:spPr>
      </p:pic>
    </p:spTree>
    <p:extLst>
      <p:ext uri="{BB962C8B-B14F-4D97-AF65-F5344CB8AC3E}">
        <p14:creationId xmlns:p14="http://schemas.microsoft.com/office/powerpoint/2010/main" val="12269816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8CB54FC-0B2A-4107-9A70-958B90B765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17C231-16F1-258E-1715-46600E5B96BE}"/>
              </a:ext>
            </a:extLst>
          </p:cNvPr>
          <p:cNvSpPr>
            <a:spLocks noGrp="1"/>
          </p:cNvSpPr>
          <p:nvPr>
            <p:ph type="title"/>
          </p:nvPr>
        </p:nvSpPr>
        <p:spPr>
          <a:xfrm>
            <a:off x="6411685" y="634946"/>
            <a:ext cx="5127171" cy="1450757"/>
          </a:xfrm>
        </p:spPr>
        <p:txBody>
          <a:bodyPr>
            <a:normAutofit/>
          </a:bodyPr>
          <a:lstStyle/>
          <a:p>
            <a:r>
              <a:rPr lang="en-US" sz="5000"/>
              <a:t>Django Admin - Set Fields to Display</a:t>
            </a:r>
          </a:p>
        </p:txBody>
      </p:sp>
      <p:pic>
        <p:nvPicPr>
          <p:cNvPr id="5" name="Picture 4" descr="A screenshot of a computer&#10;&#10;Description automatically generated">
            <a:extLst>
              <a:ext uri="{FF2B5EF4-FFF2-40B4-BE49-F238E27FC236}">
                <a16:creationId xmlns:a16="http://schemas.microsoft.com/office/drawing/2014/main" id="{70D6DA6C-DC2D-D8E0-1F61-886B4BCF2F4D}"/>
              </a:ext>
            </a:extLst>
          </p:cNvPr>
          <p:cNvPicPr>
            <a:picLocks noChangeAspect="1"/>
          </p:cNvPicPr>
          <p:nvPr/>
        </p:nvPicPr>
        <p:blipFill>
          <a:blip r:embed="rId2"/>
          <a:stretch>
            <a:fillRect/>
          </a:stretch>
        </p:blipFill>
        <p:spPr>
          <a:xfrm>
            <a:off x="643192" y="1504185"/>
            <a:ext cx="5115347" cy="3529588"/>
          </a:xfrm>
          <a:prstGeom prst="rect">
            <a:avLst/>
          </a:prstGeom>
        </p:spPr>
      </p:pic>
      <p:cxnSp>
        <p:nvCxnSpPr>
          <p:cNvPr id="12" name="Straight Connector 11">
            <a:extLst>
              <a:ext uri="{FF2B5EF4-FFF2-40B4-BE49-F238E27FC236}">
                <a16:creationId xmlns:a16="http://schemas.microsoft.com/office/drawing/2014/main" id="{7855A9B5-1710-4B19-B0F1-CDFDD4ED5B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14044" y="2246569"/>
            <a:ext cx="45720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A64112D-6881-260F-C478-085F5E1CDC90}"/>
              </a:ext>
            </a:extLst>
          </p:cNvPr>
          <p:cNvSpPr>
            <a:spLocks noGrp="1"/>
          </p:cNvSpPr>
          <p:nvPr>
            <p:ph idx="1"/>
          </p:nvPr>
        </p:nvSpPr>
        <p:spPr>
          <a:xfrm>
            <a:off x="6411684" y="2407436"/>
            <a:ext cx="5127172" cy="3461658"/>
          </a:xfrm>
        </p:spPr>
        <p:txBody>
          <a:bodyPr>
            <a:normAutofit/>
          </a:bodyPr>
          <a:lstStyle/>
          <a:p>
            <a:pPr algn="just">
              <a:buFont typeface="Arial" panose="020B0604020202020204" pitchFamily="34" charset="0"/>
              <a:buChar char="•"/>
            </a:pPr>
            <a:r>
              <a:rPr lang="en-US" sz="1700" b="1" dirty="0"/>
              <a:t>Make the List Display More Reader-Friendly</a:t>
            </a:r>
          </a:p>
          <a:p>
            <a:pPr lvl="1" algn="just">
              <a:buFont typeface="Arial" panose="020B0604020202020204" pitchFamily="34" charset="0"/>
              <a:buChar char="•"/>
            </a:pPr>
            <a:r>
              <a:rPr lang="en-US" sz="1700" dirty="0"/>
              <a:t>When you display a Model as a list, Django displays each record as the string representation of the record object, which in our case is "Member object (1)", "Member object(2)" etc.:</a:t>
            </a:r>
          </a:p>
          <a:p>
            <a:pPr lvl="1" algn="just">
              <a:buFont typeface="Arial" panose="020B0604020202020204" pitchFamily="34" charset="0"/>
              <a:buChar char="•"/>
            </a:pPr>
            <a:r>
              <a:rPr lang="en-US" sz="1700" dirty="0"/>
              <a:t>To change this to a more reader-friendly format, we have two choices:</a:t>
            </a:r>
          </a:p>
          <a:p>
            <a:pPr lvl="2" algn="just">
              <a:buFont typeface="Arial" panose="020B0604020202020204" pitchFamily="34" charset="0"/>
              <a:buChar char="•"/>
            </a:pPr>
            <a:r>
              <a:rPr lang="en-US" sz="1700" dirty="0"/>
              <a:t>Change the string representation function, </a:t>
            </a:r>
            <a:r>
              <a:rPr lang="en-US" sz="1700" b="1" dirty="0"/>
              <a:t>__str__() </a:t>
            </a:r>
            <a:r>
              <a:rPr lang="en-US" sz="1700" dirty="0"/>
              <a:t>of the Member Model</a:t>
            </a:r>
          </a:p>
          <a:p>
            <a:pPr lvl="2" algn="just">
              <a:buFont typeface="Arial" panose="020B0604020202020204" pitchFamily="34" charset="0"/>
              <a:buChar char="•"/>
            </a:pPr>
            <a:r>
              <a:rPr lang="en-US" sz="1700" dirty="0"/>
              <a:t>Set the </a:t>
            </a:r>
            <a:r>
              <a:rPr lang="en-US" sz="1700" b="1" dirty="0" err="1"/>
              <a:t>list_details</a:t>
            </a:r>
            <a:r>
              <a:rPr lang="en-US" sz="1700" b="1" dirty="0"/>
              <a:t> </a:t>
            </a:r>
            <a:r>
              <a:rPr lang="en-US" sz="1700" dirty="0"/>
              <a:t>property of the Member Model</a:t>
            </a:r>
          </a:p>
        </p:txBody>
      </p:sp>
      <p:sp>
        <p:nvSpPr>
          <p:cNvPr id="14" name="Rectangle 13">
            <a:extLst>
              <a:ext uri="{FF2B5EF4-FFF2-40B4-BE49-F238E27FC236}">
                <a16:creationId xmlns:a16="http://schemas.microsoft.com/office/drawing/2014/main" id="{9AA76026-5689-4584-8D93-D71D739E6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91917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CDCFF-55E2-1541-58BC-BA78CC91DA09}"/>
              </a:ext>
            </a:extLst>
          </p:cNvPr>
          <p:cNvSpPr>
            <a:spLocks noGrp="1"/>
          </p:cNvSpPr>
          <p:nvPr>
            <p:ph type="title"/>
          </p:nvPr>
        </p:nvSpPr>
        <p:spPr/>
        <p:txBody>
          <a:bodyPr>
            <a:normAutofit/>
          </a:bodyPr>
          <a:lstStyle/>
          <a:p>
            <a:r>
              <a:rPr lang="en-US" dirty="0"/>
              <a:t>Change the String Representation Function</a:t>
            </a:r>
          </a:p>
        </p:txBody>
      </p:sp>
      <p:sp>
        <p:nvSpPr>
          <p:cNvPr id="3" name="Content Placeholder 2">
            <a:extLst>
              <a:ext uri="{FF2B5EF4-FFF2-40B4-BE49-F238E27FC236}">
                <a16:creationId xmlns:a16="http://schemas.microsoft.com/office/drawing/2014/main" id="{8BB3ACE7-BB57-91E1-0E42-751E263CC7F7}"/>
              </a:ext>
            </a:extLst>
          </p:cNvPr>
          <p:cNvSpPr>
            <a:spLocks noGrp="1"/>
          </p:cNvSpPr>
          <p:nvPr>
            <p:ph idx="1"/>
          </p:nvPr>
        </p:nvSpPr>
        <p:spPr/>
        <p:txBody>
          <a:bodyPr/>
          <a:lstStyle/>
          <a:p>
            <a:r>
              <a:rPr lang="en-US" dirty="0"/>
              <a:t>we have to define the </a:t>
            </a:r>
            <a:r>
              <a:rPr lang="en-US" b="1" dirty="0"/>
              <a:t>__str__() function </a:t>
            </a:r>
            <a:r>
              <a:rPr lang="en-US" dirty="0"/>
              <a:t>of the </a:t>
            </a:r>
            <a:r>
              <a:rPr lang="en-US" b="1" dirty="0"/>
              <a:t>Member Model in </a:t>
            </a:r>
            <a:r>
              <a:rPr lang="en-US" b="1" dirty="0" err="1"/>
              <a:t>models.py</a:t>
            </a:r>
            <a:r>
              <a:rPr lang="en-US" dirty="0"/>
              <a:t>, like this:</a:t>
            </a:r>
          </a:p>
          <a:p>
            <a:br>
              <a:rPr lang="en-US" dirty="0"/>
            </a:br>
            <a:endParaRPr lang="en-US" dirty="0"/>
          </a:p>
          <a:p>
            <a:endParaRPr lang="en-US" dirty="0"/>
          </a:p>
        </p:txBody>
      </p:sp>
      <p:pic>
        <p:nvPicPr>
          <p:cNvPr id="5" name="Picture 4" descr="A screenshot of a computer code&#10;&#10;Description automatically generated">
            <a:extLst>
              <a:ext uri="{FF2B5EF4-FFF2-40B4-BE49-F238E27FC236}">
                <a16:creationId xmlns:a16="http://schemas.microsoft.com/office/drawing/2014/main" id="{C51EE935-2D9C-93E1-542F-571438A684FF}"/>
              </a:ext>
            </a:extLst>
          </p:cNvPr>
          <p:cNvPicPr>
            <a:picLocks noChangeAspect="1"/>
          </p:cNvPicPr>
          <p:nvPr/>
        </p:nvPicPr>
        <p:blipFill>
          <a:blip r:embed="rId2"/>
          <a:stretch>
            <a:fillRect/>
          </a:stretch>
        </p:blipFill>
        <p:spPr>
          <a:xfrm>
            <a:off x="1097280" y="3259836"/>
            <a:ext cx="4209034" cy="2781300"/>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30A070A6-0117-682B-8F0D-3BF769229DEB}"/>
              </a:ext>
            </a:extLst>
          </p:cNvPr>
          <p:cNvPicPr>
            <a:picLocks noChangeAspect="1"/>
          </p:cNvPicPr>
          <p:nvPr/>
        </p:nvPicPr>
        <p:blipFill>
          <a:blip r:embed="rId3"/>
          <a:stretch>
            <a:fillRect/>
          </a:stretch>
        </p:blipFill>
        <p:spPr>
          <a:xfrm>
            <a:off x="6971032" y="3157728"/>
            <a:ext cx="3916424" cy="2883408"/>
          </a:xfrm>
          <a:prstGeom prst="rect">
            <a:avLst/>
          </a:prstGeom>
        </p:spPr>
      </p:pic>
    </p:spTree>
    <p:extLst>
      <p:ext uri="{BB962C8B-B14F-4D97-AF65-F5344CB8AC3E}">
        <p14:creationId xmlns:p14="http://schemas.microsoft.com/office/powerpoint/2010/main" val="20687925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40FA8-02DE-EC51-07FA-F6A7FD063C8B}"/>
              </a:ext>
            </a:extLst>
          </p:cNvPr>
          <p:cNvSpPr>
            <a:spLocks noGrp="1"/>
          </p:cNvSpPr>
          <p:nvPr>
            <p:ph type="title"/>
          </p:nvPr>
        </p:nvSpPr>
        <p:spPr/>
        <p:txBody>
          <a:bodyPr/>
          <a:lstStyle/>
          <a:p>
            <a:r>
              <a:rPr lang="en-US" dirty="0"/>
              <a:t>Set </a:t>
            </a:r>
            <a:r>
              <a:rPr lang="en-US" dirty="0" err="1"/>
              <a:t>list_display</a:t>
            </a:r>
            <a:endParaRPr lang="en-US" dirty="0"/>
          </a:p>
        </p:txBody>
      </p:sp>
      <p:sp>
        <p:nvSpPr>
          <p:cNvPr id="3" name="Content Placeholder 2">
            <a:extLst>
              <a:ext uri="{FF2B5EF4-FFF2-40B4-BE49-F238E27FC236}">
                <a16:creationId xmlns:a16="http://schemas.microsoft.com/office/drawing/2014/main" id="{7BF78713-07AE-127E-4D68-6854415CE401}"/>
              </a:ext>
            </a:extLst>
          </p:cNvPr>
          <p:cNvSpPr>
            <a:spLocks noGrp="1"/>
          </p:cNvSpPr>
          <p:nvPr>
            <p:ph idx="1"/>
          </p:nvPr>
        </p:nvSpPr>
        <p:spPr/>
        <p:txBody>
          <a:bodyPr>
            <a:normAutofit/>
          </a:bodyPr>
          <a:lstStyle/>
          <a:p>
            <a:pPr algn="just">
              <a:buFont typeface="Arial" panose="020B0604020202020204" pitchFamily="34" charset="0"/>
              <a:buChar char="•"/>
            </a:pPr>
            <a:r>
              <a:rPr lang="en-US" sz="1700" dirty="0"/>
              <a:t>We can control the fields to display by specifying them in a </a:t>
            </a:r>
            <a:r>
              <a:rPr lang="en-US" sz="1700" b="1" dirty="0" err="1"/>
              <a:t>list_display</a:t>
            </a:r>
            <a:r>
              <a:rPr lang="en-US" sz="1700" b="1" dirty="0"/>
              <a:t> property in the </a:t>
            </a:r>
            <a:r>
              <a:rPr lang="en-US" sz="1700" b="1" dirty="0" err="1"/>
              <a:t>admin.py</a:t>
            </a:r>
            <a:r>
              <a:rPr lang="en-US" sz="1700" b="1" dirty="0"/>
              <a:t> file</a:t>
            </a:r>
            <a:r>
              <a:rPr lang="en-US" sz="1700" dirty="0"/>
              <a:t>.</a:t>
            </a:r>
          </a:p>
          <a:p>
            <a:pPr algn="just">
              <a:buFont typeface="Arial" panose="020B0604020202020204" pitchFamily="34" charset="0"/>
              <a:buChar char="•"/>
            </a:pPr>
            <a:r>
              <a:rPr lang="en-US" sz="1700" dirty="0"/>
              <a:t>First create a </a:t>
            </a:r>
            <a:r>
              <a:rPr lang="en-US" sz="1700" b="1" dirty="0" err="1"/>
              <a:t>MemberAdmin</a:t>
            </a:r>
            <a:r>
              <a:rPr lang="en-US" sz="1700" b="1" dirty="0"/>
              <a:t>() class </a:t>
            </a:r>
            <a:r>
              <a:rPr lang="en-US" sz="1700" dirty="0"/>
              <a:t>and specify the </a:t>
            </a:r>
            <a:r>
              <a:rPr lang="en-US" sz="1700" b="1" dirty="0" err="1"/>
              <a:t>list_display</a:t>
            </a:r>
            <a:r>
              <a:rPr lang="en-US" sz="1700" b="1" dirty="0"/>
              <a:t> tuple</a:t>
            </a:r>
            <a:r>
              <a:rPr lang="en-US" sz="1700" dirty="0"/>
              <a:t>, like this:</a:t>
            </a:r>
          </a:p>
          <a:p>
            <a:pPr algn="just">
              <a:buFont typeface="Arial" panose="020B0604020202020204" pitchFamily="34" charset="0"/>
              <a:buChar char="•"/>
            </a:pPr>
            <a:r>
              <a:rPr lang="en-US" sz="1700" dirty="0"/>
              <a:t>Remember to add the </a:t>
            </a:r>
            <a:r>
              <a:rPr lang="en-US" sz="1700" b="1" dirty="0" err="1"/>
              <a:t>MemberAdmin</a:t>
            </a:r>
            <a:r>
              <a:rPr lang="en-US" sz="1700" b="1" dirty="0"/>
              <a:t> as an </a:t>
            </a:r>
            <a:r>
              <a:rPr lang="en-US" sz="1700" b="1" dirty="0" err="1"/>
              <a:t>argumet</a:t>
            </a:r>
            <a:r>
              <a:rPr lang="en-US" sz="1700" b="1" dirty="0"/>
              <a:t> </a:t>
            </a:r>
            <a:r>
              <a:rPr lang="en-US" sz="1700" dirty="0"/>
              <a:t>in the </a:t>
            </a:r>
            <a:r>
              <a:rPr lang="en-US" sz="1700" b="1" dirty="0" err="1"/>
              <a:t>admin.site.register</a:t>
            </a:r>
            <a:r>
              <a:rPr lang="en-US" sz="1700" b="1" dirty="0"/>
              <a:t>(Member, </a:t>
            </a:r>
            <a:r>
              <a:rPr lang="en-US" sz="1700" b="1" dirty="0" err="1"/>
              <a:t>MemberAdmin</a:t>
            </a:r>
            <a:r>
              <a:rPr lang="en-US" sz="1700" b="1" dirty="0"/>
              <a:t>).</a:t>
            </a:r>
          </a:p>
          <a:p>
            <a:pPr algn="just">
              <a:buFont typeface="Arial" panose="020B0604020202020204" pitchFamily="34" charset="0"/>
              <a:buChar char="•"/>
            </a:pPr>
            <a:r>
              <a:rPr lang="en-US" sz="1700" dirty="0"/>
              <a:t>Now go back to the browser and you should get this result:</a:t>
            </a:r>
          </a:p>
          <a:p>
            <a:endParaRPr lang="en-US" dirty="0"/>
          </a:p>
          <a:p>
            <a:br>
              <a:rPr lang="en-US" dirty="0"/>
            </a:br>
            <a:endParaRPr lang="en-US" dirty="0"/>
          </a:p>
          <a:p>
            <a:endParaRPr lang="en-US" dirty="0"/>
          </a:p>
        </p:txBody>
      </p:sp>
      <p:pic>
        <p:nvPicPr>
          <p:cNvPr id="5" name="Picture 4" descr="A screenshot of a computer program&#10;&#10;Description automatically generated">
            <a:extLst>
              <a:ext uri="{FF2B5EF4-FFF2-40B4-BE49-F238E27FC236}">
                <a16:creationId xmlns:a16="http://schemas.microsoft.com/office/drawing/2014/main" id="{23E210D0-A418-0A3A-A9E2-7A9D73F5B855}"/>
              </a:ext>
            </a:extLst>
          </p:cNvPr>
          <p:cNvPicPr>
            <a:picLocks noChangeAspect="1"/>
          </p:cNvPicPr>
          <p:nvPr/>
        </p:nvPicPr>
        <p:blipFill>
          <a:blip r:embed="rId2"/>
          <a:stretch>
            <a:fillRect/>
          </a:stretch>
        </p:blipFill>
        <p:spPr>
          <a:xfrm>
            <a:off x="1097280" y="3988646"/>
            <a:ext cx="4586224" cy="2122678"/>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96B7A449-FA60-FEC5-9640-9B7641B172DE}"/>
              </a:ext>
            </a:extLst>
          </p:cNvPr>
          <p:cNvPicPr>
            <a:picLocks noChangeAspect="1"/>
          </p:cNvPicPr>
          <p:nvPr/>
        </p:nvPicPr>
        <p:blipFill>
          <a:blip r:embed="rId3"/>
          <a:stretch>
            <a:fillRect/>
          </a:stretch>
        </p:blipFill>
        <p:spPr>
          <a:xfrm>
            <a:off x="6892036" y="3769189"/>
            <a:ext cx="4202684" cy="2621189"/>
          </a:xfrm>
          <a:prstGeom prst="rect">
            <a:avLst/>
          </a:prstGeom>
        </p:spPr>
      </p:pic>
    </p:spTree>
    <p:extLst>
      <p:ext uri="{BB962C8B-B14F-4D97-AF65-F5344CB8AC3E}">
        <p14:creationId xmlns:p14="http://schemas.microsoft.com/office/powerpoint/2010/main" val="19808329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DD041-F912-A301-2254-BCB4339691F2}"/>
              </a:ext>
            </a:extLst>
          </p:cNvPr>
          <p:cNvSpPr>
            <a:spLocks noGrp="1"/>
          </p:cNvSpPr>
          <p:nvPr>
            <p:ph type="title"/>
          </p:nvPr>
        </p:nvSpPr>
        <p:spPr/>
        <p:txBody>
          <a:bodyPr>
            <a:normAutofit/>
          </a:bodyPr>
          <a:lstStyle/>
          <a:p>
            <a:r>
              <a:rPr lang="en-US" dirty="0"/>
              <a:t>Django Admin – Update, Add, and Delete Members</a:t>
            </a:r>
          </a:p>
        </p:txBody>
      </p:sp>
      <p:sp>
        <p:nvSpPr>
          <p:cNvPr id="3" name="Content Placeholder 2">
            <a:extLst>
              <a:ext uri="{FF2B5EF4-FFF2-40B4-BE49-F238E27FC236}">
                <a16:creationId xmlns:a16="http://schemas.microsoft.com/office/drawing/2014/main" id="{7C85CDA4-460E-B012-E752-075DBEE57F98}"/>
              </a:ext>
            </a:extLst>
          </p:cNvPr>
          <p:cNvSpPr>
            <a:spLocks noGrp="1"/>
          </p:cNvSpPr>
          <p:nvPr>
            <p:ph idx="1"/>
          </p:nvPr>
        </p:nvSpPr>
        <p:spPr/>
        <p:txBody>
          <a:bodyPr/>
          <a:lstStyle/>
          <a:p>
            <a:pPr algn="just">
              <a:buFont typeface="Arial" panose="020B0604020202020204" pitchFamily="34" charset="0"/>
              <a:buChar char="•"/>
            </a:pPr>
            <a:r>
              <a:rPr lang="en-US" dirty="0"/>
              <a:t>Now we are able to create, update, and delete members in our database, and we start by giving them all a date for when they became members.</a:t>
            </a:r>
          </a:p>
          <a:p>
            <a:pPr algn="just">
              <a:buFont typeface="Arial" panose="020B0604020202020204" pitchFamily="34" charset="0"/>
              <a:buChar char="•"/>
            </a:pPr>
            <a:r>
              <a:rPr lang="en-US" dirty="0"/>
              <a:t>Click the first member, </a:t>
            </a:r>
            <a:r>
              <a:rPr lang="en-US" dirty="0" err="1"/>
              <a:t>Stalikken</a:t>
            </a:r>
            <a:r>
              <a:rPr lang="en-US" dirty="0"/>
              <a:t>, to open the record for editing, and give him a </a:t>
            </a:r>
            <a:r>
              <a:rPr lang="en-US" dirty="0" err="1"/>
              <a:t>joined_date</a:t>
            </a:r>
            <a:r>
              <a:rPr lang="en-US" dirty="0"/>
              <a:t>:</a:t>
            </a:r>
          </a:p>
          <a:p>
            <a:br>
              <a:rPr lang="en-US" dirty="0"/>
            </a:br>
            <a:endParaRPr lang="en-US" dirty="0"/>
          </a:p>
        </p:txBody>
      </p:sp>
      <p:pic>
        <p:nvPicPr>
          <p:cNvPr id="5" name="Picture 4" descr="A screenshot of a computer&#10;&#10;Description automatically generated">
            <a:extLst>
              <a:ext uri="{FF2B5EF4-FFF2-40B4-BE49-F238E27FC236}">
                <a16:creationId xmlns:a16="http://schemas.microsoft.com/office/drawing/2014/main" id="{11E34413-03E7-8902-04CE-F6072FF6CA05}"/>
              </a:ext>
            </a:extLst>
          </p:cNvPr>
          <p:cNvPicPr>
            <a:picLocks noChangeAspect="1"/>
          </p:cNvPicPr>
          <p:nvPr/>
        </p:nvPicPr>
        <p:blipFill>
          <a:blip r:embed="rId2"/>
          <a:stretch>
            <a:fillRect/>
          </a:stretch>
        </p:blipFill>
        <p:spPr>
          <a:xfrm>
            <a:off x="4343908" y="3495788"/>
            <a:ext cx="3849116" cy="3075609"/>
          </a:xfrm>
          <a:prstGeom prst="rect">
            <a:avLst/>
          </a:prstGeom>
        </p:spPr>
      </p:pic>
    </p:spTree>
    <p:extLst>
      <p:ext uri="{BB962C8B-B14F-4D97-AF65-F5344CB8AC3E}">
        <p14:creationId xmlns:p14="http://schemas.microsoft.com/office/powerpoint/2010/main" val="671902291"/>
      </p:ext>
    </p:extLst>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Tw Cen M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11566</TotalTime>
  <Words>3826</Words>
  <Application>Microsoft Macintosh PowerPoint</Application>
  <PresentationFormat>Widescreen</PresentationFormat>
  <Paragraphs>298</Paragraphs>
  <Slides>40</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6" baseType="lpstr">
      <vt:lpstr>Arial</vt:lpstr>
      <vt:lpstr>Calibri</vt:lpstr>
      <vt:lpstr>Tw Cen MT</vt:lpstr>
      <vt:lpstr>Verdana</vt:lpstr>
      <vt:lpstr>RetrospectVTI</vt:lpstr>
      <vt:lpstr>Microsoft Word Document</vt:lpstr>
      <vt:lpstr> Learning Outcome 3</vt:lpstr>
      <vt:lpstr>Django Learning Journey</vt:lpstr>
      <vt:lpstr>Extra Resource Material</vt:lpstr>
      <vt:lpstr>Django</vt:lpstr>
      <vt:lpstr>How does Django Work?</vt:lpstr>
      <vt:lpstr>Model</vt:lpstr>
      <vt:lpstr>View</vt:lpstr>
      <vt:lpstr>Template</vt:lpstr>
      <vt:lpstr>URLs</vt:lpstr>
      <vt:lpstr>So, What is Going On?</vt:lpstr>
      <vt:lpstr>Django Getting Started</vt:lpstr>
      <vt:lpstr>Django - Create Virtual Environment</vt:lpstr>
      <vt:lpstr>Install Django</vt:lpstr>
      <vt:lpstr>My First Django Project</vt:lpstr>
      <vt:lpstr>Run the Django Project</vt:lpstr>
      <vt:lpstr>Django Create App</vt:lpstr>
      <vt:lpstr>Creating Web App</vt:lpstr>
      <vt:lpstr>Creating Web App</vt:lpstr>
      <vt:lpstr>Django Views</vt:lpstr>
      <vt:lpstr>Django URLs</vt:lpstr>
      <vt:lpstr>Django Templates</vt:lpstr>
      <vt:lpstr>Django Templates: Modify the View</vt:lpstr>
      <vt:lpstr>Change Settings</vt:lpstr>
      <vt:lpstr>Django Models</vt:lpstr>
      <vt:lpstr>Create Table (Model)</vt:lpstr>
      <vt:lpstr>Migrate</vt:lpstr>
      <vt:lpstr>Migrate</vt:lpstr>
      <vt:lpstr>View SQL</vt:lpstr>
      <vt:lpstr>Django Admin</vt:lpstr>
      <vt:lpstr>Getting Started</vt:lpstr>
      <vt:lpstr>Getting Started</vt:lpstr>
      <vt:lpstr>Django Admin - Create User</vt:lpstr>
      <vt:lpstr>Django Admin - Create User</vt:lpstr>
      <vt:lpstr>Django Admin - Include Member in the Admin Interface</vt:lpstr>
      <vt:lpstr>Django Admin - Include Member in the Admin Interface</vt:lpstr>
      <vt:lpstr>Django Admin - Include Member in the Admin Interface</vt:lpstr>
      <vt:lpstr>Django Admin - Set Fields to Display</vt:lpstr>
      <vt:lpstr>Change the String Representation Function</vt:lpstr>
      <vt:lpstr>Set list_display</vt:lpstr>
      <vt:lpstr>Django Admin – Update, Add, and Delete Members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Rashmi Gupta</dc:creator>
  <cp:lastModifiedBy>Rashmi Gupta</cp:lastModifiedBy>
  <cp:revision>39</cp:revision>
  <dcterms:created xsi:type="dcterms:W3CDTF">2022-08-23T10:36:31Z</dcterms:created>
  <dcterms:modified xsi:type="dcterms:W3CDTF">2025-10-02T15:12:58Z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4114459-e220-4ae9-b339-4ebe6008cdd4_Enabled">
    <vt:lpwstr>true</vt:lpwstr>
  </property>
  <property fmtid="{D5CDD505-2E9C-101B-9397-08002B2CF9AE}" pid="3" name="MSIP_Label_b4114459-e220-4ae9-b339-4ebe6008cdd4_SetDate">
    <vt:lpwstr>2022-08-23T10:36:31Z</vt:lpwstr>
  </property>
  <property fmtid="{D5CDD505-2E9C-101B-9397-08002B2CF9AE}" pid="4" name="MSIP_Label_b4114459-e220-4ae9-b339-4ebe6008cdd4_Method">
    <vt:lpwstr>Standard</vt:lpwstr>
  </property>
  <property fmtid="{D5CDD505-2E9C-101B-9397-08002B2CF9AE}" pid="5" name="MSIP_Label_b4114459-e220-4ae9-b339-4ebe6008cdd4_Name">
    <vt:lpwstr>b4114459-e220-4ae9-b339-4ebe6008cdd4</vt:lpwstr>
  </property>
  <property fmtid="{D5CDD505-2E9C-101B-9397-08002B2CF9AE}" pid="6" name="MSIP_Label_b4114459-e220-4ae9-b339-4ebe6008cdd4_SiteId">
    <vt:lpwstr>8482881e-3699-4b3f-b135-cf4800bc1efb</vt:lpwstr>
  </property>
  <property fmtid="{D5CDD505-2E9C-101B-9397-08002B2CF9AE}" pid="7" name="MSIP_Label_b4114459-e220-4ae9-b339-4ebe6008cdd4_ActionId">
    <vt:lpwstr>f2b35455-b9d0-40b4-9a5a-93277c9ff569</vt:lpwstr>
  </property>
  <property fmtid="{D5CDD505-2E9C-101B-9397-08002B2CF9AE}" pid="8" name="MSIP_Label_b4114459-e220-4ae9-b339-4ebe6008cdd4_ContentBits">
    <vt:lpwstr>0</vt:lpwstr>
  </property>
</Properties>
</file>