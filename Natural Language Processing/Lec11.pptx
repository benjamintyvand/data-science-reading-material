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5"/>
    <p:sldMasterId id="2147483754" r:id="rId6"/>
    <p:sldMasterId id="2147483741" r:id="rId7"/>
    <p:sldMasterId id="2147483687" r:id="rId8"/>
    <p:sldMasterId id="2147483713" r:id="rId9"/>
    <p:sldMasterId id="2147483727" r:id="rId10"/>
  </p:sldMasterIdLst>
  <p:notesMasterIdLst>
    <p:notesMasterId r:id="rId32"/>
  </p:notesMasterIdLst>
  <p:sldIdLst>
    <p:sldId id="488" r:id="rId11"/>
    <p:sldId id="426" r:id="rId12"/>
    <p:sldId id="507" r:id="rId13"/>
    <p:sldId id="451" r:id="rId14"/>
    <p:sldId id="508" r:id="rId15"/>
    <p:sldId id="509" r:id="rId16"/>
    <p:sldId id="510" r:id="rId17"/>
    <p:sldId id="511" r:id="rId18"/>
    <p:sldId id="512" r:id="rId19"/>
    <p:sldId id="513" r:id="rId20"/>
    <p:sldId id="515" r:id="rId21"/>
    <p:sldId id="516" r:id="rId22"/>
    <p:sldId id="518" r:id="rId23"/>
    <p:sldId id="517" r:id="rId24"/>
    <p:sldId id="501" r:id="rId25"/>
    <p:sldId id="514" r:id="rId26"/>
    <p:sldId id="502" r:id="rId27"/>
    <p:sldId id="503" r:id="rId28"/>
    <p:sldId id="504" r:id="rId29"/>
    <p:sldId id="505" r:id="rId30"/>
    <p:sldId id="506" r:id="rId31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5E8"/>
    <a:srgbClr val="F9C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02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9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957F1-2DF1-E846-91E0-CF56AA05F03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44781-8663-1143-A4F5-FB455E8BA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79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37171-8A26-6E49-A554-F8F16367390D}" type="slidenum">
              <a:rPr lang="en-NO" smtClean="0"/>
              <a:t>1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939456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A4C9AFF2-AFFE-2C40-B469-FE4B4761F9CF}"/>
              </a:ext>
            </a:extLst>
          </p:cNvPr>
          <p:cNvSpPr/>
          <p:nvPr userDrawn="1"/>
        </p:nvSpPr>
        <p:spPr>
          <a:xfrm>
            <a:off x="10722541" y="302690"/>
            <a:ext cx="1214846" cy="739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Bilde 2" descr="Kristiania logo rød">
            <a:extLst>
              <a:ext uri="{FF2B5EF4-FFF2-40B4-BE49-F238E27FC236}">
                <a16:creationId xmlns:a16="http://schemas.microsoft.com/office/drawing/2014/main" id="{B802F4AA-420C-C184-D628-612EA9B412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33952" y="2555875"/>
            <a:ext cx="4497248" cy="174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82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E994CAE-D801-4A05-8AFD-8AB363551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152582CD-8242-4270-B0FC-8E7889E08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2FFEFBE-997F-49B5-8EC7-68E363F28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E7976CF-A4D1-43E3-8790-B347321F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2030E38-CA7B-4BF1-8D2E-D9CC4A20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46017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3924723-10D2-46A4-977D-E3473956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C0483C6-0DC8-467B-9028-75C75DF4E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4C44316-C860-4938-BF5E-B167588B6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146552B-0EE9-4491-85A7-268FA03F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11EC619-7849-48B2-B6DD-1BE3FB50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73450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90B4053-5A48-4570-8EF1-AD4314DDC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4E32BB5-E98D-42AE-B151-B28E693FF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E8FD4CB-6BE9-46D6-B54B-B8E747533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9C6C1DD-7030-4C18-94C0-631E607A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67091A3-65B1-4E66-941F-CEE60ACC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9890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6ACBF48-3AA0-4C80-8F1C-408DE504F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D431040-4DEC-48B9-A2BC-BA094799C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DB8B3242-A3EA-4873-A995-A13485CFE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0E5173E-B634-404A-AAA3-4480DFED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6E90413-8186-4F2C-8584-4030ABC46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B9DB9B77-7C1A-4F39-BC85-B126E38B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47300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1742928-F1AC-4B1E-AC8C-FAD2F6DAE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9776962" cy="13160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D0AD1A1-7D46-4C93-AE36-4D9C68FBD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643DC3B-EBFD-40AB-9FB9-345DBDB10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591DEDB6-A7AE-4F1F-BC06-0FBE0907D6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B9C4B301-C396-4776-8C49-CFE28C5D5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F0138318-15EA-41F2-9420-5B24D7C8D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56E7A838-1416-47C0-A7EE-843796F61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53A93D7E-74A5-4F4D-9A55-E8D27A13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90720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531ADD5-1C1B-42EB-8946-0D292B0F6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4967478A-869E-4133-B3CD-66A8D6A0E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F79DF41C-03A1-4973-B76D-22AF72173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6325A55B-F9FA-4EA5-8829-30B298AE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7648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0CCBA059-E83F-4683-97C5-D6FE26F5E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C9F1CBDE-3992-4026-8164-69060D539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9D5D6A7-DE74-45ED-9854-280E4D2C1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56669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5579A3C-585C-4203-9437-A5EFAF56F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B0BF247-1257-4D4D-ABE5-ED565DC24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7CC339F5-9E8D-482B-801F-1F9E12984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69D0C026-24EE-4347-B7FC-060DB0F2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D257A25-971D-42A1-9E88-B4A70C12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369E611-E1A2-4825-9AEA-4893A203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8438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E1D976D-BC9E-4FA1-9634-09604A16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38EF2A34-81E1-4416-B36A-17AF1D40C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5744743-2007-4B62-B5D4-C64DD47A9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A8C0DA39-4C5D-4C16-9293-3F9DFAE68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9E19C14-4F05-4F0B-9255-ED5A5EBE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654F5EC2-78D6-48DF-8F9D-089A2A13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3996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1454825-58A1-4327-998A-11B9BE3C7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D6CAC458-9589-4730-9DF6-8E010AAB9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AF51FF0-3D0D-4EAE-893B-FF759CF6A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E8D321D-EE6C-4DB4-BFFC-24EAAE44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2DC90EC-9304-4C5D-8BF3-0B007A8F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80124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6E192925-1A80-49B7-AEC2-F07EAE8E7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29005" y="365125"/>
            <a:ext cx="2023009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6B442519-F058-4278-AE8A-092F21C2F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48041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50B2041-250D-4927-A1B1-162B13C9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1B4478B-221E-4E01-8B8D-9BFA24A5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F955245-947A-45DA-9FE6-AAD59649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53353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e 6">
            <a:extLst>
              <a:ext uri="{FF2B5EF4-FFF2-40B4-BE49-F238E27FC236}">
                <a16:creationId xmlns:a16="http://schemas.microsoft.com/office/drawing/2014/main" id="{FB9B7695-D3CE-39EA-009F-5C755CE947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34354" y="2549171"/>
            <a:ext cx="4523291" cy="175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43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A4C9AFF2-AFFE-2C40-B469-FE4B4761F9CF}"/>
              </a:ext>
            </a:extLst>
          </p:cNvPr>
          <p:cNvSpPr/>
          <p:nvPr userDrawn="1"/>
        </p:nvSpPr>
        <p:spPr>
          <a:xfrm>
            <a:off x="10722541" y="302690"/>
            <a:ext cx="1214846" cy="739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5" name="Bilde 4" descr="Kristiania logo sort">
            <a:extLst>
              <a:ext uri="{FF2B5EF4-FFF2-40B4-BE49-F238E27FC236}">
                <a16:creationId xmlns:a16="http://schemas.microsoft.com/office/drawing/2014/main" id="{35060719-89F9-AB82-1A67-E68FFBC89B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33952" y="2554237"/>
            <a:ext cx="4497248" cy="174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330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E994CAE-D801-4A05-8AFD-8AB363551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152582CD-8242-4270-B0FC-8E7889E08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dirty="0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2FFEFBE-997F-49B5-8EC7-68E363F28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E7976CF-A4D1-43E3-8790-B347321F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2030E38-CA7B-4BF1-8D2E-D9CC4A20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88111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3924723-10D2-46A4-977D-E3473956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C0483C6-0DC8-467B-9028-75C75DF4E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4C44316-C860-4938-BF5E-B167588B6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146552B-0EE9-4491-85A7-268FA03F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11EC619-7849-48B2-B6DD-1BE3FB50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7349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90B4053-5A48-4570-8EF1-AD4314DDC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4E32BB5-E98D-42AE-B151-B28E693FF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 dirty="0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E8FD4CB-6BE9-46D6-B54B-B8E747533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9C6C1DD-7030-4C18-94C0-631E607A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67091A3-65B1-4E66-941F-CEE60ACC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752506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6ACBF48-3AA0-4C80-8F1C-408DE504F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D431040-4DEC-48B9-A2BC-BA094799C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DB8B3242-A3EA-4873-A995-A13485CFE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0E5173E-B634-404A-AAA3-4480DFED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6E90413-8186-4F2C-8584-4030ABC46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B9DB9B77-7C1A-4F39-BC85-B126E38B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4679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1742928-F1AC-4B1E-AC8C-FAD2F6DAE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9776962" cy="1316038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D0AD1A1-7D46-4C93-AE36-4D9C68FBD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643DC3B-EBFD-40AB-9FB9-345DBDB10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591DEDB6-A7AE-4F1F-BC06-0FBE0907D6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B9C4B301-C396-4776-8C49-CFE28C5D5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F0138318-15EA-41F2-9420-5B24D7C8D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56E7A838-1416-47C0-A7EE-843796F61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53A93D7E-74A5-4F4D-9A55-E8D27A13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448460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531ADD5-1C1B-42EB-8946-0D292B0F6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4967478A-869E-4133-B3CD-66A8D6A0E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F79DF41C-03A1-4973-B76D-22AF72173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6325A55B-F9FA-4EA5-8829-30B298AE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080311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0CCBA059-E83F-4683-97C5-D6FE26F5E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C9F1CBDE-3992-4026-8164-69060D539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9D5D6A7-DE74-45ED-9854-280E4D2C1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977031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5579A3C-585C-4203-9437-A5EFAF56F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B0BF247-1257-4D4D-ABE5-ED565DC24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7CC339F5-9E8D-482B-801F-1F9E12984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69D0C026-24EE-4347-B7FC-060DB0F2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D257A25-971D-42A1-9E88-B4A70C12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369E611-E1A2-4825-9AEA-4893A203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118698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E1D976D-BC9E-4FA1-9634-09604A16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38EF2A34-81E1-4416-B36A-17AF1D40C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5744743-2007-4B62-B5D4-C64DD47A9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A8C0DA39-4C5D-4C16-9293-3F9DFAE68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9E19C14-4F05-4F0B-9255-ED5A5EBE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654F5EC2-78D6-48DF-8F9D-089A2A13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456408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1454825-58A1-4327-998A-11B9BE3C7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D6CAC458-9589-4730-9DF6-8E010AAB9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AF51FF0-3D0D-4EAE-893B-FF759CF6A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E8D321D-EE6C-4DB4-BFFC-24EAAE44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2DC90EC-9304-4C5D-8BF3-0B007A8F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765576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6E192925-1A80-49B7-AEC2-F07EAE8E7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29005" y="365125"/>
            <a:ext cx="2023009" cy="5811838"/>
          </a:xfrm>
        </p:spPr>
        <p:txBody>
          <a:bodyPr vert="eaVert"/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6B442519-F058-4278-AE8A-092F21C2F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480412" cy="5811838"/>
          </a:xfrm>
        </p:spPr>
        <p:txBody>
          <a:bodyPr vert="eaVert"/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50B2041-250D-4927-A1B1-162B13C9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1B4478B-221E-4E01-8B8D-9BFA24A5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F955245-947A-45DA-9FE6-AAD59649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2685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>
            <a:extLst>
              <a:ext uri="{FF2B5EF4-FFF2-40B4-BE49-F238E27FC236}">
                <a16:creationId xmlns:a16="http://schemas.microsoft.com/office/drawing/2014/main" id="{AAA154D6-70D5-4E48-849F-C6B938C0F986}"/>
              </a:ext>
            </a:extLst>
          </p:cNvPr>
          <p:cNvSpPr/>
          <p:nvPr userDrawn="1"/>
        </p:nvSpPr>
        <p:spPr>
          <a:xfrm>
            <a:off x="10711543" y="235131"/>
            <a:ext cx="1214846" cy="7399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7" name="Bilde 6" descr="Kristiania logo hvit">
            <a:extLst>
              <a:ext uri="{FF2B5EF4-FFF2-40B4-BE49-F238E27FC236}">
                <a16:creationId xmlns:a16="http://schemas.microsoft.com/office/drawing/2014/main" id="{FB9B7695-D3CE-39EA-009F-5C755CE947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34354" y="2549171"/>
            <a:ext cx="4523291" cy="175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397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E994CAE-D801-4A05-8AFD-8AB363551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152582CD-8242-4270-B0FC-8E7889E08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2FFEFBE-997F-49B5-8EC7-68E363F28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E7976CF-A4D1-43E3-8790-B347321F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2030E38-CA7B-4BF1-8D2E-D9CC4A20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144397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3924723-10D2-46A4-977D-E3473956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C0483C6-0DC8-467B-9028-75C75DF4E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4C44316-C860-4938-BF5E-B167588B6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146552B-0EE9-4491-85A7-268FA03F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11EC619-7849-48B2-B6DD-1BE3FB50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754540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90B4053-5A48-4570-8EF1-AD4314DDC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4E32BB5-E98D-42AE-B151-B28E693FF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E8FD4CB-6BE9-46D6-B54B-B8E747533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9C6C1DD-7030-4C18-94C0-631E607A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67091A3-65B1-4E66-941F-CEE60ACC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192918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6ACBF48-3AA0-4C80-8F1C-408DE504F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D431040-4DEC-48B9-A2BC-BA094799C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DB8B3242-A3EA-4873-A995-A13485CFE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0E5173E-B634-404A-AAA3-4480DFED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6E90413-8186-4F2C-8584-4030ABC46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B9DB9B77-7C1A-4F39-BC85-B126E38B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606506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1742928-F1AC-4B1E-AC8C-FAD2F6DAE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9776962" cy="1316038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D0AD1A1-7D46-4C93-AE36-4D9C68FBD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643DC3B-EBFD-40AB-9FB9-345DBDB10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591DEDB6-A7AE-4F1F-BC06-0FBE0907D6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B9C4B301-C396-4776-8C49-CFE28C5D5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F0138318-15EA-41F2-9420-5B24D7C8D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56E7A838-1416-47C0-A7EE-843796F61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53A93D7E-74A5-4F4D-9A55-E8D27A13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741092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531ADD5-1C1B-42EB-8946-0D292B0F6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4967478A-869E-4133-B3CD-66A8D6A0E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F79DF41C-03A1-4973-B76D-22AF72173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6325A55B-F9FA-4EA5-8829-30B298AE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187188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0CCBA059-E83F-4683-97C5-D6FE26F5E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C9F1CBDE-3992-4026-8164-69060D539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9D5D6A7-DE74-45ED-9854-280E4D2C1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726932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5579A3C-585C-4203-9437-A5EFAF56F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B0BF247-1257-4D4D-ABE5-ED565DC24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7CC339F5-9E8D-482B-801F-1F9E12984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69D0C026-24EE-4347-B7FC-060DB0F2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D257A25-971D-42A1-9E88-B4A70C12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369E611-E1A2-4825-9AEA-4893A203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314346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E1D976D-BC9E-4FA1-9634-09604A16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38EF2A34-81E1-4416-B36A-17AF1D40C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5744743-2007-4B62-B5D4-C64DD47A9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A8C0DA39-4C5D-4C16-9293-3F9DFAE68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9E19C14-4F05-4F0B-9255-ED5A5EBE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654F5EC2-78D6-48DF-8F9D-089A2A13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983838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1454825-58A1-4327-998A-11B9BE3C7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D6CAC458-9589-4730-9DF6-8E010AAB9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AF51FF0-3D0D-4EAE-893B-FF759CF6A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E8D321D-EE6C-4DB4-BFFC-24EAAE44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2DC90EC-9304-4C5D-8BF3-0B007A8F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834494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6E192925-1A80-49B7-AEC2-F07EAE8E7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29005" y="365125"/>
            <a:ext cx="2023009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6B442519-F058-4278-AE8A-092F21C2F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480412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50B2041-250D-4927-A1B1-162B13C9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1B4478B-221E-4E01-8B8D-9BFA24A5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F955245-947A-45DA-9FE6-AAD59649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065018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A4C9AFF2-AFFE-2C40-B469-FE4B4761F9CF}"/>
              </a:ext>
            </a:extLst>
          </p:cNvPr>
          <p:cNvSpPr/>
          <p:nvPr userDrawn="1"/>
        </p:nvSpPr>
        <p:spPr>
          <a:xfrm>
            <a:off x="10722541" y="302690"/>
            <a:ext cx="1214846" cy="739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Bilde 2" descr="Kristiania logo sort">
            <a:extLst>
              <a:ext uri="{FF2B5EF4-FFF2-40B4-BE49-F238E27FC236}">
                <a16:creationId xmlns:a16="http://schemas.microsoft.com/office/drawing/2014/main" id="{A3C43C7A-CC2D-786B-6530-C94CBDC91D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33952" y="2554237"/>
            <a:ext cx="4497248" cy="174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259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E994CAE-D801-4A05-8AFD-8AB363551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152582CD-8242-4270-B0FC-8E7889E08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dirty="0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2FFEFBE-997F-49B5-8EC7-68E363F28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E7976CF-A4D1-43E3-8790-B347321F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2030E38-CA7B-4BF1-8D2E-D9CC4A20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185541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3924723-10D2-46A4-977D-E3473956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C0483C6-0DC8-467B-9028-75C75DF4E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4C44316-C860-4938-BF5E-B167588B6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146552B-0EE9-4491-85A7-268FA03F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11EC619-7849-48B2-B6DD-1BE3FB50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116384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90B4053-5A48-4570-8EF1-AD4314DDC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4E32BB5-E98D-42AE-B151-B28E693FF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 dirty="0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E8FD4CB-6BE9-46D6-B54B-B8E747533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9C6C1DD-7030-4C18-94C0-631E607A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67091A3-65B1-4E66-941F-CEE60ACC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194555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6ACBF48-3AA0-4C80-8F1C-408DE504F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D431040-4DEC-48B9-A2BC-BA094799C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DB8B3242-A3EA-4873-A995-A13485CFE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0E5173E-B634-404A-AAA3-4480DFED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6E90413-8186-4F2C-8584-4030ABC46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B9DB9B77-7C1A-4F39-BC85-B126E38B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34933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1742928-F1AC-4B1E-AC8C-FAD2F6DAE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9776962" cy="1316038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D0AD1A1-7D46-4C93-AE36-4D9C68FBD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643DC3B-EBFD-40AB-9FB9-345DBDB10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591DEDB6-A7AE-4F1F-BC06-0FBE0907D6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B9C4B301-C396-4776-8C49-CFE28C5D5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F0138318-15EA-41F2-9420-5B24D7C8D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56E7A838-1416-47C0-A7EE-843796F61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53A93D7E-74A5-4F4D-9A55-E8D27A13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394885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531ADD5-1C1B-42EB-8946-0D292B0F6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4967478A-869E-4133-B3CD-66A8D6A0E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F79DF41C-03A1-4973-B76D-22AF72173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6325A55B-F9FA-4EA5-8829-30B298AE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526656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0CCBA059-E83F-4683-97C5-D6FE26F5E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C9F1CBDE-3992-4026-8164-69060D539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9D5D6A7-DE74-45ED-9854-280E4D2C1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913999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5579A3C-585C-4203-9437-A5EFAF56F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B0BF247-1257-4D4D-ABE5-ED565DC24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7CC339F5-9E8D-482B-801F-1F9E12984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69D0C026-24EE-4347-B7FC-060DB0F2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D257A25-971D-42A1-9E88-B4A70C12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369E611-E1A2-4825-9AEA-4893A203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130981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E1D976D-BC9E-4FA1-9634-09604A16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38EF2A34-81E1-4416-B36A-17AF1D40C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5744743-2007-4B62-B5D4-C64DD47A9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A8C0DA39-4C5D-4C16-9293-3F9DFAE68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9E19C14-4F05-4F0B-9255-ED5A5EBE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654F5EC2-78D6-48DF-8F9D-089A2A13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9845842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1454825-58A1-4327-998A-11B9BE3C7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D6CAC458-9589-4730-9DF6-8E010AAB9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AF51FF0-3D0D-4EAE-893B-FF759CF6A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E8D321D-EE6C-4DB4-BFFC-24EAAE44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2DC90EC-9304-4C5D-8BF3-0B007A8F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312697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6E192925-1A80-49B7-AEC2-F07EAE8E7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29005" y="365125"/>
            <a:ext cx="2023009" cy="5811838"/>
          </a:xfrm>
        </p:spPr>
        <p:txBody>
          <a:bodyPr vert="eaVert"/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6B442519-F058-4278-AE8A-092F21C2F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480412" cy="5811838"/>
          </a:xfrm>
        </p:spPr>
        <p:txBody>
          <a:bodyPr vert="eaVert"/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50B2041-250D-4927-A1B1-162B13C9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1B4478B-221E-4E01-8B8D-9BFA24A5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F955245-947A-45DA-9FE6-AAD59649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9613358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A4C9AFF2-AFFE-2C40-B469-FE4B4761F9CF}"/>
              </a:ext>
            </a:extLst>
          </p:cNvPr>
          <p:cNvSpPr/>
          <p:nvPr userDrawn="1"/>
        </p:nvSpPr>
        <p:spPr>
          <a:xfrm>
            <a:off x="10722541" y="302690"/>
            <a:ext cx="1214846" cy="739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Bilde 2" descr="Kristiania logo sort">
            <a:extLst>
              <a:ext uri="{FF2B5EF4-FFF2-40B4-BE49-F238E27FC236}">
                <a16:creationId xmlns:a16="http://schemas.microsoft.com/office/drawing/2014/main" id="{4D7A4DE7-04B2-611E-7BFD-409127FCAF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33952" y="2554237"/>
            <a:ext cx="4497248" cy="174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8488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E994CAE-D801-4A05-8AFD-8AB363551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152582CD-8242-4270-B0FC-8E7889E08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dirty="0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2FFEFBE-997F-49B5-8EC7-68E363F28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E7976CF-A4D1-43E3-8790-B347321F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2030E38-CA7B-4BF1-8D2E-D9CC4A20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33146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3924723-10D2-46A4-977D-E3473956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C0483C6-0DC8-467B-9028-75C75DF4E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4C44316-C860-4938-BF5E-B167588B6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146552B-0EE9-4491-85A7-268FA03F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11EC619-7849-48B2-B6DD-1BE3FB50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5862514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90B4053-5A48-4570-8EF1-AD4314DDC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4E32BB5-E98D-42AE-B151-B28E693FF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 dirty="0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E8FD4CB-6BE9-46D6-B54B-B8E747533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9C6C1DD-7030-4C18-94C0-631E607A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67091A3-65B1-4E66-941F-CEE60ACC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149035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6ACBF48-3AA0-4C80-8F1C-408DE504F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D431040-4DEC-48B9-A2BC-BA094799C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DB8B3242-A3EA-4873-A995-A13485CFE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0E5173E-B634-404A-AAA3-4480DFED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6E90413-8186-4F2C-8584-4030ABC46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B9DB9B77-7C1A-4F39-BC85-B126E38B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930767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1742928-F1AC-4B1E-AC8C-FAD2F6DAE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9776962" cy="1316038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D0AD1A1-7D46-4C93-AE36-4D9C68FBD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643DC3B-EBFD-40AB-9FB9-345DBDB10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591DEDB6-A7AE-4F1F-BC06-0FBE0907D6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B9C4B301-C396-4776-8C49-CFE28C5D5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F0138318-15EA-41F2-9420-5B24D7C8D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56E7A838-1416-47C0-A7EE-843796F61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53A93D7E-74A5-4F4D-9A55-E8D27A13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2432378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531ADD5-1C1B-42EB-8946-0D292B0F6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4967478A-869E-4133-B3CD-66A8D6A0E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F79DF41C-03A1-4973-B76D-22AF72173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6325A55B-F9FA-4EA5-8829-30B298AE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064894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0CCBA059-E83F-4683-97C5-D6FE26F5E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C9F1CBDE-3992-4026-8164-69060D539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9D5D6A7-DE74-45ED-9854-280E4D2C1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9444128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68683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5579A3C-585C-4203-9437-A5EFAF56F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B0BF247-1257-4D4D-ABE5-ED565DC24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7CC339F5-9E8D-482B-801F-1F9E12984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69D0C026-24EE-4347-B7FC-060DB0F2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D257A25-971D-42A1-9E88-B4A70C12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369E611-E1A2-4825-9AEA-4893A203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7344798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E1D976D-BC9E-4FA1-9634-09604A16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38EF2A34-81E1-4416-B36A-17AF1D40C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5744743-2007-4B62-B5D4-C64DD47A9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A8C0DA39-4C5D-4C16-9293-3F9DFAE68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9E19C14-4F05-4F0B-9255-ED5A5EBE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654F5EC2-78D6-48DF-8F9D-089A2A13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9960500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1454825-58A1-4327-998A-11B9BE3C7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D6CAC458-9589-4730-9DF6-8E010AAB9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AF51FF0-3D0D-4EAE-893B-FF759CF6A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E8D321D-EE6C-4DB4-BFFC-24EAAE44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2DC90EC-9304-4C5D-8BF3-0B007A8F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4046989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6E192925-1A80-49B7-AEC2-F07EAE8E7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29005" y="365125"/>
            <a:ext cx="2023009" cy="5811838"/>
          </a:xfrm>
        </p:spPr>
        <p:txBody>
          <a:bodyPr vert="eaVert"/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6B442519-F058-4278-AE8A-092F21C2F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480412" cy="5811838"/>
          </a:xfrm>
        </p:spPr>
        <p:txBody>
          <a:bodyPr vert="eaVert"/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50B2041-250D-4927-A1B1-162B13C9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1B4478B-221E-4E01-8B8D-9BFA24A5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F955245-947A-45DA-9FE6-AAD59649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8895369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A4C9AFF2-AFFE-2C40-B469-FE4B4761F9CF}"/>
              </a:ext>
            </a:extLst>
          </p:cNvPr>
          <p:cNvSpPr/>
          <p:nvPr userDrawn="1"/>
        </p:nvSpPr>
        <p:spPr>
          <a:xfrm>
            <a:off x="10722541" y="302690"/>
            <a:ext cx="1214846" cy="739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Bilde 2" descr="Kristiania logo sort">
            <a:extLst>
              <a:ext uri="{FF2B5EF4-FFF2-40B4-BE49-F238E27FC236}">
                <a16:creationId xmlns:a16="http://schemas.microsoft.com/office/drawing/2014/main" id="{4D7A4DE7-04B2-611E-7BFD-409127FCAF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33952" y="2554237"/>
            <a:ext cx="4497248" cy="174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8908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E994CAE-D801-4A05-8AFD-8AB363551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152582CD-8242-4270-B0FC-8E7889E08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dirty="0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2FFEFBE-997F-49B5-8EC7-68E363F28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E7976CF-A4D1-43E3-8790-B347321F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2030E38-CA7B-4BF1-8D2E-D9CC4A20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2225284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3924723-10D2-46A4-977D-E3473956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C0483C6-0DC8-467B-9028-75C75DF4E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4C44316-C860-4938-BF5E-B167588B6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146552B-0EE9-4491-85A7-268FA03F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11EC619-7849-48B2-B6DD-1BE3FB50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1497073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90B4053-5A48-4570-8EF1-AD4314DDC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4E32BB5-E98D-42AE-B151-B28E693FF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 dirty="0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E8FD4CB-6BE9-46D6-B54B-B8E747533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9C6C1DD-7030-4C18-94C0-631E607A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67091A3-65B1-4E66-941F-CEE60ACC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2569966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6ACBF48-3AA0-4C80-8F1C-408DE504F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D431040-4DEC-48B9-A2BC-BA094799C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DB8B3242-A3EA-4873-A995-A13485CFE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0E5173E-B634-404A-AAA3-4480DFED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6E90413-8186-4F2C-8584-4030ABC46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B9DB9B77-7C1A-4F39-BC85-B126E38B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1200414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1742928-F1AC-4B1E-AC8C-FAD2F6DAE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9776962" cy="1316038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D0AD1A1-7D46-4C93-AE36-4D9C68FBD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643DC3B-EBFD-40AB-9FB9-345DBDB10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591DEDB6-A7AE-4F1F-BC06-0FBE0907D6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B9C4B301-C396-4776-8C49-CFE28C5D5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F0138318-15EA-41F2-9420-5B24D7C8D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56E7A838-1416-47C0-A7EE-843796F61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53A93D7E-74A5-4F4D-9A55-E8D27A13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1841765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531ADD5-1C1B-42EB-8946-0D292B0F6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4967478A-869E-4133-B3CD-66A8D6A0E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F79DF41C-03A1-4973-B76D-22AF72173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6325A55B-F9FA-4EA5-8829-30B298AE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6774133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0CCBA059-E83F-4683-97C5-D6FE26F5E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C9F1CBDE-3992-4026-8164-69060D539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9D5D6A7-DE74-45ED-9854-280E4D2C1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077126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135821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5579A3C-585C-4203-9437-A5EFAF56F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B0BF247-1257-4D4D-ABE5-ED565DC24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7CC339F5-9E8D-482B-801F-1F9E12984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69D0C026-24EE-4347-B7FC-060DB0F2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D257A25-971D-42A1-9E88-B4A70C12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369E611-E1A2-4825-9AEA-4893A203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1611311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E1D976D-BC9E-4FA1-9634-09604A16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38EF2A34-81E1-4416-B36A-17AF1D40C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5744743-2007-4B62-B5D4-C64DD47A9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A8C0DA39-4C5D-4C16-9293-3F9DFAE68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9E19C14-4F05-4F0B-9255-ED5A5EBE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654F5EC2-78D6-48DF-8F9D-089A2A13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652717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1454825-58A1-4327-998A-11B9BE3C7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D6CAC458-9589-4730-9DF6-8E010AAB9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AF51FF0-3D0D-4EAE-893B-FF759CF6A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E8D321D-EE6C-4DB4-BFFC-24EAAE44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2DC90EC-9304-4C5D-8BF3-0B007A8F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425690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6E192925-1A80-49B7-AEC2-F07EAE8E7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29005" y="365125"/>
            <a:ext cx="2023009" cy="5811838"/>
          </a:xfrm>
        </p:spPr>
        <p:txBody>
          <a:bodyPr vert="eaVert"/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6B442519-F058-4278-AE8A-092F21C2F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480412" cy="5811838"/>
          </a:xfrm>
        </p:spPr>
        <p:txBody>
          <a:bodyPr vert="eaVert"/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50B2041-250D-4927-A1B1-162B13C9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F5A2-370D-4797-95EF-AF8B4F1CBE47}" type="datetimeFigureOut">
              <a:rPr lang="nb-NO" smtClean="0"/>
              <a:t>05.11.2025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1B4478B-221E-4E01-8B8D-9BFA24A5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F955245-947A-45DA-9FE6-AAD59649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A82EC-548F-4AC9-B6FB-240C84A49AA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0894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2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image" Target="../media/image3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image" Target="../media/image4.emf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F8F82CA8-F637-4929-BA27-400F2B8FD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542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C9D06F6-ADD7-410F-AF4E-535C42A91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C72DAFB-AB8B-4EF2-838D-493911E67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110F5A2-370D-4797-95EF-AF8B4F1CBE47}" type="datetimeFigureOut">
              <a:rPr lang="nb-NO" smtClean="0"/>
              <a:pPr/>
              <a:t>05.11.2025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78C4900-0A35-44EA-B054-B9397C7C1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7F7D757-1DAE-405D-BB5E-EE802CEE7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9A82EC-548F-4AC9-B6FB-240C84A49AAA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9" name="Bilde 8">
            <a:extLst>
              <a:ext uri="{FF2B5EF4-FFF2-40B4-BE49-F238E27FC236}">
                <a16:creationId xmlns:a16="http://schemas.microsoft.com/office/drawing/2014/main" id="{2F8DE673-2DA0-212A-D550-73A3BDE4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765440" y="349821"/>
            <a:ext cx="1139046" cy="44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687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64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ekant 10">
            <a:extLst>
              <a:ext uri="{FF2B5EF4-FFF2-40B4-BE49-F238E27FC236}">
                <a16:creationId xmlns:a16="http://schemas.microsoft.com/office/drawing/2014/main" id="{C5D4931B-87EA-D24E-99B7-5EDA3AFEFFF5}"/>
              </a:ext>
            </a:extLst>
          </p:cNvPr>
          <p:cNvSpPr/>
          <p:nvPr userDrawn="1"/>
        </p:nvSpPr>
        <p:spPr>
          <a:xfrm>
            <a:off x="5893021" y="3716434"/>
            <a:ext cx="6298979" cy="3141566"/>
          </a:xfrm>
          <a:prstGeom prst="triangl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Trekant 11">
            <a:extLst>
              <a:ext uri="{FF2B5EF4-FFF2-40B4-BE49-F238E27FC236}">
                <a16:creationId xmlns:a16="http://schemas.microsoft.com/office/drawing/2014/main" id="{EE03E5AF-3F68-D748-AD1A-0D1F33438E18}"/>
              </a:ext>
            </a:extLst>
          </p:cNvPr>
          <p:cNvSpPr/>
          <p:nvPr userDrawn="1"/>
        </p:nvSpPr>
        <p:spPr>
          <a:xfrm>
            <a:off x="4587732" y="5212076"/>
            <a:ext cx="2255210" cy="1124768"/>
          </a:xfrm>
          <a:prstGeom prst="triangl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Trekant 12">
            <a:extLst>
              <a:ext uri="{FF2B5EF4-FFF2-40B4-BE49-F238E27FC236}">
                <a16:creationId xmlns:a16="http://schemas.microsoft.com/office/drawing/2014/main" id="{34306FB5-ACC0-014D-94CF-83DE53D00841}"/>
              </a:ext>
            </a:extLst>
          </p:cNvPr>
          <p:cNvSpPr/>
          <p:nvPr userDrawn="1"/>
        </p:nvSpPr>
        <p:spPr>
          <a:xfrm rot="10800000">
            <a:off x="838199" y="0"/>
            <a:ext cx="3799117" cy="1894780"/>
          </a:xfrm>
          <a:prstGeom prst="triangl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Trekant 13">
            <a:extLst>
              <a:ext uri="{FF2B5EF4-FFF2-40B4-BE49-F238E27FC236}">
                <a16:creationId xmlns:a16="http://schemas.microsoft.com/office/drawing/2014/main" id="{CF14BA66-F082-D84C-9FD6-2F0BC3682335}"/>
              </a:ext>
            </a:extLst>
          </p:cNvPr>
          <p:cNvSpPr/>
          <p:nvPr userDrawn="1"/>
        </p:nvSpPr>
        <p:spPr>
          <a:xfrm rot="10800000">
            <a:off x="3568339" y="365125"/>
            <a:ext cx="1748250" cy="871926"/>
          </a:xfrm>
          <a:prstGeom prst="triangl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Trekant 14">
            <a:extLst>
              <a:ext uri="{FF2B5EF4-FFF2-40B4-BE49-F238E27FC236}">
                <a16:creationId xmlns:a16="http://schemas.microsoft.com/office/drawing/2014/main" id="{23F1FB15-BD52-C14D-AC35-04C0010F46D9}"/>
              </a:ext>
            </a:extLst>
          </p:cNvPr>
          <p:cNvSpPr/>
          <p:nvPr userDrawn="1"/>
        </p:nvSpPr>
        <p:spPr>
          <a:xfrm rot="10800000">
            <a:off x="6126658" y="371750"/>
            <a:ext cx="716284" cy="357241"/>
          </a:xfrm>
          <a:prstGeom prst="triangl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F8F82CA8-F637-4929-BA27-400F2B8FD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542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C9D06F6-ADD7-410F-AF4E-535C42A91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C72DAFB-AB8B-4EF2-838D-493911E67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110F5A2-370D-4797-95EF-AF8B4F1CBE47}" type="datetimeFigureOut">
              <a:rPr lang="nb-NO" smtClean="0"/>
              <a:pPr/>
              <a:t>05.11.2025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78C4900-0A35-44EA-B054-B9397C7C1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7F7D757-1DAE-405D-BB5E-EE802CEE7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9A82EC-548F-4AC9-B6FB-240C84A49AAA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8" name="Trekant 17">
            <a:extLst>
              <a:ext uri="{FF2B5EF4-FFF2-40B4-BE49-F238E27FC236}">
                <a16:creationId xmlns:a16="http://schemas.microsoft.com/office/drawing/2014/main" id="{E250E4CC-A1EF-9647-A271-8629B0E7986C}"/>
              </a:ext>
            </a:extLst>
          </p:cNvPr>
          <p:cNvSpPr/>
          <p:nvPr userDrawn="1"/>
        </p:nvSpPr>
        <p:spPr>
          <a:xfrm>
            <a:off x="838199" y="6006363"/>
            <a:ext cx="716284" cy="357241"/>
          </a:xfrm>
          <a:prstGeom prst="triangl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9C860877-0013-FD33-97FA-9CF237F3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749480" y="349593"/>
            <a:ext cx="1169807" cy="45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87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ekant 10">
            <a:extLst>
              <a:ext uri="{FF2B5EF4-FFF2-40B4-BE49-F238E27FC236}">
                <a16:creationId xmlns:a16="http://schemas.microsoft.com/office/drawing/2014/main" id="{C5D4931B-87EA-D24E-99B7-5EDA3AFEFFF5}"/>
              </a:ext>
            </a:extLst>
          </p:cNvPr>
          <p:cNvSpPr/>
          <p:nvPr userDrawn="1"/>
        </p:nvSpPr>
        <p:spPr>
          <a:xfrm>
            <a:off x="5893021" y="3716434"/>
            <a:ext cx="6298979" cy="3141566"/>
          </a:xfrm>
          <a:prstGeom prst="triangle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Trekant 11">
            <a:extLst>
              <a:ext uri="{FF2B5EF4-FFF2-40B4-BE49-F238E27FC236}">
                <a16:creationId xmlns:a16="http://schemas.microsoft.com/office/drawing/2014/main" id="{EE03E5AF-3F68-D748-AD1A-0D1F33438E18}"/>
              </a:ext>
            </a:extLst>
          </p:cNvPr>
          <p:cNvSpPr/>
          <p:nvPr userDrawn="1"/>
        </p:nvSpPr>
        <p:spPr>
          <a:xfrm>
            <a:off x="4587732" y="5212076"/>
            <a:ext cx="2255210" cy="1124768"/>
          </a:xfrm>
          <a:prstGeom prst="triangle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Trekant 12">
            <a:extLst>
              <a:ext uri="{FF2B5EF4-FFF2-40B4-BE49-F238E27FC236}">
                <a16:creationId xmlns:a16="http://schemas.microsoft.com/office/drawing/2014/main" id="{34306FB5-ACC0-014D-94CF-83DE53D00841}"/>
              </a:ext>
            </a:extLst>
          </p:cNvPr>
          <p:cNvSpPr/>
          <p:nvPr userDrawn="1"/>
        </p:nvSpPr>
        <p:spPr>
          <a:xfrm rot="10800000">
            <a:off x="838199" y="0"/>
            <a:ext cx="3799117" cy="1894780"/>
          </a:xfrm>
          <a:prstGeom prst="triangle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Trekant 13">
            <a:extLst>
              <a:ext uri="{FF2B5EF4-FFF2-40B4-BE49-F238E27FC236}">
                <a16:creationId xmlns:a16="http://schemas.microsoft.com/office/drawing/2014/main" id="{CF14BA66-F082-D84C-9FD6-2F0BC3682335}"/>
              </a:ext>
            </a:extLst>
          </p:cNvPr>
          <p:cNvSpPr/>
          <p:nvPr userDrawn="1"/>
        </p:nvSpPr>
        <p:spPr>
          <a:xfrm rot="10800000">
            <a:off x="3568339" y="365125"/>
            <a:ext cx="1748250" cy="871926"/>
          </a:xfrm>
          <a:prstGeom prst="triangle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Trekant 14">
            <a:extLst>
              <a:ext uri="{FF2B5EF4-FFF2-40B4-BE49-F238E27FC236}">
                <a16:creationId xmlns:a16="http://schemas.microsoft.com/office/drawing/2014/main" id="{23F1FB15-BD52-C14D-AC35-04C0010F46D9}"/>
              </a:ext>
            </a:extLst>
          </p:cNvPr>
          <p:cNvSpPr/>
          <p:nvPr userDrawn="1"/>
        </p:nvSpPr>
        <p:spPr>
          <a:xfrm rot="10800000">
            <a:off x="6126658" y="371750"/>
            <a:ext cx="716284" cy="357241"/>
          </a:xfrm>
          <a:prstGeom prst="triangle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F8F82CA8-F637-4929-BA27-400F2B8FD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542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C9D06F6-ADD7-410F-AF4E-535C42A91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C72DAFB-AB8B-4EF2-838D-493911E67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F5A2-370D-4797-95EF-AF8B4F1CBE47}" type="datetimeFigureOut">
              <a:rPr lang="nb-NO" smtClean="0"/>
              <a:pPr/>
              <a:t>05.11.2025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78C4900-0A35-44EA-B054-B9397C7C1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7F7D757-1DAE-405D-BB5E-EE802CEE7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19A82EC-548F-4AC9-B6FB-240C84A49AAA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8" name="Trekant 17">
            <a:extLst>
              <a:ext uri="{FF2B5EF4-FFF2-40B4-BE49-F238E27FC236}">
                <a16:creationId xmlns:a16="http://schemas.microsoft.com/office/drawing/2014/main" id="{E250E4CC-A1EF-9647-A271-8629B0E7986C}"/>
              </a:ext>
            </a:extLst>
          </p:cNvPr>
          <p:cNvSpPr/>
          <p:nvPr userDrawn="1"/>
        </p:nvSpPr>
        <p:spPr>
          <a:xfrm>
            <a:off x="838199" y="6006363"/>
            <a:ext cx="716284" cy="357241"/>
          </a:xfrm>
          <a:prstGeom prst="triangle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CF303B43-19F2-ECA9-BC37-AEADB9E55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765439" y="352508"/>
            <a:ext cx="1139046" cy="44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04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F8F82CA8-F637-4929-BA27-400F2B8FD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542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C9D06F6-ADD7-410F-AF4E-535C42A91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C72DAFB-AB8B-4EF2-838D-493911E67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110F5A2-370D-4797-95EF-AF8B4F1CBE47}" type="datetimeFigureOut">
              <a:rPr lang="nb-NO" smtClean="0"/>
              <a:pPr/>
              <a:t>05.11.2025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78C4900-0A35-44EA-B054-B9397C7C1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7F7D757-1DAE-405D-BB5E-EE802CEE7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9A82EC-548F-4AC9-B6FB-240C84A49AAA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8180014D-5DA9-0309-226F-10EE6FF14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749480" y="349593"/>
            <a:ext cx="1169807" cy="45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19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F8F82CA8-F637-4929-BA27-400F2B8FD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542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C9D06F6-ADD7-410F-AF4E-535C42A91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C72DAFB-AB8B-4EF2-838D-493911E67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110F5A2-370D-4797-95EF-AF8B4F1CBE47}" type="datetimeFigureOut">
              <a:rPr lang="nb-NO" smtClean="0"/>
              <a:pPr/>
              <a:t>05.11.2025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78C4900-0A35-44EA-B054-B9397C7C1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7F7D757-1DAE-405D-BB5E-EE802CEE7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9A82EC-548F-4AC9-B6FB-240C84A49AAA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11" name="Bilde 10">
            <a:extLst>
              <a:ext uri="{FF2B5EF4-FFF2-40B4-BE49-F238E27FC236}">
                <a16:creationId xmlns:a16="http://schemas.microsoft.com/office/drawing/2014/main" id="{81F4299A-3642-C2F1-8D61-3F0BCC19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1451446" y="352509"/>
            <a:ext cx="453041" cy="47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5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6" r:id="rId9"/>
    <p:sldLayoutId id="2147483722" r:id="rId10"/>
    <p:sldLayoutId id="2147483723" r:id="rId11"/>
    <p:sldLayoutId id="2147483724" r:id="rId12"/>
    <p:sldLayoutId id="214748372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F8F82CA8-F637-4929-BA27-400F2B8FD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C9D06F6-ADD7-410F-AF4E-535C42A91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C72DAFB-AB8B-4EF2-838D-493911E67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110F5A2-370D-4797-95EF-AF8B4F1CBE47}" type="datetimeFigureOut">
              <a:rPr lang="nb-NO" smtClean="0"/>
              <a:pPr/>
              <a:t>05.11.2025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78C4900-0A35-44EA-B054-B9397C7C1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7F7D757-1DAE-405D-BB5E-EE802CEE7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9A82EC-548F-4AC9-B6FB-240C84A49AAA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040107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uamin.ren@kristiania.n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D65B1-6E3C-1E4A-9F86-DFC413629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126" y="1063486"/>
            <a:ext cx="11421742" cy="2097157"/>
          </a:xfrm>
        </p:spPr>
        <p:txBody>
          <a:bodyPr anchor="b">
            <a:normAutofit/>
          </a:bodyPr>
          <a:lstStyle/>
          <a:p>
            <a:pPr algn="l"/>
            <a:r>
              <a:rPr lang="en-GB" sz="4800" dirty="0"/>
              <a:t>PGR 210 - </a:t>
            </a:r>
            <a:r>
              <a:rPr lang="en-NO" sz="4800" dirty="0"/>
              <a:t>Natural </a:t>
            </a:r>
            <a:r>
              <a:rPr lang="en-NO" sz="4800"/>
              <a:t>Language Processing</a:t>
            </a:r>
            <a:br>
              <a:rPr lang="en-US" sz="4800" dirty="0"/>
            </a:br>
            <a:r>
              <a:rPr lang="en-US" sz="4800" dirty="0"/>
              <a:t>Lec11</a:t>
            </a:r>
            <a:endParaRPr lang="en-NO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316F1-725A-334B-B2D9-96C5289375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 dirty="0"/>
              <a:t>B</a:t>
            </a:r>
            <a:r>
              <a:rPr lang="en-NO" dirty="0"/>
              <a:t>y Huamin Ren</a:t>
            </a:r>
          </a:p>
          <a:p>
            <a:pPr algn="l"/>
            <a:r>
              <a:rPr lang="en-GB" dirty="0">
                <a:hlinkClick r:id="rId3"/>
              </a:rPr>
              <a:t>H</a:t>
            </a:r>
            <a:r>
              <a:rPr lang="en-NO" dirty="0">
                <a:hlinkClick r:id="rId3"/>
              </a:rPr>
              <a:t>uamin.ren@kristiania.no</a:t>
            </a:r>
            <a:endParaRPr lang="en-NO" dirty="0"/>
          </a:p>
          <a:p>
            <a:pPr algn="l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847118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18CB2-4A51-634E-8446-4DBEF309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D78C1-27C0-7A45-B2D0-6322F0679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Adding deeper memory to recurrent neural nets</a:t>
            </a:r>
          </a:p>
          <a:p>
            <a:r>
              <a:rPr lang="en-GB" dirty="0"/>
              <a:t>Gating information inside neural nets</a:t>
            </a:r>
          </a:p>
          <a:p>
            <a:r>
              <a:rPr lang="en-GB" dirty="0"/>
              <a:t>Classifying and generating text</a:t>
            </a:r>
          </a:p>
          <a:p>
            <a:r>
              <a:rPr lang="en-GB" dirty="0" err="1"/>
              <a:t>Modeling</a:t>
            </a:r>
            <a:r>
              <a:rPr lang="en-GB" dirty="0"/>
              <a:t> language patterns</a:t>
            </a:r>
            <a:endParaRPr lang="en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8B7AAD-63A7-FF42-B1D5-D3D229AA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Huamin</a:t>
            </a:r>
            <a:r>
              <a:rPr lang="en-GB" dirty="0"/>
              <a:t> Ren, PGR107 Python Programming</a:t>
            </a:r>
            <a:endParaRPr lang="en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CB85DD-5B8A-364D-BDA3-8DBCAD2C9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8AA9-B619-C943-B24A-B45B3129B3DF}" type="slidenum">
              <a:rPr lang="en-NO" smtClean="0"/>
              <a:t>2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23806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AABE4-D67A-DEEB-5718-438521309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61DBD-214A-0FE8-3C81-A67ABF387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F8C44-3B09-5C8E-6EA2-A8B636CE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i="1" u="sng" dirty="0">
                <a:solidFill>
                  <a:srgbClr val="FF0000"/>
                </a:solidFill>
              </a:rPr>
              <a:t>Adding deeper memory to recurrent neural nets</a:t>
            </a:r>
          </a:p>
          <a:p>
            <a:r>
              <a:rPr lang="en-GB" dirty="0"/>
              <a:t>Gating information inside neural nets</a:t>
            </a:r>
          </a:p>
          <a:p>
            <a:r>
              <a:rPr lang="en-GB" dirty="0"/>
              <a:t>Classifying and generating text</a:t>
            </a:r>
          </a:p>
          <a:p>
            <a:r>
              <a:rPr lang="en-GB" dirty="0" err="1"/>
              <a:t>Modeling</a:t>
            </a:r>
            <a:r>
              <a:rPr lang="en-GB" dirty="0"/>
              <a:t> language patterns</a:t>
            </a:r>
            <a:endParaRPr lang="en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27AA85-E6C0-0622-4A6D-9BDC5A958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Huamin</a:t>
            </a:r>
            <a:r>
              <a:rPr lang="en-GB" dirty="0"/>
              <a:t> Ren, PGR107 Python Programming</a:t>
            </a:r>
            <a:endParaRPr lang="en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B3558AA-AED7-A2AC-672B-D108B268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8AA9-B619-C943-B24A-B45B3129B3DF}" type="slidenum">
              <a:rPr lang="en-NO" smtClean="0"/>
              <a:t>3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26859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6F4DF-C931-EB83-9513-BA0A4D2D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1 An example</a:t>
            </a:r>
            <a:endParaRPr lang="en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22E1D-6847-A6D4-863C-A1B748C3B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The young woman, having found a free ticket on the ground, went to the movies.</a:t>
            </a:r>
          </a:p>
          <a:p>
            <a:pPr lvl="1"/>
            <a:r>
              <a:rPr lang="en-US" dirty="0"/>
              <a:t>A recurrent neural net is going to have difficulty picking up on the relationship between the subject “woman” and main verb “went” in this new, longer sentence.</a:t>
            </a:r>
          </a:p>
          <a:p>
            <a:pPr lvl="1"/>
            <a:r>
              <a:rPr lang="en-US" dirty="0"/>
              <a:t>The connection to “went” is underemphasized, we need a solution!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E5B3E-9CDE-82DF-A603-32168F2F1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8AA9-B619-C943-B24A-B45B3129B3DF}" type="slidenum">
              <a:rPr lang="en-NO" smtClean="0"/>
              <a:t>4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456071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DA6AE-3C13-F2B2-EE07-A2F60FDFA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1.2 long short-term memory (LSTM)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E5140-EFB7-F520-99F1-3053D84D4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LSTMs introduce the concept of a </a:t>
            </a:r>
            <a:r>
              <a:rPr lang="en-US" b="1" i="1" dirty="0">
                <a:solidFill>
                  <a:srgbClr val="FF0000"/>
                </a:solidFill>
              </a:rPr>
              <a:t>state</a:t>
            </a:r>
            <a:r>
              <a:rPr lang="en-US" dirty="0"/>
              <a:t> for each layer in the recurrent network</a:t>
            </a:r>
          </a:p>
          <a:p>
            <a:r>
              <a:rPr lang="en-US" dirty="0"/>
              <a:t>The state acts as its memory – can be thought similarly as adding attributes to a class in object oriented programming</a:t>
            </a:r>
          </a:p>
          <a:p>
            <a:r>
              <a:rPr lang="en-US" dirty="0"/>
              <a:t>The memory state’s attributes are updated with each training example</a:t>
            </a:r>
          </a:p>
        </p:txBody>
      </p:sp>
    </p:spTree>
    <p:extLst>
      <p:ext uri="{BB962C8B-B14F-4D97-AF65-F5344CB8AC3E}">
        <p14:creationId xmlns:p14="http://schemas.microsoft.com/office/powerpoint/2010/main" val="2757814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35F14-26BF-E6AA-AFA2-A7BCCC9B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1.2 long short-term memory (LSTM)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30C25-FFA7-1875-DF6F-5F9ABAFF3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LSTM can be trained to learn:</a:t>
            </a:r>
          </a:p>
          <a:p>
            <a:pPr lvl="1"/>
            <a:r>
              <a:rPr lang="en-US" dirty="0"/>
              <a:t>What to remember</a:t>
            </a:r>
          </a:p>
          <a:p>
            <a:pPr lvl="1"/>
            <a:r>
              <a:rPr lang="en-US" dirty="0"/>
              <a:t>While the rest of the recurrent net learns to predict the target label</a:t>
            </a:r>
          </a:p>
          <a:p>
            <a:r>
              <a:rPr lang="en-US" dirty="0"/>
              <a:t>Dependencies can be learned</a:t>
            </a:r>
          </a:p>
          <a:p>
            <a:pPr lvl="1"/>
            <a:r>
              <a:rPr lang="en-US" dirty="0"/>
              <a:t>stretch not just one or two tokens away, but across the entirety of each data sample</a:t>
            </a:r>
          </a:p>
        </p:txBody>
      </p:sp>
    </p:spTree>
    <p:extLst>
      <p:ext uri="{BB962C8B-B14F-4D97-AF65-F5344CB8AC3E}">
        <p14:creationId xmlns:p14="http://schemas.microsoft.com/office/powerpoint/2010/main" val="2082365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F3235-BD00-D63F-32FE-86823A5B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1.2 long short-term memory (LSTM)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48C452-2A89-A33D-497E-2E76CE2C1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3150" y="2007394"/>
            <a:ext cx="4965700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90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DBF74-6A37-A985-C671-B95E376D1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1.2 long short-term memory (LSTM)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63D692-CD8D-13D7-5997-FB3D2F1D9A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6450" y="1969294"/>
            <a:ext cx="54991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63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91C6-59AC-58A8-D329-BE63AD199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1.2 long short-term memory (LSTM)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E24D87-2FE9-FB0C-FFF5-341FE06D7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390" y="2542376"/>
            <a:ext cx="7425121" cy="28558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2B40EB-F137-C36D-5E41-3639DD701675}"/>
              </a:ext>
            </a:extLst>
          </p:cNvPr>
          <p:cNvSpPr txBox="1"/>
          <p:nvPr/>
        </p:nvSpPr>
        <p:spPr>
          <a:xfrm>
            <a:off x="7919511" y="2795752"/>
            <a:ext cx="31531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As information flows into the</a:t>
            </a:r>
            <a:endParaRPr lang="en-US" dirty="0"/>
          </a:p>
          <a:p>
            <a:r>
              <a:rPr lang="en-US" i="1" dirty="0"/>
              <a:t>cell instead of a vector of weights, it’s now greeted by three gates: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a forget gate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An</a:t>
            </a:r>
            <a:r>
              <a:rPr lang="en-US" dirty="0"/>
              <a:t> </a:t>
            </a:r>
            <a:r>
              <a:rPr lang="en-US" i="1" dirty="0"/>
              <a:t>input/candidate gate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and an output gate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986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57A4C-D449-C0CF-F777-2449BDA40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C6BA1-F799-7F83-2E18-5BC6025D8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FC132-FB8D-BF21-0208-618DB3F43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Adding deeper memory to recurrent neural nets</a:t>
            </a:r>
          </a:p>
          <a:p>
            <a:r>
              <a:rPr lang="en-GB" b="1" i="1" u="sng" dirty="0">
                <a:solidFill>
                  <a:srgbClr val="FF0000"/>
                </a:solidFill>
              </a:rPr>
              <a:t>Gating information inside neural nets</a:t>
            </a:r>
          </a:p>
          <a:p>
            <a:r>
              <a:rPr lang="en-GB" dirty="0"/>
              <a:t>Classifying and generating text</a:t>
            </a:r>
          </a:p>
          <a:p>
            <a:r>
              <a:rPr lang="en-GB" dirty="0" err="1"/>
              <a:t>Modeling</a:t>
            </a:r>
            <a:r>
              <a:rPr lang="en-GB" dirty="0"/>
              <a:t> language patterns</a:t>
            </a:r>
            <a:endParaRPr lang="en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56AE332-CD72-A47B-F59A-B69DDC75E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Huamin</a:t>
            </a:r>
            <a:r>
              <a:rPr lang="en-GB" dirty="0"/>
              <a:t> Ren, PGR107 Python Programming</a:t>
            </a:r>
            <a:endParaRPr lang="en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96D1980-BF27-EB5E-DABD-41F1000C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8AA9-B619-C943-B24A-B45B3129B3DF}" type="slidenum">
              <a:rPr lang="en-NO" smtClean="0"/>
              <a:t>10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034626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D7F01-E775-76C1-6C73-4D5058D0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 Forget gate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4D1FEFB-C45D-3C29-5EB0-A032FD3348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998973"/>
            <a:ext cx="5194300" cy="3733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2A7F7F-3C70-A513-3F75-9D2FCC4C46C9}"/>
              </a:ext>
            </a:extLst>
          </p:cNvPr>
          <p:cNvSpPr txBox="1"/>
          <p:nvPr/>
        </p:nvSpPr>
        <p:spPr>
          <a:xfrm>
            <a:off x="1219200" y="2215662"/>
            <a:ext cx="45719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output vector of the forget gate is then a mask (kind of) - erases elements of the memory vector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the forget gate outputs values closer to 1, more of the memory’s knowledge in the associated element is retained for that time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the closer to 0, more of that memory value is erased</a:t>
            </a:r>
          </a:p>
        </p:txBody>
      </p:sp>
    </p:spTree>
    <p:extLst>
      <p:ext uri="{BB962C8B-B14F-4D97-AF65-F5344CB8AC3E}">
        <p14:creationId xmlns:p14="http://schemas.microsoft.com/office/powerpoint/2010/main" val="2968466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5C507-7983-3B9D-67B9-1F72742A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2.2 The candidate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AEC78-9914-1874-C3B9-3279D55F0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Decide which input vector elements are worth remembering -similar to the mask in the forget gate</a:t>
            </a:r>
          </a:p>
          <a:p>
            <a:r>
              <a:rPr lang="en-US" dirty="0"/>
              <a:t>Route the remembered input elements to the right memory “slot”</a:t>
            </a:r>
          </a:p>
          <a:p>
            <a:pPr lvl="1"/>
            <a:r>
              <a:rPr lang="en-US" dirty="0"/>
              <a:t>The second part of this gate determines what values you’re going to update the memory with</a:t>
            </a:r>
          </a:p>
        </p:txBody>
      </p:sp>
    </p:spTree>
    <p:extLst>
      <p:ext uri="{BB962C8B-B14F-4D97-AF65-F5344CB8AC3E}">
        <p14:creationId xmlns:p14="http://schemas.microsoft.com/office/powerpoint/2010/main" val="1831230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5FDB4-0A44-C136-45B0-1A2FEE12C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16868-F775-EF1B-9B7E-0F38F5C96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862024-3281-AC14-6549-41C750E48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526" y="406585"/>
            <a:ext cx="7355624" cy="608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11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4AA75-2F14-5FE4-C583-4FF301D27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2.3 Output gate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A5149-A43A-542B-380E-9F8EC68DF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9821"/>
            <a:ext cx="5535259" cy="4327142"/>
          </a:xfrm>
        </p:spPr>
        <p:txBody>
          <a:bodyPr>
            <a:normAutofit/>
          </a:bodyPr>
          <a:lstStyle/>
          <a:p>
            <a:r>
              <a:rPr lang="en-US" dirty="0"/>
              <a:t>Up until this point in the journey through the cell, only the memory to the cell is updated. </a:t>
            </a:r>
          </a:p>
          <a:p>
            <a:r>
              <a:rPr lang="en-US" dirty="0"/>
              <a:t>The output gate takes the input of the output of the cell at time step t-1 and passes it into the output gate.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C6F0A3-79F3-30B8-2DD6-1B0CACDFC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488" y="1270275"/>
            <a:ext cx="5535258" cy="458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703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C4875-23B9-2E41-FC63-0B50E0FC5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textbook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85131-2987-0503-E2F4-2BB254CC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30 min</a:t>
            </a:r>
          </a:p>
        </p:txBody>
      </p:sp>
    </p:spTree>
    <p:extLst>
      <p:ext uri="{BB962C8B-B14F-4D97-AF65-F5344CB8AC3E}">
        <p14:creationId xmlns:p14="http://schemas.microsoft.com/office/powerpoint/2010/main" val="1939737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69ED0-D27B-B0B4-1ECC-F33A4B80D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2B32D-E1FC-713C-AA46-B95900126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7AD42-B624-7685-B44E-88258A095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Adding deeper memory to recurrent neural nets</a:t>
            </a:r>
          </a:p>
          <a:p>
            <a:r>
              <a:rPr lang="en-GB" dirty="0"/>
              <a:t>Gating information inside neural nets</a:t>
            </a:r>
          </a:p>
          <a:p>
            <a:r>
              <a:rPr lang="en-GB" dirty="0"/>
              <a:t>Classifying and generating text</a:t>
            </a:r>
          </a:p>
          <a:p>
            <a:r>
              <a:rPr lang="en-GB" dirty="0" err="1"/>
              <a:t>Modeling</a:t>
            </a:r>
            <a:r>
              <a:rPr lang="en-GB" dirty="0"/>
              <a:t> language patterns</a:t>
            </a:r>
            <a:endParaRPr lang="en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EE61E1B-0780-20F6-1CC4-9B1A24A20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Huamin</a:t>
            </a:r>
            <a:r>
              <a:rPr lang="en-GB" dirty="0"/>
              <a:t> Ren, PGR107 Python Programming</a:t>
            </a:r>
            <a:endParaRPr lang="en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914982-F4D6-F077-432D-60F94387F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8AA9-B619-C943-B24A-B45B3129B3DF}" type="slidenum">
              <a:rPr lang="en-NO" smtClean="0"/>
              <a:t>16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362671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433E3-C216-20B0-55C7-27D8D72CC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9551-39D2-926A-A6A5-D96C32763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Keras</a:t>
            </a:r>
            <a:r>
              <a:rPr lang="en-US" dirty="0"/>
              <a:t> also comes with several tools, such as </a:t>
            </a:r>
            <a:r>
              <a:rPr lang="en-US" dirty="0" err="1"/>
              <a:t>model.summary</a:t>
            </a:r>
            <a:r>
              <a:rPr lang="en-US" dirty="0"/>
              <a:t>(), for inspection of the internals of your model.</a:t>
            </a:r>
          </a:p>
        </p:txBody>
      </p:sp>
    </p:spTree>
    <p:extLst>
      <p:ext uri="{BB962C8B-B14F-4D97-AF65-F5344CB8AC3E}">
        <p14:creationId xmlns:p14="http://schemas.microsoft.com/office/powerpoint/2010/main" val="1166310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0085F-E11C-935E-7DAE-4A1EB401C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9E99518-3CFC-F85C-1AFF-08D00675C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83" y="1825625"/>
            <a:ext cx="9753634" cy="4351338"/>
          </a:xfrm>
        </p:spPr>
      </p:pic>
    </p:spTree>
    <p:extLst>
      <p:ext uri="{BB962C8B-B14F-4D97-AF65-F5344CB8AC3E}">
        <p14:creationId xmlns:p14="http://schemas.microsoft.com/office/powerpoint/2010/main" val="1876821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0FAB7-28B2-EA10-0926-7CE3BC503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7A004D-26F6-3ADE-6122-781478C64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058" y="1825625"/>
            <a:ext cx="9395883" cy="4351338"/>
          </a:xfrm>
        </p:spPr>
      </p:pic>
    </p:spTree>
    <p:extLst>
      <p:ext uri="{BB962C8B-B14F-4D97-AF65-F5344CB8AC3E}">
        <p14:creationId xmlns:p14="http://schemas.microsoft.com/office/powerpoint/2010/main" val="2303119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0764E-0030-772D-21E3-3DE9B80CB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9FD36-B567-C32B-4604-AB54AF17E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dimension: 300 (?)</a:t>
            </a:r>
          </a:p>
          <a:p>
            <a:r>
              <a:rPr lang="en-US" dirty="0"/>
              <a:t>Neurons: 100</a:t>
            </a:r>
          </a:p>
          <a:p>
            <a:r>
              <a:rPr lang="en-US" dirty="0"/>
              <a:t>Weights for input x: 300*100</a:t>
            </a:r>
          </a:p>
          <a:p>
            <a:r>
              <a:rPr lang="en-US" dirty="0"/>
              <a:t>Weights for hidden (</a:t>
            </a:r>
            <a:r>
              <a:rPr lang="en-US" dirty="0" err="1"/>
              <a:t>w_h</a:t>
            </a:r>
            <a:r>
              <a:rPr lang="en-US" dirty="0"/>
              <a:t>): 100*100</a:t>
            </a:r>
          </a:p>
          <a:p>
            <a:r>
              <a:rPr lang="en-US" dirty="0"/>
              <a:t>Bias term before hidden: number of neurons, 100</a:t>
            </a:r>
          </a:p>
          <a:p>
            <a:r>
              <a:rPr lang="en-US" dirty="0"/>
              <a:t>30000 + 10000 + 100 = 40100 for the first layer</a:t>
            </a:r>
          </a:p>
          <a:p>
            <a:r>
              <a:rPr lang="en-US" dirty="0"/>
              <a:t>And so on….</a:t>
            </a:r>
          </a:p>
        </p:txBody>
      </p:sp>
    </p:spTree>
    <p:extLst>
      <p:ext uri="{BB962C8B-B14F-4D97-AF65-F5344CB8AC3E}">
        <p14:creationId xmlns:p14="http://schemas.microsoft.com/office/powerpoint/2010/main" val="2036858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BB38-F29A-0385-9825-717C00E72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 through time (BPTT)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25345-64FC-7B6B-1E10-5D7CC3AF2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Backpropagation Through Time For Networks With Long-Term Dependencies</a:t>
            </a:r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/pdf/2103.15589v3</a:t>
            </a:r>
          </a:p>
        </p:txBody>
      </p:sp>
    </p:spTree>
    <p:extLst>
      <p:ext uri="{BB962C8B-B14F-4D97-AF65-F5344CB8AC3E}">
        <p14:creationId xmlns:p14="http://schemas.microsoft.com/office/powerpoint/2010/main" val="3525228212"/>
      </p:ext>
    </p:extLst>
  </p:cSld>
  <p:clrMapOvr>
    <a:masterClrMapping/>
  </p:clrMapOvr>
</p:sld>
</file>

<file path=ppt/theme/theme1.xml><?xml version="1.0" encoding="utf-8"?>
<a:theme xmlns:a="http://schemas.openxmlformats.org/drawingml/2006/main" name="HK hvit norsk PP mal m rød logo u design">
  <a:themeElements>
    <a:clrScheme name="HK 2021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61932"/>
      </a:accent1>
      <a:accent2>
        <a:srgbClr val="902353"/>
      </a:accent2>
      <a:accent3>
        <a:srgbClr val="7551A1"/>
      </a:accent3>
      <a:accent4>
        <a:srgbClr val="4B5F98"/>
      </a:accent4>
      <a:accent5>
        <a:srgbClr val="45ABA5"/>
      </a:accent5>
      <a:accent6>
        <a:srgbClr val="FFCB05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sjon1" id="{842F6953-28CA-7F4A-9E17-20EC259215C0}" vid="{42969DF9-FA5F-274D-AF61-BB7A862D3377}"/>
    </a:ext>
  </a:extLst>
</a:theme>
</file>

<file path=ppt/theme/theme2.xml><?xml version="1.0" encoding="utf-8"?>
<a:theme xmlns:a="http://schemas.openxmlformats.org/drawingml/2006/main" name="HK hvit norsk PP mal m sort logo">
  <a:themeElements>
    <a:clrScheme name="HK 2021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61932"/>
      </a:accent1>
      <a:accent2>
        <a:srgbClr val="902353"/>
      </a:accent2>
      <a:accent3>
        <a:srgbClr val="7551A1"/>
      </a:accent3>
      <a:accent4>
        <a:srgbClr val="4B5F98"/>
      </a:accent4>
      <a:accent5>
        <a:srgbClr val="45ABA5"/>
      </a:accent5>
      <a:accent6>
        <a:srgbClr val="FFCB05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sjon1" id="{842F6953-28CA-7F4A-9E17-20EC259215C0}" vid="{8DD1999F-2061-8E42-BD0D-8AD5C1E5C020}"/>
    </a:ext>
  </a:extLst>
</a:theme>
</file>

<file path=ppt/theme/theme3.xml><?xml version="1.0" encoding="utf-8"?>
<a:theme xmlns:a="http://schemas.openxmlformats.org/drawingml/2006/main" name="HK rød norsk PP mal m hvit logo">
  <a:themeElements>
    <a:clrScheme name="HK 2021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61932"/>
      </a:accent1>
      <a:accent2>
        <a:srgbClr val="902353"/>
      </a:accent2>
      <a:accent3>
        <a:srgbClr val="7551A1"/>
      </a:accent3>
      <a:accent4>
        <a:srgbClr val="4B5F98"/>
      </a:accent4>
      <a:accent5>
        <a:srgbClr val="45ABA5"/>
      </a:accent5>
      <a:accent6>
        <a:srgbClr val="FFCB05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sjon1" id="{842F6953-28CA-7F4A-9E17-20EC259215C0}" vid="{02FD8868-11CC-5A42-B444-66B34D968F1D}"/>
    </a:ext>
  </a:extLst>
</a:theme>
</file>

<file path=ppt/theme/theme4.xml><?xml version="1.0" encoding="utf-8"?>
<a:theme xmlns:a="http://schemas.openxmlformats.org/drawingml/2006/main" name="HK hvit norsk PP mal m sort logo u design">
  <a:themeElements>
    <a:clrScheme name="HK 2021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61932"/>
      </a:accent1>
      <a:accent2>
        <a:srgbClr val="902353"/>
      </a:accent2>
      <a:accent3>
        <a:srgbClr val="7551A1"/>
      </a:accent3>
      <a:accent4>
        <a:srgbClr val="4B5F98"/>
      </a:accent4>
      <a:accent5>
        <a:srgbClr val="45ABA5"/>
      </a:accent5>
      <a:accent6>
        <a:srgbClr val="FFCB05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sjon1" id="{842F6953-28CA-7F4A-9E17-20EC259215C0}" vid="{F0E9DEE3-B7C5-9E4E-A63C-262092F8DCCD}"/>
    </a:ext>
  </a:extLst>
</a:theme>
</file>

<file path=ppt/theme/theme5.xml><?xml version="1.0" encoding="utf-8"?>
<a:theme xmlns:a="http://schemas.openxmlformats.org/drawingml/2006/main" name="1_HK hvit norsk PP mal m sort logo u design">
  <a:themeElements>
    <a:clrScheme name="HK 2021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61932"/>
      </a:accent1>
      <a:accent2>
        <a:srgbClr val="902353"/>
      </a:accent2>
      <a:accent3>
        <a:srgbClr val="7551A1"/>
      </a:accent3>
      <a:accent4>
        <a:srgbClr val="4B5F98"/>
      </a:accent4>
      <a:accent5>
        <a:srgbClr val="45ABA5"/>
      </a:accent5>
      <a:accent6>
        <a:srgbClr val="FFCB05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sjon1" id="{842F6953-28CA-7F4A-9E17-20EC259215C0}" vid="{5520E033-087D-EB44-BE02-3C394709E676}"/>
    </a:ext>
  </a:extLst>
</a:theme>
</file>

<file path=ppt/theme/theme6.xml><?xml version="1.0" encoding="utf-8"?>
<a:theme xmlns:a="http://schemas.openxmlformats.org/drawingml/2006/main" name="2_HK hvit norsk PP mal m sort logo u design">
  <a:themeElements>
    <a:clrScheme name="HK 2021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61932"/>
      </a:accent1>
      <a:accent2>
        <a:srgbClr val="902353"/>
      </a:accent2>
      <a:accent3>
        <a:srgbClr val="7551A1"/>
      </a:accent3>
      <a:accent4>
        <a:srgbClr val="4B5F98"/>
      </a:accent4>
      <a:accent5>
        <a:srgbClr val="45ABA5"/>
      </a:accent5>
      <a:accent6>
        <a:srgbClr val="FFCB05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sjon1" id="{842F6953-28CA-7F4A-9E17-20EC259215C0}" vid="{870E5268-97C5-C445-A25F-2341C2543BE1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4F9D1E834237D47B50C889EFC191536" ma:contentTypeVersion="11" ma:contentTypeDescription="Opprett et nytt dokument." ma:contentTypeScope="" ma:versionID="3358c57a9243d0ff54b40ddf9c6f1d90">
  <xsd:schema xmlns:xsd="http://www.w3.org/2001/XMLSchema" xmlns:xs="http://www.w3.org/2001/XMLSchema" xmlns:p="http://schemas.microsoft.com/office/2006/metadata/properties" xmlns:ns2="c2cbe2e7-7445-4686-a9b4-b8f981ffb754" xmlns:ns3="1df9e9e4-6c88-4b20-87db-8c7a0b952daf" targetNamespace="http://schemas.microsoft.com/office/2006/metadata/properties" ma:root="true" ma:fieldsID="8c3092b9dd4c377fcfed34743866acd6" ns2:_="" ns3:_="">
    <xsd:import namespace="c2cbe2e7-7445-4686-a9b4-b8f981ffb754"/>
    <xsd:import namespace="1df9e9e4-6c88-4b20-87db-8c7a0b952daf"/>
    <xsd:element name="properties">
      <xsd:complexType>
        <xsd:sequence>
          <xsd:element name="documentManagement">
            <xsd:complexType>
              <xsd:all>
                <xsd:element ref="ns2:c163d99eb02a47ad8469e00f330e7adf" minOccurs="0"/>
                <xsd:element ref="ns2:TaxCatchAll" minOccurs="0"/>
                <xsd:element ref="ns2:TaxCatchAllLabel" minOccurs="0"/>
                <xsd:element ref="ns2:k2ad0dd281cb488f80ae32d72ddc0c5f" minOccurs="0"/>
                <xsd:element ref="ns2:Eier" minOccurs="0"/>
                <xsd:element ref="ns2:j3470005e4d549748e5ed99ac9831258" minOccurs="0"/>
                <xsd:element ref="ns2:e7da61b9b7134ea9ac9418276c5d90f6" minOccurs="0"/>
                <xsd:element ref="ns2:jd171b5e15a34a1c883b18a49d402130" minOccurs="0"/>
                <xsd:element ref="ns3:MediaServiceSearchProperties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cbe2e7-7445-4686-a9b4-b8f981ffb754" elementFormDefault="qualified">
    <xsd:import namespace="http://schemas.microsoft.com/office/2006/documentManagement/types"/>
    <xsd:import namespace="http://schemas.microsoft.com/office/infopath/2007/PartnerControls"/>
    <xsd:element name="c163d99eb02a47ad8469e00f330e7adf" ma:index="8" nillable="true" ma:taxonomy="true" ma:internalName="c163d99eb02a47ad8469e00f330e7adf" ma:taxonomyFieldName="Avhending" ma:displayName="Avhending" ma:readOnly="false" ma:default="4;#Kasser|5f5645f1-bb11-49c5-8a7a-797d36a0b04c" ma:fieldId="{c163d99e-b02a-47ad-8469-e00f330e7adf}" ma:sspId="66094045-d10e-44e2-bff2-dc49cbe61589" ma:termSetId="fd77cdf5-c0a6-4f63-a5d7-3ebd33126ba6" ma:anchorId="3f61f1f0-1ba2-4698-8655-9a120125c74b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81b1c209-86eb-4b5a-b8fe-1f16f509a4c2}" ma:internalName="TaxCatchAll" ma:showField="CatchAllData" ma:web="4a3d0992-9efa-413a-be8b-4e260e3142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81b1c209-86eb-4b5a-b8fe-1f16f509a4c2}" ma:internalName="TaxCatchAllLabel" ma:readOnly="true" ma:showField="CatchAllDataLabel" ma:web="4a3d0992-9efa-413a-be8b-4e260e3142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k2ad0dd281cb488f80ae32d72ddc0c5f" ma:index="12" nillable="true" ma:taxonomy="true" ma:internalName="k2ad0dd281cb488f80ae32d72ddc0c5f" ma:taxonomyFieldName="Bevaringsverdi" ma:displayName="Bevaringsverdi" ma:readOnly="false" ma:default="" ma:fieldId="{42ad0dd2-81cb-488f-80ae-32d72ddc0c5f}" ma:sspId="66094045-d10e-44e2-bff2-dc49cbe61589" ma:termSetId="fd77cdf5-c0a6-4f63-a5d7-3ebd33126ba6" ma:anchorId="0e7a5c1d-7e18-4437-9af5-3c96057e0a65" ma:open="false" ma:isKeyword="false">
      <xsd:complexType>
        <xsd:sequence>
          <xsd:element ref="pc:Terms" minOccurs="0" maxOccurs="1"/>
        </xsd:sequence>
      </xsd:complexType>
    </xsd:element>
    <xsd:element name="Eier" ma:index="14" nillable="true" ma:displayName="Eier" ma:description="Eier av informasjon, dokument eller epost" ma:list="UserInfo" ma:SharePointGroup="0" ma:internalName="Ei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j3470005e4d549748e5ed99ac9831258" ma:index="15" nillable="true" ma:taxonomy="true" ma:internalName="j3470005e4d549748e5ed99ac9831258" ma:taxonomyFieldName="Hjemmel" ma:displayName="Hjemmel" ma:readOnly="false" ma:default="" ma:fieldId="{33470005-e4d5-4974-8e5e-d99ac9831258}" ma:taxonomyMulti="true" ma:sspId="66094045-d10e-44e2-bff2-dc49cbe61589" ma:termSetId="bf0b5108-3ec6-48b3-a7ba-ba793bbc98c9" ma:anchorId="a971debd-71f4-4736-88db-394bbd319ab4" ma:open="true" ma:isKeyword="false">
      <xsd:complexType>
        <xsd:sequence>
          <xsd:element ref="pc:Terms" minOccurs="0" maxOccurs="1"/>
        </xsd:sequence>
      </xsd:complexType>
    </xsd:element>
    <xsd:element name="e7da61b9b7134ea9ac9418276c5d90f6" ma:index="17" nillable="true" ma:taxonomy="true" ma:internalName="e7da61b9b7134ea9ac9418276c5d90f6" ma:taxonomyFieldName="Organisatorisk_x0020_enhet" ma:displayName="Organisatorisk enhet" ma:readOnly="false" ma:fieldId="{e7da61b9-b713-4ea9-ac94-18276c5d90f6}" ma:sspId="66094045-d10e-44e2-bff2-dc49cbe61589" ma:termSetId="fd77cdf5-c0a6-4f63-a5d7-3ebd33126ba6" ma:anchorId="f3dc6817-7aea-47f0-8359-e3088d1b9af3" ma:open="false" ma:isKeyword="false">
      <xsd:complexType>
        <xsd:sequence>
          <xsd:element ref="pc:Terms" minOccurs="0" maxOccurs="1"/>
        </xsd:sequence>
      </xsd:complexType>
    </xsd:element>
    <xsd:element name="jd171b5e15a34a1c883b18a49d402130" ma:index="19" nillable="true" ma:taxonomy="true" ma:internalName="jd171b5e15a34a1c883b18a49d402130" ma:taxonomyFieldName="Personopplysninger" ma:displayName="Personopplysninger" ma:readOnly="false" ma:default="5;#Ingen|b818fb2f-afc2-41eb-b1b5-59ae51fcd7d3" ma:fieldId="{3d171b5e-15a3-4a1c-883b-18a49d402130}" ma:sspId="66094045-d10e-44e2-bff2-dc49cbe61589" ma:termSetId="fd77cdf5-c0a6-4f63-a5d7-3ebd33126ba6" ma:anchorId="4304951c-11e2-4b34-bd9c-bbf0dbe2b04d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f9e9e4-6c88-4b20-87db-8c7a0b952daf" elementFormDefault="qualified">
    <xsd:import namespace="http://schemas.microsoft.com/office/2006/documentManagement/types"/>
    <xsd:import namespace="http://schemas.microsoft.com/office/infopath/2007/PartnerControls"/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FastMetadata" ma:index="2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6" nillable="true" ma:taxonomy="true" ma:internalName="lcf76f155ced4ddcb4097134ff3c332f" ma:taxonomyFieldName="MediaServiceImageTags" ma:displayName="Bildemerkelapper" ma:readOnly="false" ma:fieldId="{5cf76f15-5ced-4ddc-b409-7134ff3c332f}" ma:taxonomyMulti="true" ma:sspId="66094045-d10e-44e2-bff2-dc49cbe615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Metadata" ma:index="30" nillable="true" ma:displayName="MediaServiceMetadata" ma:hidden="true" ma:internalName="MediaService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df9e9e4-6c88-4b20-87db-8c7a0b952daf">
      <Terms xmlns="http://schemas.microsoft.com/office/infopath/2007/PartnerControls"/>
    </lcf76f155ced4ddcb4097134ff3c332f>
    <TaxCatchAll xmlns="c2cbe2e7-7445-4686-a9b4-b8f981ffb754" xsi:nil="true"/>
    <k2ad0dd281cb488f80ae32d72ddc0c5f xmlns="c2cbe2e7-7445-4686-a9b4-b8f981ffb754">
      <Terms xmlns="http://schemas.microsoft.com/office/infopath/2007/PartnerControls"/>
    </k2ad0dd281cb488f80ae32d72ddc0c5f>
    <e7da61b9b7134ea9ac9418276c5d90f6 xmlns="c2cbe2e7-7445-4686-a9b4-b8f981ffb754">
      <Terms xmlns="http://schemas.microsoft.com/office/infopath/2007/PartnerControls"/>
    </e7da61b9b7134ea9ac9418276c5d90f6>
    <j3470005e4d549748e5ed99ac9831258 xmlns="c2cbe2e7-7445-4686-a9b4-b8f981ffb754">
      <Terms xmlns="http://schemas.microsoft.com/office/infopath/2007/PartnerControls"/>
    </j3470005e4d549748e5ed99ac9831258>
    <jd171b5e15a34a1c883b18a49d402130 xmlns="c2cbe2e7-7445-4686-a9b4-b8f981ffb754">
      <Terms xmlns="http://schemas.microsoft.com/office/infopath/2007/PartnerControls"/>
    </jd171b5e15a34a1c883b18a49d402130>
    <Eier xmlns="c2cbe2e7-7445-4686-a9b4-b8f981ffb754">
      <UserInfo>
        <DisplayName/>
        <AccountId xsi:nil="true"/>
        <AccountType/>
      </UserInfo>
    </Eier>
    <c163d99eb02a47ad8469e00f330e7adf xmlns="c2cbe2e7-7445-4686-a9b4-b8f981ffb754">
      <Terms xmlns="http://schemas.microsoft.com/office/infopath/2007/PartnerControls"/>
    </c163d99eb02a47ad8469e00f330e7ad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66094045-d10e-44e2-bff2-dc49cbe61589" ContentTypeId="0x0101" PreviousValue="false"/>
</file>

<file path=customXml/itemProps1.xml><?xml version="1.0" encoding="utf-8"?>
<ds:datastoreItem xmlns:ds="http://schemas.openxmlformats.org/officeDocument/2006/customXml" ds:itemID="{FA04A9CC-AC76-414D-AA6C-E44AE675B7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cbe2e7-7445-4686-a9b4-b8f981ffb754"/>
    <ds:schemaRef ds:uri="1df9e9e4-6c88-4b20-87db-8c7a0b952d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0C0C0C-9946-488F-84B0-1C85AB3E0C5F}">
  <ds:schemaRefs>
    <ds:schemaRef ds:uri="http://schemas.microsoft.com/office/2006/metadata/properties"/>
    <ds:schemaRef ds:uri="http://schemas.microsoft.com/office/infopath/2007/PartnerControls"/>
    <ds:schemaRef ds:uri="9f8e2dbe-c046-4323-8fdf-57a631955a32"/>
    <ds:schemaRef ds:uri="aa1ff9a4-18d2-4032-a420-17e4a51da3ef"/>
    <ds:schemaRef ds:uri="1df9e9e4-6c88-4b20-87db-8c7a0b952daf"/>
    <ds:schemaRef ds:uri="c2cbe2e7-7445-4686-a9b4-b8f981ffb754"/>
  </ds:schemaRefs>
</ds:datastoreItem>
</file>

<file path=customXml/itemProps3.xml><?xml version="1.0" encoding="utf-8"?>
<ds:datastoreItem xmlns:ds="http://schemas.openxmlformats.org/officeDocument/2006/customXml" ds:itemID="{A91E3F93-ED6F-4042-AF3A-5346CED6CA04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F40CD92C-71BC-49C2-81FC-4C497739DF25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HK hvit norsk PP mal m rød logo u design</Template>
  <TotalTime>18777</TotalTime>
  <Words>615</Words>
  <Application>Microsoft Macintosh PowerPoint</Application>
  <PresentationFormat>Widescreen</PresentationFormat>
  <Paragraphs>83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Aptos Display</vt:lpstr>
      <vt:lpstr>Arial</vt:lpstr>
      <vt:lpstr>HK hvit norsk PP mal m rød logo u design</vt:lpstr>
      <vt:lpstr>HK hvit norsk PP mal m sort logo</vt:lpstr>
      <vt:lpstr>HK rød norsk PP mal m hvit logo</vt:lpstr>
      <vt:lpstr>HK hvit norsk PP mal m sort logo u design</vt:lpstr>
      <vt:lpstr>1_HK hvit norsk PP mal m sort logo u design</vt:lpstr>
      <vt:lpstr>2_HK hvit norsk PP mal m sort logo u design</vt:lpstr>
      <vt:lpstr>PGR 210 - Natural Language Processing Lec11</vt:lpstr>
      <vt:lpstr>Outline</vt:lpstr>
      <vt:lpstr>Outline</vt:lpstr>
      <vt:lpstr>1. 1 An example</vt:lpstr>
      <vt:lpstr>1.2 long short-term memory (LSTM)</vt:lpstr>
      <vt:lpstr>1.2 long short-term memory (LSTM)</vt:lpstr>
      <vt:lpstr>1.2 long short-term memory (LSTM)</vt:lpstr>
      <vt:lpstr>1.2 long short-term memory (LSTM)</vt:lpstr>
      <vt:lpstr>1.2 long short-term memory (LSTM)</vt:lpstr>
      <vt:lpstr>Outline</vt:lpstr>
      <vt:lpstr>2.1 Forget gate</vt:lpstr>
      <vt:lpstr>2.2 The candidate gate</vt:lpstr>
      <vt:lpstr>PowerPoint Presentation</vt:lpstr>
      <vt:lpstr>2.3 Output gate </vt:lpstr>
      <vt:lpstr>Read textbook</vt:lpstr>
      <vt:lpstr>Outline</vt:lpstr>
      <vt:lpstr>Putting together</vt:lpstr>
      <vt:lpstr>PowerPoint Presentation</vt:lpstr>
      <vt:lpstr>PowerPoint Presentation</vt:lpstr>
      <vt:lpstr>Parameters</vt:lpstr>
      <vt:lpstr>Backpropagation through time (BPTT)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Huamin Ren</dc:creator>
  <cp:lastModifiedBy>Huamin Ren</cp:lastModifiedBy>
  <cp:revision>20</cp:revision>
  <dcterms:created xsi:type="dcterms:W3CDTF">2025-10-16T07:56:52Z</dcterms:created>
  <dcterms:modified xsi:type="dcterms:W3CDTF">2025-11-05T13:33:14Z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0x010100B4F9D1E834237D47B50C889EFC191536</vt:lpwstr>
  </property>
  <property fmtid="{D5CDD505-2E9C-101B-9397-08002B2CF9AE}" pid="3" name="MediaServiceImageTags">
    <vt:lpwstr/>
  </property>
  <property fmtid="{D5CDD505-2E9C-101B-9397-08002B2CF9AE}" pid="4" name="Bevaringsverdi">
    <vt:lpwstr/>
  </property>
  <property fmtid="{D5CDD505-2E9C-101B-9397-08002B2CF9AE}" pid="5" name="Organisatorisk_x0020_enhet">
    <vt:lpwstr/>
  </property>
  <property fmtid="{D5CDD505-2E9C-101B-9397-08002B2CF9AE}" pid="6" name="Avhending">
    <vt:lpwstr/>
  </property>
  <property fmtid="{D5CDD505-2E9C-101B-9397-08002B2CF9AE}" pid="7" name="Hjemmel">
    <vt:lpwstr/>
  </property>
  <property fmtid="{D5CDD505-2E9C-101B-9397-08002B2CF9AE}" pid="8" name="Personopplysninger">
    <vt:lpwstr/>
  </property>
  <property fmtid="{D5CDD505-2E9C-101B-9397-08002B2CF9AE}" pid="9" name="Organisatorisk enhet">
    <vt:lpwstr/>
  </property>
</Properties>
</file>